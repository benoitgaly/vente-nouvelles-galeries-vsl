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37"/>
  </p:notesMasterIdLst>
  <p:handoutMasterIdLst>
    <p:handoutMasterId r:id="rId38"/>
  </p:handoutMasterIdLst>
  <p:sldIdLst>
    <p:sldId id="312" r:id="rId5"/>
    <p:sldId id="313" r:id="rId6"/>
    <p:sldId id="282" r:id="rId7"/>
    <p:sldId id="324" r:id="rId8"/>
    <p:sldId id="315" r:id="rId9"/>
    <p:sldId id="317" r:id="rId10"/>
    <p:sldId id="277" r:id="rId11"/>
    <p:sldId id="316" r:id="rId12"/>
    <p:sldId id="281" r:id="rId13"/>
    <p:sldId id="328" r:id="rId14"/>
    <p:sldId id="318" r:id="rId15"/>
    <p:sldId id="276" r:id="rId16"/>
    <p:sldId id="320" r:id="rId17"/>
    <p:sldId id="286" r:id="rId18"/>
    <p:sldId id="287" r:id="rId19"/>
    <p:sldId id="289" r:id="rId20"/>
    <p:sldId id="321" r:id="rId21"/>
    <p:sldId id="283" r:id="rId22"/>
    <p:sldId id="293" r:id="rId23"/>
    <p:sldId id="322" r:id="rId24"/>
    <p:sldId id="294" r:id="rId25"/>
    <p:sldId id="295" r:id="rId26"/>
    <p:sldId id="297" r:id="rId27"/>
    <p:sldId id="298" r:id="rId28"/>
    <p:sldId id="308" r:id="rId29"/>
    <p:sldId id="309" r:id="rId30"/>
    <p:sldId id="306" r:id="rId31"/>
    <p:sldId id="279" r:id="rId32"/>
    <p:sldId id="291" r:id="rId33"/>
    <p:sldId id="327" r:id="rId34"/>
    <p:sldId id="326" r:id="rId35"/>
    <p:sldId id="274" r:id="rId36"/>
  </p:sldIdLst>
  <p:sldSz cx="9144000" cy="5143500" type="screen16x9"/>
  <p:notesSz cx="9926638" cy="67976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ge de couverture" id="{92DB1813-6C90-4BAF-BA3F-161B3962BB93}">
          <p14:sldIdLst>
            <p14:sldId id="312"/>
            <p14:sldId id="313"/>
          </p14:sldIdLst>
        </p14:section>
        <p14:section name="Sommaire" id="{94D34A73-D897-4BFD-B8AF-A808C9C59F03}">
          <p14:sldIdLst>
            <p14:sldId id="282"/>
          </p14:sldIdLst>
        </p14:section>
        <p14:section name="Introduction" id="{AD4F84D0-406A-4791-A3AE-CCE0A43ACE93}">
          <p14:sldIdLst>
            <p14:sldId id="324"/>
            <p14:sldId id="315"/>
            <p14:sldId id="317"/>
          </p14:sldIdLst>
        </p14:section>
        <p14:section name="Un nouveau zonage, plus simple, plus cohérent et plus lisible" id="{A38AF2EF-7901-4DF9-B985-7682E6B42363}">
          <p14:sldIdLst>
            <p14:sldId id="277"/>
            <p14:sldId id="316"/>
            <p14:sldId id="281"/>
            <p14:sldId id="328"/>
            <p14:sldId id="318"/>
          </p14:sldIdLst>
        </p14:section>
        <p14:section name="Des allègements fiscaux renforcés et simplifiés" id="{0CB74EC8-3497-4039-AACB-43713DEBD934}">
          <p14:sldIdLst>
            <p14:sldId id="276"/>
            <p14:sldId id="320"/>
            <p14:sldId id="286"/>
            <p14:sldId id="287"/>
            <p14:sldId id="289"/>
            <p14:sldId id="321"/>
            <p14:sldId id="283"/>
            <p14:sldId id="293"/>
            <p14:sldId id="322"/>
            <p14:sldId id="294"/>
          </p14:sldIdLst>
        </p14:section>
        <p14:section name="Entrepreneuriat Quartiers 2030" id="{3BBF8E1C-DA32-4222-9307-A72E6F1A7CDC}">
          <p14:sldIdLst>
            <p14:sldId id="295"/>
            <p14:sldId id="297"/>
          </p14:sldIdLst>
        </p14:section>
        <p14:section name="Déploiement au plus près des territoires" id="{B8F21C45-878F-4DC9-8CB7-5F9A26758FB1}">
          <p14:sldIdLst>
            <p14:sldId id="298"/>
            <p14:sldId id="308"/>
            <p14:sldId id="309"/>
            <p14:sldId id="306"/>
          </p14:sldIdLst>
        </p14:section>
        <p14:section name="Synthèse" id="{11543DF1-865E-45B7-A7FD-25516C1CB918}">
          <p14:sldIdLst>
            <p14:sldId id="279"/>
            <p14:sldId id="291"/>
            <p14:sldId id="327"/>
            <p14:sldId id="326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ABELSI LEROY Samy DGCL" initials="STL_DGCL" lastIdx="1" clrIdx="0">
    <p:extLst>
      <p:ext uri="{19B8F6BF-5375-455C-9EA6-DF929625EA0E}">
        <p15:presenceInfo xmlns:p15="http://schemas.microsoft.com/office/powerpoint/2012/main" userId="TRABELSI LEROY Samy DGC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000F"/>
    <a:srgbClr val="484D7A"/>
    <a:srgbClr val="000000"/>
    <a:srgbClr val="C6C6EA"/>
    <a:srgbClr val="FFFFFF"/>
    <a:srgbClr val="000091"/>
    <a:srgbClr val="FFE666"/>
    <a:srgbClr val="FFD500"/>
    <a:srgbClr val="008260"/>
    <a:srgbClr val="B6B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6" autoAdjust="0"/>
    <p:restoredTop sz="94014" autoAdjust="0"/>
  </p:normalViewPr>
  <p:slideViewPr>
    <p:cSldViewPr snapToGrid="0" showGuides="1">
      <p:cViewPr varScale="1">
        <p:scale>
          <a:sx n="137" d="100"/>
          <a:sy n="137" d="100"/>
        </p:scale>
        <p:origin x="684" y="126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1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301543" cy="341064"/>
          </a:xfrm>
          <a:prstGeom prst="rect">
            <a:avLst/>
          </a:prstGeom>
        </p:spPr>
        <p:txBody>
          <a:bodyPr vert="horz" lIns="91404" tIns="45702" rIns="91404" bIns="45702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622800" y="2"/>
            <a:ext cx="4301543" cy="341064"/>
          </a:xfrm>
          <a:prstGeom prst="rect">
            <a:avLst/>
          </a:prstGeom>
        </p:spPr>
        <p:txBody>
          <a:bodyPr vert="horz" lIns="91404" tIns="45702" rIns="91404" bIns="45702" rtlCol="0"/>
          <a:lstStyle>
            <a:lvl1pPr algn="r">
              <a:defRPr sz="1200"/>
            </a:lvl1pPr>
          </a:lstStyle>
          <a:p>
            <a:fld id="{CEAE160A-FBE2-4ED5-842C-15A35EDD3558}" type="datetime8">
              <a:rPr lang="fr-FR" smtClean="0"/>
              <a:t>16/04/2026 10:20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6456614"/>
            <a:ext cx="4301543" cy="341063"/>
          </a:xfrm>
          <a:prstGeom prst="rect">
            <a:avLst/>
          </a:prstGeom>
        </p:spPr>
        <p:txBody>
          <a:bodyPr vert="horz" lIns="91404" tIns="45702" rIns="91404" bIns="45702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622800" y="6456614"/>
            <a:ext cx="4301543" cy="341063"/>
          </a:xfrm>
          <a:prstGeom prst="rect">
            <a:avLst/>
          </a:prstGeom>
        </p:spPr>
        <p:txBody>
          <a:bodyPr vert="horz" lIns="91404" tIns="45702" rIns="91404" bIns="45702" rtlCol="0" anchor="b"/>
          <a:lstStyle>
            <a:lvl1pPr algn="r">
              <a:defRPr sz="1200"/>
            </a:lvl1pPr>
          </a:lstStyle>
          <a:p>
            <a:fld id="{F8850B35-EA6C-4FC8-8043-F4234646547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86911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1543" cy="339884"/>
          </a:xfrm>
          <a:prstGeom prst="rect">
            <a:avLst/>
          </a:prstGeom>
        </p:spPr>
        <p:txBody>
          <a:bodyPr vert="horz" lIns="91404" tIns="45702" rIns="91404" bIns="45702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22800" y="1"/>
            <a:ext cx="4301543" cy="339884"/>
          </a:xfrm>
          <a:prstGeom prst="rect">
            <a:avLst/>
          </a:prstGeom>
        </p:spPr>
        <p:txBody>
          <a:bodyPr vert="horz" lIns="91404" tIns="45702" rIns="91404" bIns="45702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419C0B18-1172-4D16-B04B-AEBBEC3830C4}" type="datetime8">
              <a:rPr lang="fr-FR" smtClean="0"/>
              <a:t>16/04/2026 10:20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4" tIns="45702" rIns="91404" bIns="45702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92664" y="3228897"/>
            <a:ext cx="7941310" cy="3058953"/>
          </a:xfrm>
          <a:prstGeom prst="rect">
            <a:avLst/>
          </a:prstGeom>
        </p:spPr>
        <p:txBody>
          <a:bodyPr vert="horz" lIns="91404" tIns="45702" rIns="91404" bIns="45702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6456614"/>
            <a:ext cx="4301543" cy="339884"/>
          </a:xfrm>
          <a:prstGeom prst="rect">
            <a:avLst/>
          </a:prstGeom>
        </p:spPr>
        <p:txBody>
          <a:bodyPr vert="horz" lIns="91404" tIns="45702" rIns="91404" bIns="45702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22800" y="6456614"/>
            <a:ext cx="4301543" cy="339884"/>
          </a:xfrm>
          <a:prstGeom prst="rect">
            <a:avLst/>
          </a:prstGeom>
        </p:spPr>
        <p:txBody>
          <a:bodyPr vert="horz" lIns="91404" tIns="45702" rIns="91404" bIns="45702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5110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857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4932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3583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3273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6610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9195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7345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5257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0296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097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08465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051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041"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099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8314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041">
              <a:defRPr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810306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6291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3561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87395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8666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041">
              <a:defRPr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1096299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118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041">
              <a:defRPr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329326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7346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08978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62151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0268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37072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3681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54110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50924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3333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/ sous-titre /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EB9C9A62-C54B-3841-9346-5A54D37158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3709" y="1620000"/>
            <a:ext cx="8460289" cy="242951"/>
          </a:xfrm>
        </p:spPr>
        <p:txBody>
          <a:bodyPr/>
          <a:lstStyle>
            <a:lvl1pPr marL="9525" indent="85725">
              <a:spcBef>
                <a:spcPts val="400"/>
              </a:spcBef>
              <a:spcAft>
                <a:spcPts val="800"/>
              </a:spcAft>
              <a:buFont typeface="+mj-lt"/>
              <a:buNone/>
              <a:tabLst/>
              <a:defRPr sz="15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Sous-titre</a:t>
            </a:r>
          </a:p>
          <a:p>
            <a:pPr lvl="0"/>
            <a:endParaRPr lang="fr-FR" dirty="0"/>
          </a:p>
        </p:txBody>
      </p:sp>
      <p:sp>
        <p:nvSpPr>
          <p:cNvPr id="19" name="Titre 18">
            <a:extLst>
              <a:ext uri="{FF2B5EF4-FFF2-40B4-BE49-F238E27FC236}">
                <a16:creationId xmlns:a16="http://schemas.microsoft.com/office/drawing/2014/main" id="{8B219A12-DAFE-504E-9ED9-CFD78BD6A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Titre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0AF74C14-DE22-FE4D-B865-03FBE975D5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23850" y="1995686"/>
            <a:ext cx="8460148" cy="25922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9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pPr algn="r"/>
            <a:r>
              <a:rPr lang="fr-FR" cap="all" smtClean="0"/>
              <a:t>16/02/2026</a:t>
            </a:r>
            <a:endParaRPr lang="fr-FR" cap="all" dirty="0"/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 baseline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7" name="Connecteur droit 16"/>
          <p:cNvCxnSpPr/>
          <p:nvPr userDrawn="1"/>
        </p:nvCxnSpPr>
        <p:spPr bwMode="gray">
          <a:xfrm>
            <a:off x="319602" y="4783500"/>
            <a:ext cx="8464398" cy="90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165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19602" y="2347200"/>
            <a:ext cx="8388464" cy="20772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91"/>
          <a:stretch/>
        </p:blipFill>
        <p:spPr>
          <a:xfrm>
            <a:off x="7308343" y="411510"/>
            <a:ext cx="1584137" cy="98219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04" y="261041"/>
            <a:ext cx="1892437" cy="1451027"/>
          </a:xfrm>
          <a:prstGeom prst="rect">
            <a:avLst/>
          </a:prstGeom>
        </p:spPr>
      </p:pic>
      <p:sp>
        <p:nvSpPr>
          <p:cNvPr id="1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pPr algn="r"/>
            <a:r>
              <a:rPr lang="fr-FR" cap="all" smtClean="0"/>
              <a:t>16/02/2026</a:t>
            </a:r>
            <a:endParaRPr lang="fr-FR" cap="all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 baseline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9" name="Connecteur droit 18"/>
          <p:cNvCxnSpPr/>
          <p:nvPr userDrawn="1"/>
        </p:nvCxnSpPr>
        <p:spPr bwMode="gray">
          <a:xfrm>
            <a:off x="319602" y="4783500"/>
            <a:ext cx="8464398" cy="90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293410" y="933855"/>
            <a:ext cx="8850589" cy="38002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21727" y="1795391"/>
            <a:ext cx="3832753" cy="2077200"/>
          </a:xfrm>
        </p:spPr>
        <p:txBody>
          <a:bodyPr anchor="ctr"/>
          <a:lstStyle>
            <a:lvl1pPr>
              <a:lnSpc>
                <a:spcPct val="90000"/>
              </a:lnSpc>
              <a:spcAft>
                <a:spcPts val="0"/>
              </a:spcAft>
              <a:defRPr sz="3200" b="1" cap="all" baseline="0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 err="1" smtClean="0"/>
              <a:t>tITRE</a:t>
            </a:r>
            <a:endParaRPr lang="fr-FR" dirty="0"/>
          </a:p>
        </p:txBody>
      </p:sp>
      <p:sp>
        <p:nvSpPr>
          <p:cNvPr id="12" name="Espace réservé du texte 10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69767" y="1795391"/>
            <a:ext cx="3832753" cy="1014374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0"/>
              </a:spcAft>
              <a:defRPr sz="1300" b="1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 smtClean="0"/>
              <a:t>Sous-titre</a:t>
            </a:r>
          </a:p>
        </p:txBody>
      </p:sp>
      <p:sp>
        <p:nvSpPr>
          <p:cNvPr id="17" name="Espace réservé du texte 10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2863" y="3384725"/>
            <a:ext cx="3832753" cy="487866"/>
          </a:xfrm>
          <a:ln>
            <a:noFill/>
          </a:ln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900" b="0" cap="none" baseline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 smtClean="0"/>
              <a:t>Le document de référence Pour systématiser le sens de l’action de l’État dans toute communication</a:t>
            </a:r>
          </a:p>
        </p:txBody>
      </p:sp>
      <p:cxnSp>
        <p:nvCxnSpPr>
          <p:cNvPr id="21" name="Connecteur droit 20"/>
          <p:cNvCxnSpPr/>
          <p:nvPr userDrawn="1"/>
        </p:nvCxnSpPr>
        <p:spPr>
          <a:xfrm>
            <a:off x="4782863" y="3319721"/>
            <a:ext cx="3819657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10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2863" y="4018816"/>
            <a:ext cx="3832753" cy="487866"/>
          </a:xfrm>
          <a:ln>
            <a:noFill/>
          </a:ln>
        </p:spPr>
        <p:txBody>
          <a:bodyPr anchor="b"/>
          <a:lstStyle>
            <a:lvl1pPr>
              <a:lnSpc>
                <a:spcPct val="90000"/>
              </a:lnSpc>
              <a:spcAft>
                <a:spcPts val="0"/>
              </a:spcAft>
              <a:defRPr sz="900" b="0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 smtClean="0"/>
              <a:t>Mois 2026</a:t>
            </a:r>
            <a:endParaRPr lang="fr-FR" dirty="0"/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91"/>
          <a:stretch/>
        </p:blipFill>
        <p:spPr>
          <a:xfrm>
            <a:off x="7740352" y="131338"/>
            <a:ext cx="1080081" cy="669669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13" y="47033"/>
            <a:ext cx="1173785" cy="88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62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987574"/>
            <a:ext cx="9144000" cy="4155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87574"/>
            <a:ext cx="8424000" cy="3796826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bg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12" name="Espace réservé de la date 2"/>
          <p:cNvSpPr>
            <a:spLocks noGrp="1"/>
          </p:cNvSpPr>
          <p:nvPr>
            <p:ph type="dt" sz="half" idx="10"/>
          </p:nvPr>
        </p:nvSpPr>
        <p:spPr bwMode="gray">
          <a:xfrm>
            <a:off x="7614000" y="4783500"/>
            <a:ext cx="1170000" cy="3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 smtClean="0"/>
              <a:t>16/02/2026</a:t>
            </a:r>
            <a:endParaRPr lang="fr-FR" cap="all" dirty="0"/>
          </a:p>
        </p:txBody>
      </p:sp>
      <p:sp>
        <p:nvSpPr>
          <p:cNvPr id="13" name="Espace réservé du pied de page 3"/>
          <p:cNvSpPr txBox="1">
            <a:spLocks/>
          </p:cNvSpPr>
          <p:nvPr userDrawn="1"/>
        </p:nvSpPr>
        <p:spPr bwMode="gray">
          <a:xfrm>
            <a:off x="359998" y="4783500"/>
            <a:ext cx="5831992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>
                <a:solidFill>
                  <a:schemeClr val="bg1"/>
                </a:solidFill>
              </a:rPr>
              <a:t>Nouvelles mesures d’incitation fiscale en faveur du développement des activités économiques</a:t>
            </a:r>
            <a:br>
              <a:rPr lang="fr-FR" dirty="0" smtClean="0">
                <a:solidFill>
                  <a:schemeClr val="bg1"/>
                </a:solidFill>
              </a:rPr>
            </a:br>
            <a:r>
              <a:rPr lang="fr-FR" dirty="0" smtClean="0">
                <a:solidFill>
                  <a:schemeClr val="bg1"/>
                </a:solidFill>
              </a:rPr>
              <a:t>dans les quartiers prioritaires de la politique de la ville</a:t>
            </a:r>
          </a:p>
        </p:txBody>
      </p:sp>
      <p:sp>
        <p:nvSpPr>
          <p:cNvPr id="14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>
          <a:xfrm>
            <a:off x="6264000" y="4783500"/>
            <a:ext cx="1350000" cy="3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18491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23528" y="1131590"/>
            <a:ext cx="8460471" cy="504056"/>
          </a:xfrm>
        </p:spPr>
        <p:txBody>
          <a:bodyPr/>
          <a:lstStyle>
            <a:lvl1pPr>
              <a:defRPr baseline="0">
                <a:latin typeface="+mj-lt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3528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203520" y="1896616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63999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1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pPr algn="r"/>
            <a:r>
              <a:rPr lang="fr-FR" cap="all" smtClean="0"/>
              <a:t>16/02/2026</a:t>
            </a:r>
            <a:endParaRPr lang="fr-FR" cap="all" dirty="0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 baseline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4" name="Connecteur droit 13"/>
          <p:cNvCxnSpPr/>
          <p:nvPr userDrawn="1"/>
        </p:nvCxnSpPr>
        <p:spPr bwMode="gray">
          <a:xfrm>
            <a:off x="319602" y="4783500"/>
            <a:ext cx="8464398" cy="90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23528" y="1131590"/>
            <a:ext cx="8460471" cy="504056"/>
          </a:xfrm>
        </p:spPr>
        <p:txBody>
          <a:bodyPr/>
          <a:lstStyle>
            <a:lvl1pPr>
              <a:defRPr baseline="0">
                <a:latin typeface="+mj-lt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 smtClean="0"/>
              <a:t>16/02/2026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smtClean="0"/>
              <a:t>Nouvelles mesures d’incitation fiscale en faveur du développement des activités économiques dans les quartiers prioritaires de la politique de la ville</a:t>
            </a:r>
            <a:endParaRPr lang="fr-FR" dirty="0" smtClean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3527" y="1893600"/>
            <a:ext cx="8460471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51508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23528" y="900000"/>
            <a:ext cx="8460471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23527" y="1836000"/>
            <a:ext cx="2556471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293763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64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9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pPr algn="r"/>
            <a:r>
              <a:rPr lang="fr-FR" cap="all" smtClean="0"/>
              <a:t>16/02/2026</a:t>
            </a:r>
            <a:endParaRPr lang="fr-FR" cap="all" dirty="0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 baseline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5" name="Connecteur droit 14"/>
          <p:cNvCxnSpPr/>
          <p:nvPr userDrawn="1"/>
        </p:nvCxnSpPr>
        <p:spPr bwMode="gray">
          <a:xfrm>
            <a:off x="319602" y="4783500"/>
            <a:ext cx="8464398" cy="90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, sous-titre, textes 3 et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23528" y="1851670"/>
            <a:ext cx="2520000" cy="273630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35840C24-F178-C44C-B5A1-3EB8F3EF4B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3850" y="1492347"/>
            <a:ext cx="8424614" cy="242951"/>
          </a:xfrm>
        </p:spPr>
        <p:txBody>
          <a:bodyPr/>
          <a:lstStyle>
            <a:lvl1pPr marL="0" indent="95250">
              <a:spcBef>
                <a:spcPts val="400"/>
              </a:spcBef>
              <a:spcAft>
                <a:spcPts val="800"/>
              </a:spcAft>
              <a:buFont typeface="+mj-lt"/>
              <a:buNone/>
              <a:tabLst/>
              <a:defRPr sz="15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Sous-titre</a:t>
            </a:r>
          </a:p>
          <a:p>
            <a:pPr lvl="0"/>
            <a:endParaRPr lang="fr-FR" dirty="0"/>
          </a:p>
        </p:txBody>
      </p:sp>
      <p:sp>
        <p:nvSpPr>
          <p:cNvPr id="19" name="Titre 18">
            <a:extLst>
              <a:ext uri="{FF2B5EF4-FFF2-40B4-BE49-F238E27FC236}">
                <a16:creationId xmlns:a16="http://schemas.microsoft.com/office/drawing/2014/main" id="{0271A58A-1CC5-D145-89AA-12537E5CE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725" y="949046"/>
            <a:ext cx="8424863" cy="539991"/>
          </a:xfrm>
        </p:spPr>
        <p:txBody>
          <a:bodyPr/>
          <a:lstStyle/>
          <a:p>
            <a:r>
              <a:rPr lang="fr-FR" dirty="0"/>
              <a:t>Titre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04A35F-FCE5-0248-9AD4-C4E7502EF1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31840" y="1851670"/>
            <a:ext cx="5616624" cy="2736304"/>
          </a:xfrm>
        </p:spPr>
        <p:txBody>
          <a:bodyPr/>
          <a:lstStyle/>
          <a:p>
            <a:r>
              <a:rPr lang="fr-FR" dirty="0" smtClean="0"/>
              <a:t>Cliquez sur l'icône pour ajouter une image</a:t>
            </a:r>
            <a:endParaRPr lang="fr-FR" dirty="0"/>
          </a:p>
        </p:txBody>
      </p:sp>
      <p:sp>
        <p:nvSpPr>
          <p:cNvPr id="1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pPr algn="r"/>
            <a:r>
              <a:rPr lang="fr-FR" cap="all" smtClean="0"/>
              <a:t>16/02/2026</a:t>
            </a:r>
            <a:endParaRPr lang="fr-FR" cap="all" dirty="0"/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 baseline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7" name="Connecteur droit 16"/>
          <p:cNvCxnSpPr/>
          <p:nvPr userDrawn="1"/>
        </p:nvCxnSpPr>
        <p:spPr bwMode="gray">
          <a:xfrm>
            <a:off x="319602" y="4783500"/>
            <a:ext cx="8464398" cy="90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401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, sous-titre, textes 3, et graphiq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228184" y="1903774"/>
            <a:ext cx="2520000" cy="275620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66D3B633-BB7B-4941-BF9B-161C5342E3AA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26012" y="1903775"/>
            <a:ext cx="5829507" cy="2756207"/>
          </a:xfrm>
        </p:spPr>
        <p:txBody>
          <a:bodyPr/>
          <a:lstStyle/>
          <a:p>
            <a:r>
              <a:rPr lang="fr-FR" dirty="0" smtClean="0"/>
              <a:t>Cliquez sur l'icône pour ajouter un graphique</a:t>
            </a:r>
            <a:endParaRPr lang="fr-FR" dirty="0"/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35840C24-F178-C44C-B5A1-3EB8F3EF4B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3850" y="1492347"/>
            <a:ext cx="8424614" cy="242951"/>
          </a:xfrm>
        </p:spPr>
        <p:txBody>
          <a:bodyPr/>
          <a:lstStyle>
            <a:lvl1pPr marL="0" indent="95250">
              <a:spcBef>
                <a:spcPts val="400"/>
              </a:spcBef>
              <a:spcAft>
                <a:spcPts val="800"/>
              </a:spcAft>
              <a:buFont typeface="+mj-lt"/>
              <a:buNone/>
              <a:tabLst/>
              <a:defRPr sz="15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Sous-titre</a:t>
            </a:r>
          </a:p>
          <a:p>
            <a:pPr lvl="0"/>
            <a:endParaRPr lang="fr-FR" dirty="0"/>
          </a:p>
        </p:txBody>
      </p:sp>
      <p:sp>
        <p:nvSpPr>
          <p:cNvPr id="15" name="Titre 18">
            <a:extLst>
              <a:ext uri="{FF2B5EF4-FFF2-40B4-BE49-F238E27FC236}">
                <a16:creationId xmlns:a16="http://schemas.microsoft.com/office/drawing/2014/main" id="{0271A58A-1CC5-D145-89AA-12537E5CE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725" y="949046"/>
            <a:ext cx="8424863" cy="539991"/>
          </a:xfrm>
        </p:spPr>
        <p:txBody>
          <a:bodyPr/>
          <a:lstStyle/>
          <a:p>
            <a:r>
              <a:rPr lang="fr-FR" dirty="0"/>
              <a:t>Titre</a:t>
            </a:r>
          </a:p>
        </p:txBody>
      </p:sp>
      <p:sp>
        <p:nvSpPr>
          <p:cNvPr id="16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pPr algn="r"/>
            <a:r>
              <a:rPr lang="fr-FR" cap="all" smtClean="0"/>
              <a:t>16/02/2026</a:t>
            </a:r>
            <a:endParaRPr lang="fr-FR" cap="all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 baseline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9" name="Connecteur droit 18"/>
          <p:cNvCxnSpPr/>
          <p:nvPr userDrawn="1"/>
        </p:nvCxnSpPr>
        <p:spPr bwMode="gray">
          <a:xfrm>
            <a:off x="319602" y="4783500"/>
            <a:ext cx="8464398" cy="90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0189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smtClean="0"/>
              <a:t>16/02/2026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720000" y="3919897"/>
            <a:ext cx="5580192" cy="900000"/>
          </a:xfrm>
        </p:spPr>
        <p:txBody>
          <a:bodyPr anchor="b" anchorCtr="0"/>
          <a:lstStyle>
            <a:lvl1pPr>
              <a:defRPr sz="1400" baseline="0">
                <a:solidFill>
                  <a:srgbClr val="484D7A"/>
                </a:solidFill>
                <a:latin typeface="Marianne" panose="02000000000000000000" pitchFamily="50" charset="0"/>
              </a:defRPr>
            </a:lvl1pPr>
          </a:lstStyle>
          <a:p>
            <a:r>
              <a:rPr lang="fr-FR" b="0" smtClean="0"/>
              <a:t>Nouvelles mesures d’incitation fiscale en faveur du développement des activités économiques dans les quartiers prioritaires de la politique de la ville</a:t>
            </a:r>
            <a:endParaRPr lang="fr-FR" b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11510"/>
            <a:ext cx="4858377" cy="244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323528" y="900000"/>
            <a:ext cx="8460471" cy="72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19602" y="1834885"/>
            <a:ext cx="8424000" cy="257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pPr algn="r"/>
            <a:r>
              <a:rPr lang="fr-FR" cap="all" smtClean="0"/>
              <a:t>16/02/2026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 baseline="0">
                <a:solidFill>
                  <a:schemeClr val="tx1"/>
                </a:solidFill>
                <a:latin typeface="Marianne" panose="02000000000000000000" pitchFamily="50" charset="0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319602" y="4783500"/>
            <a:ext cx="8464398" cy="90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91"/>
          <a:stretch/>
        </p:blipFill>
        <p:spPr>
          <a:xfrm>
            <a:off x="7740352" y="131338"/>
            <a:ext cx="1080081" cy="66966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13" y="47033"/>
            <a:ext cx="1173785" cy="90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2" r:id="rId2"/>
    <p:sldLayoutId id="2147483818" r:id="rId3"/>
    <p:sldLayoutId id="2147483814" r:id="rId4"/>
    <p:sldLayoutId id="2147483810" r:id="rId5"/>
    <p:sldLayoutId id="2147483813" r:id="rId6"/>
    <p:sldLayoutId id="2147483809" r:id="rId7"/>
    <p:sldLayoutId id="2147483815" r:id="rId8"/>
    <p:sldLayoutId id="2147483816" r:id="rId9"/>
    <p:sldLayoutId id="2147483808" r:id="rId10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 baseline="0">
          <a:solidFill>
            <a:schemeClr val="tx1"/>
          </a:solidFill>
          <a:latin typeface="+mj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 baseline="0">
          <a:solidFill>
            <a:schemeClr val="tx1"/>
          </a:solidFill>
          <a:latin typeface="+mj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 baseline="0">
          <a:solidFill>
            <a:schemeClr val="tx1"/>
          </a:solidFill>
          <a:latin typeface="+mj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 baseline="0">
          <a:solidFill>
            <a:schemeClr val="tx1"/>
          </a:solidFill>
          <a:latin typeface="+mj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>
          <a:xfrm>
            <a:off x="518160" y="1795391"/>
            <a:ext cx="3736320" cy="2077200"/>
          </a:xfrm>
        </p:spPr>
        <p:txBody>
          <a:bodyPr/>
          <a:lstStyle/>
          <a:p>
            <a:r>
              <a:rPr lang="fr-FR" sz="2900" dirty="0" smtClean="0"/>
              <a:t>KIT</a:t>
            </a:r>
          </a:p>
          <a:p>
            <a:r>
              <a:rPr lang="fr-FR" sz="2900" dirty="0" smtClean="0"/>
              <a:t>Clé en main</a:t>
            </a:r>
          </a:p>
          <a:p>
            <a:r>
              <a:rPr lang="fr-FR" sz="29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services de l’État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pPr>
              <a:spcAft>
                <a:spcPts val="600"/>
              </a:spcAft>
            </a:pPr>
            <a:r>
              <a:rPr lang="fr-FR" sz="1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POLITIQUE DE LA VILLE</a:t>
            </a:r>
          </a:p>
          <a:p>
            <a:r>
              <a:rPr lang="fr-FR" sz="1600" dirty="0" smtClean="0"/>
              <a:t>Document de référence </a:t>
            </a:r>
            <a:br>
              <a:rPr lang="fr-FR" sz="1600" dirty="0" smtClean="0"/>
            </a:br>
            <a:r>
              <a:rPr lang="fr-FR" sz="1600" dirty="0" smtClean="0"/>
              <a:t>de présentation de la </a:t>
            </a:r>
            <a:r>
              <a:rPr lang="fr-FR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réforme </a:t>
            </a:r>
            <a:br>
              <a:rPr lang="fr-FR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 la fiscalité applicable aux activités économiques </a:t>
            </a:r>
            <a:r>
              <a:rPr lang="fr-FR" sz="1600" dirty="0" smtClean="0"/>
              <a:t>dans les quartiers prioritaires de la politique de la ville</a:t>
            </a:r>
            <a:endParaRPr lang="fr-FR" sz="160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5"/>
          </p:nvPr>
        </p:nvSpPr>
        <p:spPr>
          <a:xfrm>
            <a:off x="4782863" y="3407584"/>
            <a:ext cx="3832753" cy="752936"/>
          </a:xfrm>
        </p:spPr>
        <p:txBody>
          <a:bodyPr/>
          <a:lstStyle/>
          <a:p>
            <a:r>
              <a:rPr lang="fr-FR" b="1" dirty="0" smtClean="0"/>
              <a:t>Afin d’accompagner les services de l’État dans l’animation et la présentation de la réforme aux parties prenantes, ce « </a:t>
            </a:r>
            <a:r>
              <a:rPr lang="fr-FR" b="1" dirty="0"/>
              <a:t>kit clé en main » permet, par exemple, d’animer une réunion ou un webinaire avec un support de présentation, didactique et dynamique, prêt à </a:t>
            </a:r>
            <a:r>
              <a:rPr lang="fr-FR" b="1" dirty="0" smtClean="0"/>
              <a:t>l’usage. </a:t>
            </a:r>
            <a:r>
              <a:rPr lang="fr-FR" dirty="0" smtClean="0"/>
              <a:t>Ce document de référence a été réalisé par la sous-direction de la cohésion et de l’aménagement du territoire (DGCL/SDCAT). 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4782863" y="4160520"/>
            <a:ext cx="3832753" cy="346162"/>
          </a:xfrm>
        </p:spPr>
        <p:txBody>
          <a:bodyPr/>
          <a:lstStyle/>
          <a:p>
            <a:r>
              <a:rPr lang="fr-FR" dirty="0" smtClean="0"/>
              <a:t>Version actualisée en </a:t>
            </a:r>
            <a:r>
              <a:rPr lang="fr-FR" b="1" dirty="0" smtClean="0"/>
              <a:t>février 2026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950075" y="178151"/>
            <a:ext cx="5637350" cy="280928"/>
          </a:xfrm>
          <a:prstGeom prst="roundRect">
            <a:avLst/>
          </a:prstGeom>
          <a:solidFill>
            <a:schemeClr val="tx1">
              <a:alpha val="10196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 smtClean="0">
                <a:latin typeface="+mj-lt"/>
                <a:cs typeface="Arial" panose="020B0604020202020204" pitchFamily="34" charset="0"/>
              </a:rPr>
              <a:t>Page masquée par défaut : ne pas utiliser lors d’une présentation.</a:t>
            </a:r>
            <a:endParaRPr lang="fr-FR" sz="105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950074" y="499497"/>
            <a:ext cx="5637351" cy="323493"/>
          </a:xfrm>
          <a:prstGeom prst="roundRect">
            <a:avLst/>
          </a:prstGeom>
          <a:solidFill>
            <a:srgbClr val="E1000F">
              <a:alpha val="10196"/>
            </a:srgb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Pour </a:t>
            </a:r>
            <a:r>
              <a:rPr lang="fr-FR" sz="1300" b="1" dirty="0">
                <a:solidFill>
                  <a:srgbClr val="E1000F"/>
                </a:solidFill>
                <a:latin typeface="+mj-lt"/>
                <a:cs typeface="Arial" panose="020B0604020202020204" pitchFamily="34" charset="0"/>
              </a:rPr>
              <a:t>toute</a:t>
            </a:r>
            <a:r>
              <a:rPr lang="fr-FR" sz="1300" b="1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 question sur le document : </a:t>
            </a:r>
            <a:r>
              <a:rPr lang="fr-FR" sz="1300" b="1" dirty="0" smtClean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dgcl-sdcat-cat2@dgcl.gouv.fr</a:t>
            </a:r>
            <a:endParaRPr lang="fr-FR" sz="1300" b="1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13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>
          <a:xfrm>
            <a:off x="518160" y="1795391"/>
            <a:ext cx="3703320" cy="2077200"/>
          </a:xfrm>
        </p:spPr>
        <p:txBody>
          <a:bodyPr/>
          <a:lstStyle/>
          <a:p>
            <a:r>
              <a:rPr lang="fr-FR" sz="2400" cap="none" dirty="0" smtClean="0"/>
              <a:t>Soutenir </a:t>
            </a:r>
            <a:br>
              <a:rPr lang="fr-FR" sz="2400" cap="none" dirty="0" smtClean="0"/>
            </a:br>
            <a:r>
              <a:rPr lang="fr-FR" sz="2400" cap="none" dirty="0" smtClean="0"/>
              <a:t>le développement économique</a:t>
            </a:r>
          </a:p>
          <a:p>
            <a:r>
              <a:rPr lang="fr-FR" sz="2700" b="0" i="1" cap="none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Spectral" panose="02020502060000000000" pitchFamily="18" charset="0"/>
              </a:rPr>
              <a:t>des </a:t>
            </a:r>
            <a:r>
              <a:rPr lang="fr-FR" sz="2700" i="1" cap="none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Spectral" panose="02020502060000000000" pitchFamily="18" charset="0"/>
              </a:rPr>
              <a:t>quartiers prioritaires</a:t>
            </a:r>
            <a:br>
              <a:rPr lang="fr-FR" sz="2700" i="1" cap="none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Spectral" panose="02020502060000000000" pitchFamily="18" charset="0"/>
              </a:rPr>
            </a:br>
            <a:r>
              <a:rPr lang="fr-FR" sz="2700" i="1" cap="none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Spectral" panose="02020502060000000000" pitchFamily="18" charset="0"/>
              </a:rPr>
              <a:t>de la politique de la ville 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4782863" y="1795391"/>
            <a:ext cx="3832753" cy="1014374"/>
          </a:xfrm>
        </p:spPr>
        <p:txBody>
          <a:bodyPr anchor="ctr"/>
          <a:lstStyle/>
          <a:p>
            <a:pPr>
              <a:spcAft>
                <a:spcPts val="600"/>
              </a:spcAft>
            </a:pPr>
            <a:r>
              <a:rPr lang="fr-FR" sz="1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POLITIQUE DE LA VILLE</a:t>
            </a:r>
          </a:p>
          <a:p>
            <a:r>
              <a:rPr lang="fr-FR" sz="1800" dirty="0" smtClean="0"/>
              <a:t>Présentation du </a:t>
            </a:r>
            <a:r>
              <a:rPr lang="fr-FR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nouveau </a:t>
            </a:r>
            <a:r>
              <a:rPr lang="fr-FR" sz="18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cadre</a:t>
            </a:r>
            <a:br>
              <a:rPr lang="fr-FR" sz="18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sz="18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 soutien aux </a:t>
            </a:r>
            <a:r>
              <a:rPr lang="fr-FR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acteurs économiques de </a:t>
            </a:r>
            <a:r>
              <a:rPr lang="fr-FR" sz="18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proximité</a:t>
            </a:r>
            <a:r>
              <a:rPr lang="fr-FR" sz="1800" dirty="0" smtClean="0"/>
              <a:t/>
            </a:r>
            <a:br>
              <a:rPr lang="fr-FR" sz="1800" dirty="0" smtClean="0"/>
            </a:br>
            <a:r>
              <a:rPr lang="fr-FR" sz="1800" dirty="0" smtClean="0"/>
              <a:t>dans les </a:t>
            </a:r>
            <a:r>
              <a:rPr lang="fr-FR" sz="1800" dirty="0"/>
              <a:t>quartiers </a:t>
            </a:r>
            <a:r>
              <a:rPr lang="fr-FR" sz="1800" dirty="0" smtClean="0"/>
              <a:t>prioritaires</a:t>
            </a:r>
            <a:br>
              <a:rPr lang="fr-FR" sz="1800" dirty="0" smtClean="0"/>
            </a:br>
            <a:r>
              <a:rPr lang="fr-FR" sz="1800" dirty="0" smtClean="0"/>
              <a:t>de </a:t>
            </a:r>
            <a:r>
              <a:rPr lang="fr-FR" sz="1800" dirty="0"/>
              <a:t>la politique de la </a:t>
            </a:r>
            <a:r>
              <a:rPr lang="fr-FR" sz="1800" dirty="0" smtClean="0"/>
              <a:t>ville</a:t>
            </a:r>
            <a:endParaRPr lang="fr-FR" sz="180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5"/>
          </p:nvPr>
        </p:nvSpPr>
        <p:spPr>
          <a:xfrm>
            <a:off x="4782863" y="3407584"/>
            <a:ext cx="3832753" cy="897716"/>
          </a:xfrm>
        </p:spPr>
        <p:txBody>
          <a:bodyPr/>
          <a:lstStyle/>
          <a:p>
            <a:r>
              <a:rPr lang="fr-FR" b="1" dirty="0"/>
              <a:t>Le développement économique constitue un levier </a:t>
            </a:r>
            <a:r>
              <a:rPr lang="fr-FR" b="1" dirty="0" smtClean="0"/>
              <a:t>majeur </a:t>
            </a:r>
            <a:r>
              <a:rPr lang="fr-FR" b="1" dirty="0"/>
              <a:t>pour améliorer les conditions de vie dans les quartiers et </a:t>
            </a:r>
            <a:r>
              <a:rPr lang="fr-FR" b="1" dirty="0" smtClean="0"/>
              <a:t>réduire </a:t>
            </a:r>
            <a:r>
              <a:rPr lang="fr-FR" b="1" dirty="0"/>
              <a:t>la fracture avec les autres territoires. </a:t>
            </a:r>
            <a:r>
              <a:rPr lang="fr-FR" dirty="0" smtClean="0"/>
              <a:t>Face aux difficultés pour attirer des investissements dans les QPV, de nouvelles exonérations </a:t>
            </a:r>
            <a:r>
              <a:rPr lang="fr-FR" dirty="0"/>
              <a:t>d’impôts </a:t>
            </a:r>
            <a:r>
              <a:rPr lang="fr-FR" dirty="0" smtClean="0"/>
              <a:t>ciblent </a:t>
            </a:r>
            <a:r>
              <a:rPr lang="fr-FR" dirty="0"/>
              <a:t>des </a:t>
            </a:r>
            <a:r>
              <a:rPr lang="fr-FR" dirty="0" smtClean="0"/>
              <a:t>activités de proximité, afin d’inciter l’implantation de nouveaux services utiles pour les habitants, de </a:t>
            </a:r>
            <a:r>
              <a:rPr lang="fr-FR" dirty="0"/>
              <a:t>diversifier l’économie </a:t>
            </a:r>
            <a:r>
              <a:rPr lang="fr-FR" dirty="0" smtClean="0"/>
              <a:t>des quartiers et </a:t>
            </a:r>
            <a:r>
              <a:rPr lang="fr-FR" dirty="0"/>
              <a:t>de créer de l’emploi local.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4782863" y="4305300"/>
            <a:ext cx="3832753" cy="281940"/>
          </a:xfrm>
        </p:spPr>
        <p:txBody>
          <a:bodyPr/>
          <a:lstStyle/>
          <a:p>
            <a:r>
              <a:rPr lang="fr-FR" dirty="0" smtClean="0"/>
              <a:t>25 février 2026 – [Organisation] / [Lieu]</a:t>
            </a:r>
          </a:p>
        </p:txBody>
      </p:sp>
    </p:spTree>
    <p:extLst>
      <p:ext uri="{BB962C8B-B14F-4D97-AF65-F5344CB8AC3E}">
        <p14:creationId xmlns:p14="http://schemas.microsoft.com/office/powerpoint/2010/main" val="34902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918527"/>
            <a:ext cx="9144000" cy="3894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319602" y="1009445"/>
            <a:ext cx="8830164" cy="3774055"/>
          </a:xfrm>
          <a:prstGeom prst="rect">
            <a:avLst/>
          </a:prstGeom>
          <a:solidFill>
            <a:srgbClr val="000091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Titre 4"/>
          <p:cNvSpPr txBox="1">
            <a:spLocks/>
          </p:cNvSpPr>
          <p:nvPr/>
        </p:nvSpPr>
        <p:spPr bwMode="gray">
          <a:xfrm>
            <a:off x="5618085" y="3770102"/>
            <a:ext cx="458431" cy="50323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5</a:t>
            </a:r>
            <a:endParaRPr lang="fr-FR" sz="5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Espace réservé du texte 7"/>
          <p:cNvSpPr>
            <a:spLocks noGrp="1"/>
          </p:cNvSpPr>
          <p:nvPr>
            <p:ph type="body" sz="quarter" idx="14"/>
          </p:nvPr>
        </p:nvSpPr>
        <p:spPr>
          <a:xfrm>
            <a:off x="3209332" y="3519637"/>
            <a:ext cx="2528929" cy="1214754"/>
          </a:xfrm>
        </p:spPr>
        <p:txBody>
          <a:bodyPr anchor="t"/>
          <a:lstStyle/>
          <a:p>
            <a:r>
              <a:rPr lang="fr-FR" sz="1400" dirty="0" smtClean="0">
                <a:solidFill>
                  <a:schemeClr val="tx2"/>
                </a:solidFill>
                <a:latin typeface="Spectral" panose="02020502060000000000" pitchFamily="18" charset="0"/>
              </a:rPr>
              <a:t>Une </a:t>
            </a:r>
            <a:r>
              <a:rPr lang="fr-FR" sz="1400" dirty="0">
                <a:solidFill>
                  <a:schemeClr val="tx2"/>
                </a:solidFill>
                <a:latin typeface="Spectral" panose="02020502060000000000" pitchFamily="18" charset="0"/>
              </a:rPr>
              <a:t>réforme qui se déploie</a:t>
            </a:r>
            <a:br>
              <a:rPr lang="fr-FR" sz="1400" dirty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1400" dirty="0">
                <a:solidFill>
                  <a:schemeClr val="tx2"/>
                </a:solidFill>
                <a:latin typeface="Spectral" panose="02020502060000000000" pitchFamily="18" charset="0"/>
              </a:rPr>
              <a:t>au plus près des territoires</a:t>
            </a:r>
            <a:br>
              <a:rPr lang="fr-FR" sz="1400" dirty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1400" dirty="0">
                <a:solidFill>
                  <a:schemeClr val="tx2"/>
                </a:solidFill>
                <a:latin typeface="Spectral" panose="02020502060000000000" pitchFamily="18" charset="0"/>
              </a:rPr>
              <a:t>et des multiples bénéficiaires</a:t>
            </a:r>
          </a:p>
          <a:p>
            <a:endParaRPr lang="fr-FR" sz="1000" b="0" dirty="0">
              <a:solidFill>
                <a:schemeClr val="tx2"/>
              </a:solidFill>
            </a:endParaRPr>
          </a:p>
          <a:p>
            <a:pPr marL="171450" indent="-171450">
              <a:buFont typeface="Marianne" panose="02000000000000000000" pitchFamily="50" charset="0"/>
              <a:buChar char="↘"/>
            </a:pPr>
            <a:r>
              <a:rPr lang="fr-FR" sz="1000" b="0" dirty="0">
                <a:solidFill>
                  <a:schemeClr val="tx2"/>
                </a:solidFill>
              </a:rPr>
              <a:t>Documents de référence</a:t>
            </a:r>
          </a:p>
          <a:p>
            <a:pPr marL="171450" indent="-171450">
              <a:buFont typeface="Marianne" panose="02000000000000000000" pitchFamily="50" charset="0"/>
              <a:buChar char="↘"/>
            </a:pPr>
            <a:r>
              <a:rPr lang="fr-FR" sz="1000" b="0" dirty="0">
                <a:solidFill>
                  <a:schemeClr val="tx2"/>
                </a:solidFill>
              </a:rPr>
              <a:t>Vos contacts de </a:t>
            </a:r>
            <a:r>
              <a:rPr lang="fr-FR" sz="1000" b="0" dirty="0" smtClean="0">
                <a:solidFill>
                  <a:schemeClr val="tx2"/>
                </a:solidFill>
              </a:rPr>
              <a:t>proximité</a:t>
            </a:r>
          </a:p>
          <a:p>
            <a:pPr marL="171450" indent="-171450">
              <a:buFont typeface="Marianne" panose="02000000000000000000" pitchFamily="50" charset="0"/>
              <a:buChar char="↘"/>
            </a:pPr>
            <a:r>
              <a:rPr lang="fr-FR" sz="1000" b="0" dirty="0" smtClean="0">
                <a:solidFill>
                  <a:schemeClr val="tx2"/>
                </a:solidFill>
              </a:rPr>
              <a:t>Vous accompagner</a:t>
            </a:r>
            <a:endParaRPr lang="fr-FR" sz="1000" b="0" dirty="0">
              <a:solidFill>
                <a:schemeClr val="tx2"/>
              </a:solidFill>
            </a:endParaRPr>
          </a:p>
          <a:p>
            <a:endParaRPr lang="fr-FR" sz="1200" b="0" dirty="0">
              <a:solidFill>
                <a:schemeClr val="tx2"/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 idx="4294967295"/>
          </p:nvPr>
        </p:nvSpPr>
        <p:spPr>
          <a:xfrm>
            <a:off x="462924" y="1148407"/>
            <a:ext cx="2161465" cy="503237"/>
          </a:xfrm>
        </p:spPr>
        <p:txBody>
          <a:bodyPr/>
          <a:lstStyle/>
          <a:p>
            <a:r>
              <a:rPr lang="fr-FR" sz="3200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Sommaire</a:t>
            </a:r>
            <a:endParaRPr lang="fr-FR" i="1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cxnSp>
        <p:nvCxnSpPr>
          <p:cNvPr id="18" name="Connecteur droit 17"/>
          <p:cNvCxnSpPr/>
          <p:nvPr/>
        </p:nvCxnSpPr>
        <p:spPr>
          <a:xfrm>
            <a:off x="440770" y="1582091"/>
            <a:ext cx="8487139" cy="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6"/>
          <p:cNvSpPr>
            <a:spLocks noGrp="1"/>
          </p:cNvSpPr>
          <p:nvPr>
            <p:ph type="body" sz="quarter" idx="13"/>
          </p:nvPr>
        </p:nvSpPr>
        <p:spPr>
          <a:xfrm>
            <a:off x="416557" y="2273382"/>
            <a:ext cx="2520000" cy="951701"/>
          </a:xfrm>
        </p:spPr>
        <p:txBody>
          <a:bodyPr anchor="t"/>
          <a:lstStyle/>
          <a:p>
            <a:r>
              <a:rPr lang="fr-FR" sz="1400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  <a:t>Introduction</a:t>
            </a:r>
            <a:endParaRPr lang="fr-FR" sz="1400" cap="none" dirty="0">
              <a:solidFill>
                <a:schemeClr val="tx2"/>
              </a:solidFill>
              <a:latin typeface="Spectral" panose="02020502060000000000" pitchFamily="18" charset="0"/>
            </a:endParaRPr>
          </a:p>
          <a:p>
            <a:endParaRPr lang="fr-FR" sz="1000" b="0" cap="none" dirty="0" smtClean="0">
              <a:solidFill>
                <a:schemeClr val="tx2"/>
              </a:solidFill>
            </a:endParaRPr>
          </a:p>
          <a:p>
            <a:r>
              <a:rPr lang="fr-FR" sz="1000" b="0" cap="none" dirty="0" smtClean="0">
                <a:solidFill>
                  <a:schemeClr val="tx2"/>
                </a:solidFill>
              </a:rPr>
              <a:t>L’État </a:t>
            </a:r>
            <a:r>
              <a:rPr lang="fr-FR" sz="1000" b="0" cap="none" dirty="0">
                <a:solidFill>
                  <a:schemeClr val="tx2"/>
                </a:solidFill>
              </a:rPr>
              <a:t>met tout </a:t>
            </a:r>
            <a:r>
              <a:rPr lang="fr-FR" sz="1000" b="0" cap="none" dirty="0" smtClean="0">
                <a:solidFill>
                  <a:schemeClr val="tx2"/>
                </a:solidFill>
              </a:rPr>
              <a:t>en </a:t>
            </a:r>
            <a:r>
              <a:rPr lang="fr-FR" sz="1000" b="0" cap="none" dirty="0">
                <a:solidFill>
                  <a:schemeClr val="tx2"/>
                </a:solidFill>
              </a:rPr>
              <a:t>œuvre</a:t>
            </a:r>
            <a:br>
              <a:rPr lang="fr-FR" sz="1000" b="0" cap="none" dirty="0">
                <a:solidFill>
                  <a:schemeClr val="tx2"/>
                </a:solidFill>
              </a:rPr>
            </a:br>
            <a:r>
              <a:rPr lang="fr-FR" sz="1000" b="0" cap="none" dirty="0">
                <a:solidFill>
                  <a:schemeClr val="tx2"/>
                </a:solidFill>
              </a:rPr>
              <a:t>pour développer la vie économique </a:t>
            </a:r>
            <a:r>
              <a:rPr lang="fr-FR" sz="1000" b="0" cap="none" dirty="0" smtClean="0">
                <a:solidFill>
                  <a:schemeClr val="tx2"/>
                </a:solidFill>
              </a:rPr>
              <a:t/>
            </a:r>
            <a:br>
              <a:rPr lang="fr-FR" sz="1000" b="0" cap="none" dirty="0" smtClean="0">
                <a:solidFill>
                  <a:schemeClr val="tx2"/>
                </a:solidFill>
              </a:rPr>
            </a:br>
            <a:r>
              <a:rPr lang="fr-FR" sz="1000" b="0" cap="none" dirty="0" smtClean="0">
                <a:solidFill>
                  <a:schemeClr val="tx2"/>
                </a:solidFill>
              </a:rPr>
              <a:t>des </a:t>
            </a:r>
            <a:r>
              <a:rPr lang="fr-FR" sz="1000" b="0" cap="none" dirty="0">
                <a:solidFill>
                  <a:schemeClr val="tx2"/>
                </a:solidFill>
              </a:rPr>
              <a:t>quartiers </a:t>
            </a:r>
            <a:r>
              <a:rPr lang="fr-FR" sz="1000" b="0" cap="none" dirty="0" smtClean="0">
                <a:solidFill>
                  <a:schemeClr val="tx2"/>
                </a:solidFill>
              </a:rPr>
              <a:t> et </a:t>
            </a:r>
            <a:r>
              <a:rPr lang="fr-FR" sz="1000" b="0" cap="none" dirty="0">
                <a:solidFill>
                  <a:schemeClr val="tx2"/>
                </a:solidFill>
              </a:rPr>
              <a:t>améliorer le quotidien des </a:t>
            </a:r>
            <a:r>
              <a:rPr lang="fr-FR" sz="1000" b="0" cap="none" dirty="0" smtClean="0">
                <a:solidFill>
                  <a:schemeClr val="tx2"/>
                </a:solidFill>
              </a:rPr>
              <a:t>habitants</a:t>
            </a:r>
          </a:p>
        </p:txBody>
      </p:sp>
      <p:sp>
        <p:nvSpPr>
          <p:cNvPr id="23" name="Espace réservé du texte 7"/>
          <p:cNvSpPr>
            <a:spLocks noGrp="1"/>
          </p:cNvSpPr>
          <p:nvPr>
            <p:ph type="body" sz="quarter" idx="14"/>
          </p:nvPr>
        </p:nvSpPr>
        <p:spPr>
          <a:xfrm>
            <a:off x="3209332" y="1706908"/>
            <a:ext cx="2528929" cy="1518175"/>
          </a:xfrm>
        </p:spPr>
        <p:txBody>
          <a:bodyPr anchor="t"/>
          <a:lstStyle/>
          <a:p>
            <a:endParaRPr lang="fr-FR" sz="1400" dirty="0" smtClean="0">
              <a:solidFill>
                <a:schemeClr val="tx2"/>
              </a:solidFill>
              <a:latin typeface="Spectral" panose="02020502060000000000" pitchFamily="18" charset="0"/>
            </a:endParaRPr>
          </a:p>
          <a:p>
            <a:r>
              <a:rPr lang="fr-FR" sz="1400" dirty="0" smtClean="0">
                <a:solidFill>
                  <a:schemeClr val="tx2"/>
                </a:solidFill>
                <a:latin typeface="Spectral" panose="02020502060000000000" pitchFamily="18" charset="0"/>
              </a:rPr>
              <a:t>Le zonage unique QPV :</a:t>
            </a:r>
            <a:r>
              <a:rPr lang="fr-FR" sz="1400" dirty="0">
                <a:solidFill>
                  <a:schemeClr val="tx2"/>
                </a:solidFill>
                <a:latin typeface="Spectral" panose="02020502060000000000" pitchFamily="18" charset="0"/>
              </a:rPr>
              <a:t/>
            </a:r>
            <a:br>
              <a:rPr lang="fr-FR" sz="1400" dirty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1400" dirty="0">
                <a:solidFill>
                  <a:schemeClr val="tx2"/>
                </a:solidFill>
                <a:latin typeface="Spectral" panose="02020502060000000000" pitchFamily="18" charset="0"/>
              </a:rPr>
              <a:t>plus simple, plus</a:t>
            </a:r>
            <a:br>
              <a:rPr lang="fr-FR" sz="1400" dirty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1400" dirty="0">
                <a:solidFill>
                  <a:schemeClr val="tx2"/>
                </a:solidFill>
                <a:latin typeface="Spectral" panose="02020502060000000000" pitchFamily="18" charset="0"/>
              </a:rPr>
              <a:t>cohérent et plus lisible</a:t>
            </a:r>
          </a:p>
          <a:p>
            <a:pPr marL="171450" indent="-171450">
              <a:buFont typeface="Marianne" panose="02000000000000000000" pitchFamily="50" charset="0"/>
              <a:buChar char="↘"/>
            </a:pPr>
            <a:endParaRPr lang="fr-FR" sz="900" b="0" dirty="0">
              <a:solidFill>
                <a:schemeClr val="tx2"/>
              </a:solidFill>
            </a:endParaRPr>
          </a:p>
          <a:p>
            <a:pPr marL="171450" indent="-171450">
              <a:buFont typeface="Marianne" panose="02000000000000000000" pitchFamily="50" charset="0"/>
              <a:buChar char="↘"/>
            </a:pPr>
            <a:r>
              <a:rPr lang="fr-FR" sz="1000" b="0" dirty="0" smtClean="0">
                <a:solidFill>
                  <a:schemeClr val="tx2"/>
                </a:solidFill>
              </a:rPr>
              <a:t>Situation avant </a:t>
            </a:r>
            <a:r>
              <a:rPr lang="fr-FR" sz="1000" b="0" dirty="0">
                <a:solidFill>
                  <a:schemeClr val="tx2"/>
                </a:solidFill>
              </a:rPr>
              <a:t>le 31 décembre 2025</a:t>
            </a:r>
          </a:p>
          <a:p>
            <a:pPr marL="171450" indent="-171450">
              <a:buFont typeface="Marianne" panose="02000000000000000000" pitchFamily="50" charset="0"/>
              <a:buChar char="↘"/>
            </a:pPr>
            <a:r>
              <a:rPr lang="fr-FR" sz="1000" b="0" dirty="0">
                <a:solidFill>
                  <a:schemeClr val="tx2"/>
                </a:solidFill>
              </a:rPr>
              <a:t>Nouveau régime zoné depuis le 1</a:t>
            </a:r>
            <a:r>
              <a:rPr lang="fr-FR" sz="1000" b="0" baseline="30000" dirty="0">
                <a:solidFill>
                  <a:schemeClr val="tx2"/>
                </a:solidFill>
              </a:rPr>
              <a:t>er</a:t>
            </a:r>
            <a:r>
              <a:rPr lang="fr-FR" sz="1000" b="0" dirty="0">
                <a:solidFill>
                  <a:schemeClr val="tx2"/>
                </a:solidFill>
              </a:rPr>
              <a:t> janvier </a:t>
            </a:r>
            <a:r>
              <a:rPr lang="fr-FR" sz="1000" b="0" dirty="0" smtClean="0">
                <a:solidFill>
                  <a:schemeClr val="tx2"/>
                </a:solidFill>
              </a:rPr>
              <a:t>2026 : plus simple, plus cohérent et plus lisible</a:t>
            </a:r>
            <a:endParaRPr lang="fr-FR" sz="1000" b="0" dirty="0">
              <a:solidFill>
                <a:schemeClr val="tx2"/>
              </a:solidFill>
            </a:endParaRPr>
          </a:p>
          <a:p>
            <a:endParaRPr lang="fr-FR" sz="1400" dirty="0" smtClean="0">
              <a:solidFill>
                <a:schemeClr val="tx2"/>
              </a:solidFill>
              <a:latin typeface="Spectral" panose="02020502060000000000" pitchFamily="18" charset="0"/>
            </a:endParaRPr>
          </a:p>
          <a:p>
            <a:endParaRPr lang="fr-FR" sz="1200" b="0" dirty="0">
              <a:solidFill>
                <a:schemeClr val="tx2"/>
              </a:solidFill>
            </a:endParaRPr>
          </a:p>
        </p:txBody>
      </p:sp>
      <p:sp>
        <p:nvSpPr>
          <p:cNvPr id="24" name="Espace réservé du texte 8"/>
          <p:cNvSpPr>
            <a:spLocks noGrp="1"/>
          </p:cNvSpPr>
          <p:nvPr>
            <p:ph type="body" sz="quarter" idx="15"/>
          </p:nvPr>
        </p:nvSpPr>
        <p:spPr>
          <a:xfrm>
            <a:off x="6168807" y="1729983"/>
            <a:ext cx="2520000" cy="1495100"/>
          </a:xfrm>
        </p:spPr>
        <p:txBody>
          <a:bodyPr/>
          <a:lstStyle/>
          <a:p>
            <a:r>
              <a:rPr lang="fr-FR" sz="1400" b="1" dirty="0">
                <a:solidFill>
                  <a:schemeClr val="tx2"/>
                </a:solidFill>
                <a:latin typeface="Spectral" panose="02020502060000000000" pitchFamily="18" charset="0"/>
              </a:rPr>
              <a:t>Des allègements fiscaux</a:t>
            </a:r>
            <a:br>
              <a:rPr lang="fr-FR" sz="1400" b="1" dirty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1400" b="1" dirty="0">
                <a:solidFill>
                  <a:schemeClr val="tx2"/>
                </a:solidFill>
                <a:latin typeface="Spectral" panose="02020502060000000000" pitchFamily="18" charset="0"/>
              </a:rPr>
              <a:t>renforcés et simplifiés</a:t>
            </a:r>
            <a:br>
              <a:rPr lang="fr-FR" sz="1400" b="1" dirty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1400" b="1" dirty="0">
                <a:solidFill>
                  <a:schemeClr val="tx2"/>
                </a:solidFill>
                <a:latin typeface="Spectral" panose="02020502060000000000" pitchFamily="18" charset="0"/>
              </a:rPr>
              <a:t>pour les </a:t>
            </a:r>
            <a:r>
              <a:rPr lang="fr-FR" sz="1400" b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entreprises</a:t>
            </a:r>
            <a:br>
              <a:rPr lang="fr-FR" sz="1400" b="1" dirty="0" smtClean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1400" b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de </a:t>
            </a:r>
            <a:r>
              <a:rPr lang="fr-FR" sz="1400" b="1" dirty="0">
                <a:solidFill>
                  <a:schemeClr val="tx2"/>
                </a:solidFill>
                <a:latin typeface="Spectral" panose="02020502060000000000" pitchFamily="18" charset="0"/>
              </a:rPr>
              <a:t>proximité</a:t>
            </a:r>
          </a:p>
          <a:p>
            <a:endParaRPr lang="fr-FR" sz="1000" dirty="0">
              <a:solidFill>
                <a:schemeClr val="tx2"/>
              </a:solidFill>
            </a:endParaRPr>
          </a:p>
          <a:p>
            <a:pPr marL="171450" indent="-171450">
              <a:buFont typeface="Marianne" panose="02000000000000000000" pitchFamily="50" charset="0"/>
              <a:buChar char="↘"/>
            </a:pPr>
            <a:r>
              <a:rPr lang="fr-FR" sz="1000" dirty="0">
                <a:solidFill>
                  <a:schemeClr val="tx2"/>
                </a:solidFill>
              </a:rPr>
              <a:t>Qui est concerné ?</a:t>
            </a:r>
          </a:p>
          <a:p>
            <a:pPr marL="171450" indent="-171450">
              <a:buFont typeface="Marianne" panose="02000000000000000000" pitchFamily="50" charset="0"/>
              <a:buChar char="↘"/>
            </a:pPr>
            <a:r>
              <a:rPr lang="fr-FR" sz="1000" dirty="0">
                <a:solidFill>
                  <a:schemeClr val="tx2"/>
                </a:solidFill>
              </a:rPr>
              <a:t>Quels allègements fiscaux ?</a:t>
            </a:r>
          </a:p>
          <a:p>
            <a:pPr marL="171450" indent="-171450">
              <a:buFont typeface="Marianne" panose="02000000000000000000" pitchFamily="50" charset="0"/>
              <a:buChar char="↘"/>
            </a:pPr>
            <a:r>
              <a:rPr lang="fr-FR" sz="1000" dirty="0">
                <a:solidFill>
                  <a:schemeClr val="tx2"/>
                </a:solidFill>
              </a:rPr>
              <a:t>Quelles clauses anti-abus ?</a:t>
            </a:r>
          </a:p>
          <a:p>
            <a:pPr marL="171450" indent="-171450">
              <a:buFont typeface="Marianne" panose="02000000000000000000" pitchFamily="50" charset="0"/>
              <a:buChar char="↘"/>
            </a:pPr>
            <a:endParaRPr lang="fr-FR" sz="1000" dirty="0">
              <a:solidFill>
                <a:schemeClr val="tx2"/>
              </a:solidFill>
            </a:endParaRPr>
          </a:p>
        </p:txBody>
      </p:sp>
      <p:sp>
        <p:nvSpPr>
          <p:cNvPr id="26" name="Titre 4"/>
          <p:cNvSpPr txBox="1">
            <a:spLocks/>
          </p:cNvSpPr>
          <p:nvPr/>
        </p:nvSpPr>
        <p:spPr bwMode="gray">
          <a:xfrm>
            <a:off x="5417479" y="2167034"/>
            <a:ext cx="458431" cy="50323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2</a:t>
            </a:r>
            <a:endParaRPr lang="fr-FR" sz="5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Titre 4"/>
          <p:cNvSpPr txBox="1">
            <a:spLocks/>
          </p:cNvSpPr>
          <p:nvPr/>
        </p:nvSpPr>
        <p:spPr bwMode="gray">
          <a:xfrm>
            <a:off x="2395829" y="2178786"/>
            <a:ext cx="458431" cy="47271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 smtClean="0">
                <a:solidFill>
                  <a:srgbClr val="C6C6EA"/>
                </a:solidFill>
              </a:rPr>
              <a:t>1</a:t>
            </a:r>
            <a:endParaRPr lang="fr-FR" sz="5400" dirty="0">
              <a:solidFill>
                <a:srgbClr val="C6C6EA"/>
              </a:solidFill>
            </a:endParaRPr>
          </a:p>
        </p:txBody>
      </p:sp>
      <p:cxnSp>
        <p:nvCxnSpPr>
          <p:cNvPr id="28" name="Connecteur droit 27"/>
          <p:cNvCxnSpPr/>
          <p:nvPr/>
        </p:nvCxnSpPr>
        <p:spPr>
          <a:xfrm flipV="1">
            <a:off x="415583" y="2500943"/>
            <a:ext cx="2285064" cy="19087"/>
          </a:xfrm>
          <a:prstGeom prst="line">
            <a:avLst/>
          </a:prstGeom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V="1">
            <a:off x="440770" y="4154653"/>
            <a:ext cx="2290784" cy="571"/>
          </a:xfrm>
          <a:prstGeom prst="line">
            <a:avLst/>
          </a:prstGeom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re 4"/>
          <p:cNvSpPr txBox="1">
            <a:spLocks/>
          </p:cNvSpPr>
          <p:nvPr/>
        </p:nvSpPr>
        <p:spPr bwMode="gray">
          <a:xfrm>
            <a:off x="8522690" y="2168698"/>
            <a:ext cx="458431" cy="50323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3</a:t>
            </a:r>
            <a:endParaRPr lang="fr-FR" sz="5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2" name="Connecteur droit 31"/>
          <p:cNvCxnSpPr/>
          <p:nvPr/>
        </p:nvCxnSpPr>
        <p:spPr>
          <a:xfrm>
            <a:off x="3223680" y="2506136"/>
            <a:ext cx="2603417" cy="21739"/>
          </a:xfrm>
          <a:prstGeom prst="line">
            <a:avLst/>
          </a:prstGeom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re 4"/>
          <p:cNvSpPr txBox="1">
            <a:spLocks/>
          </p:cNvSpPr>
          <p:nvPr/>
        </p:nvSpPr>
        <p:spPr bwMode="gray">
          <a:xfrm>
            <a:off x="2294816" y="3804250"/>
            <a:ext cx="663343" cy="50323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4</a:t>
            </a:r>
            <a:endParaRPr lang="fr-FR" sz="5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5" name="Connecteur droit 34"/>
          <p:cNvCxnSpPr/>
          <p:nvPr/>
        </p:nvCxnSpPr>
        <p:spPr>
          <a:xfrm>
            <a:off x="3215098" y="4149243"/>
            <a:ext cx="2734453" cy="5410"/>
          </a:xfrm>
          <a:prstGeom prst="line">
            <a:avLst/>
          </a:prstGeom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>
            <a:off x="6172712" y="2539943"/>
            <a:ext cx="2740959" cy="6951"/>
          </a:xfrm>
          <a:prstGeom prst="line">
            <a:avLst/>
          </a:prstGeom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52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53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3</a:t>
            </a:fld>
            <a:endParaRPr lang="fr-FR" dirty="0"/>
          </a:p>
        </p:txBody>
      </p:sp>
      <p:cxnSp>
        <p:nvCxnSpPr>
          <p:cNvPr id="54" name="Connecteur droit 53"/>
          <p:cNvCxnSpPr/>
          <p:nvPr/>
        </p:nvCxnSpPr>
        <p:spPr bwMode="gray">
          <a:xfrm>
            <a:off x="319602" y="4783500"/>
            <a:ext cx="8464398" cy="90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space réservé du texte 6"/>
          <p:cNvSpPr>
            <a:spLocks noGrp="1"/>
          </p:cNvSpPr>
          <p:nvPr>
            <p:ph type="body" sz="quarter" idx="13"/>
          </p:nvPr>
        </p:nvSpPr>
        <p:spPr>
          <a:xfrm>
            <a:off x="425341" y="3312345"/>
            <a:ext cx="2520000" cy="1422046"/>
          </a:xfrm>
        </p:spPr>
        <p:txBody>
          <a:bodyPr anchor="t"/>
          <a:lstStyle/>
          <a:p>
            <a:r>
              <a:rPr lang="fr-FR" sz="1400" i="1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  <a:t>Entrepreneuriat </a:t>
            </a:r>
            <a:r>
              <a:rPr lang="fr-FR" sz="1400" i="1" cap="none" dirty="0">
                <a:solidFill>
                  <a:schemeClr val="tx2"/>
                </a:solidFill>
                <a:latin typeface="Spectral" panose="02020502060000000000" pitchFamily="18" charset="0"/>
              </a:rPr>
              <a:t>Quartiers </a:t>
            </a:r>
            <a:r>
              <a:rPr lang="fr-FR" sz="1400" i="1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  <a:t>2030 :</a:t>
            </a:r>
            <a:r>
              <a:rPr lang="fr-FR" sz="1400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  <a:t>  faire </a:t>
            </a:r>
            <a:r>
              <a:rPr lang="fr-FR" sz="1400" cap="none" dirty="0">
                <a:solidFill>
                  <a:schemeClr val="tx2"/>
                </a:solidFill>
                <a:latin typeface="Spectral" panose="02020502060000000000" pitchFamily="18" charset="0"/>
              </a:rPr>
              <a:t>des </a:t>
            </a:r>
            <a:r>
              <a:rPr lang="fr-FR" sz="1400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  <a:t>quartiers</a:t>
            </a:r>
            <a:br>
              <a:rPr lang="fr-FR" sz="1400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1400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  <a:t>urbains des </a:t>
            </a:r>
            <a:r>
              <a:rPr lang="fr-FR" sz="1400" cap="none" dirty="0">
                <a:solidFill>
                  <a:schemeClr val="tx2"/>
                </a:solidFill>
                <a:latin typeface="Spectral" panose="02020502060000000000" pitchFamily="18" charset="0"/>
              </a:rPr>
              <a:t>territoires d’opportunités !</a:t>
            </a:r>
          </a:p>
          <a:p>
            <a:endParaRPr lang="fr-FR" sz="1400" cap="none" dirty="0">
              <a:solidFill>
                <a:schemeClr val="tx2"/>
              </a:solidFill>
              <a:latin typeface="Spectral" panose="02020502060000000000" pitchFamily="18" charset="0"/>
            </a:endParaRPr>
          </a:p>
          <a:p>
            <a:pPr marL="171450" indent="-171450">
              <a:buFont typeface="Marianne" panose="02000000000000000000" pitchFamily="50" charset="0"/>
              <a:buChar char="↘"/>
            </a:pPr>
            <a:r>
              <a:rPr lang="fr-FR" sz="1000" b="0" cap="none" dirty="0" smtClean="0">
                <a:solidFill>
                  <a:schemeClr val="tx2"/>
                </a:solidFill>
              </a:rPr>
              <a:t>Objectif : accompagner </a:t>
            </a:r>
            <a:r>
              <a:rPr lang="fr-FR" sz="1000" b="0" cap="none" dirty="0">
                <a:solidFill>
                  <a:schemeClr val="tx2"/>
                </a:solidFill>
              </a:rPr>
              <a:t>100 000 entrepreneurs d’ici 2027</a:t>
            </a:r>
          </a:p>
        </p:txBody>
      </p:sp>
    </p:spTree>
    <p:extLst>
      <p:ext uri="{BB962C8B-B14F-4D97-AF65-F5344CB8AC3E}">
        <p14:creationId xmlns:p14="http://schemas.microsoft.com/office/powerpoint/2010/main" val="323493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title"/>
          </p:nvPr>
        </p:nvSpPr>
        <p:spPr>
          <a:xfrm>
            <a:off x="359999" y="1695450"/>
            <a:ext cx="8424000" cy="3088950"/>
          </a:xfrm>
        </p:spPr>
        <p:txBody>
          <a:bodyPr/>
          <a:lstStyle/>
          <a:p>
            <a:r>
              <a:rPr lang="fr-FR" dirty="0" smtClean="0"/>
              <a:t>Introduction</a:t>
            </a:r>
            <a:br>
              <a:rPr lang="fr-FR" dirty="0" smtClean="0"/>
            </a:br>
            <a:r>
              <a:rPr lang="fr-FR" sz="2800" i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Spectral" panose="02020502060000000000" pitchFamily="18" charset="0"/>
              </a:rPr>
              <a:t>L’État </a:t>
            </a:r>
            <a:r>
              <a:rPr lang="fr-FR" sz="28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Spectral" panose="02020502060000000000" pitchFamily="18" charset="0"/>
              </a:rPr>
              <a:t>met tout mettre en œuvre</a:t>
            </a:r>
            <a:br>
              <a:rPr lang="fr-FR" sz="28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Spectral" panose="02020502060000000000" pitchFamily="18" charset="0"/>
              </a:rPr>
            </a:br>
            <a:r>
              <a:rPr lang="fr-FR" sz="28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Spectral" panose="02020502060000000000" pitchFamily="18" charset="0"/>
              </a:rPr>
              <a:t>pour développer la vie économique des quartiers </a:t>
            </a:r>
            <a:br>
              <a:rPr lang="fr-FR" sz="28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Spectral" panose="02020502060000000000" pitchFamily="18" charset="0"/>
              </a:rPr>
            </a:br>
            <a:r>
              <a:rPr lang="fr-FR" sz="28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Spectral" panose="02020502060000000000" pitchFamily="18" charset="0"/>
              </a:rPr>
              <a:t>et améliorer le quotidien des habitants </a:t>
            </a:r>
            <a:endParaRPr lang="fr-FR" i="1" dirty="0">
              <a:solidFill>
                <a:schemeClr val="tx2">
                  <a:lumMod val="20000"/>
                  <a:lumOff val="80000"/>
                </a:schemeClr>
              </a:solidFill>
              <a:latin typeface="Spectral" panose="02020502060000000000" pitchFamily="18" charset="0"/>
            </a:endParaRPr>
          </a:p>
        </p:txBody>
      </p:sp>
      <p:sp>
        <p:nvSpPr>
          <p:cNvPr id="4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>
                <a:solidFill>
                  <a:schemeClr val="bg1"/>
                </a:solidFill>
              </a:rPr>
              <a:pPr algn="r"/>
              <a:t>16/04/2026</a:t>
            </a:fld>
            <a:endParaRPr lang="fr-FR" cap="all" dirty="0">
              <a:solidFill>
                <a:schemeClr val="bg1"/>
              </a:solidFill>
            </a:endParaRPr>
          </a:p>
        </p:txBody>
      </p:sp>
      <p:sp>
        <p:nvSpPr>
          <p:cNvPr id="6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>
                <a:solidFill>
                  <a:schemeClr val="bg1"/>
                </a:solidFill>
              </a:rPr>
              <a:pPr/>
              <a:t>4</a:t>
            </a:fld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30027" y="2610206"/>
            <a:ext cx="1128162" cy="68061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quarter" idx="14"/>
          </p:nvPr>
        </p:nvSpPr>
        <p:spPr>
          <a:xfrm>
            <a:off x="3777761" y="1640508"/>
            <a:ext cx="4972478" cy="1376513"/>
          </a:xfrm>
        </p:spPr>
        <p:txBody>
          <a:bodyPr lIns="72000" tIns="72000" rIns="72000" bIns="72000" anchor="t">
            <a:spAutoFit/>
          </a:bodyPr>
          <a:lstStyle/>
          <a:p>
            <a:pPr>
              <a:spcAft>
                <a:spcPts val="1800"/>
              </a:spcAft>
            </a:pPr>
            <a:r>
              <a:rPr lang="fr-FR" sz="1600" dirty="0" smtClean="0">
                <a:solidFill>
                  <a:schemeClr val="tx2"/>
                </a:solidFill>
              </a:rPr>
              <a:t>Conformément </a:t>
            </a:r>
            <a:r>
              <a:rPr lang="fr-FR" sz="1600" dirty="0">
                <a:solidFill>
                  <a:schemeClr val="tx2"/>
                </a:solidFill>
              </a:rPr>
              <a:t>aux </a:t>
            </a:r>
            <a:r>
              <a:rPr lang="fr-FR" sz="1600" b="1" dirty="0">
                <a:solidFill>
                  <a:schemeClr val="tx2"/>
                </a:solidFill>
              </a:rPr>
              <a:t>orientations du comité interministériel des villes </a:t>
            </a:r>
            <a:r>
              <a:rPr lang="fr-FR" sz="1600" dirty="0" smtClean="0">
                <a:solidFill>
                  <a:schemeClr val="tx2"/>
                </a:solidFill>
              </a:rPr>
              <a:t>(CIV) du 6 </a:t>
            </a:r>
            <a:r>
              <a:rPr lang="fr-FR" sz="1600" dirty="0">
                <a:solidFill>
                  <a:schemeClr val="tx2"/>
                </a:solidFill>
              </a:rPr>
              <a:t>juin </a:t>
            </a:r>
            <a:r>
              <a:rPr lang="fr-FR" sz="1600" dirty="0" smtClean="0">
                <a:solidFill>
                  <a:schemeClr val="tx2"/>
                </a:solidFill>
              </a:rPr>
              <a:t>2025, l’État se mobilise pour le </a:t>
            </a:r>
            <a:r>
              <a:rPr lang="fr-FR" sz="1600" b="1" dirty="0" smtClean="0">
                <a:solidFill>
                  <a:schemeClr val="tx2"/>
                </a:solidFill>
              </a:rPr>
              <a:t>développement économique </a:t>
            </a:r>
            <a:r>
              <a:rPr lang="fr-FR" sz="1600" dirty="0" smtClean="0">
                <a:solidFill>
                  <a:schemeClr val="tx2"/>
                </a:solidFill>
              </a:rPr>
              <a:t>et l’</a:t>
            </a:r>
            <a:r>
              <a:rPr lang="fr-FR" sz="1600" b="1" dirty="0" smtClean="0">
                <a:solidFill>
                  <a:schemeClr val="tx2"/>
                </a:solidFill>
              </a:rPr>
              <a:t>amélioration de la vie quotidienne des habitants </a:t>
            </a:r>
            <a:r>
              <a:rPr lang="fr-FR" sz="1600" dirty="0" smtClean="0">
                <a:solidFill>
                  <a:schemeClr val="tx2"/>
                </a:solidFill>
              </a:rPr>
              <a:t>des quartiers urbains.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19602" y="1640508"/>
            <a:ext cx="3068957" cy="2041956"/>
          </a:xfrm>
        </p:spPr>
        <p:txBody>
          <a:bodyPr lIns="0" tIns="72000" anchor="t">
            <a:noAutofit/>
          </a:bodyPr>
          <a:lstStyle/>
          <a:p>
            <a:r>
              <a:rPr lang="fr-FR" sz="2400" dirty="0" smtClean="0">
                <a:solidFill>
                  <a:schemeClr val="tx2"/>
                </a:solidFill>
              </a:rPr>
              <a:t>Le Gouvernement</a:t>
            </a:r>
            <a:br>
              <a:rPr lang="fr-FR" sz="2400" dirty="0" smtClean="0">
                <a:solidFill>
                  <a:schemeClr val="tx2"/>
                </a:solidFill>
              </a:rPr>
            </a:br>
            <a:r>
              <a:rPr lang="fr-FR" sz="2400" dirty="0" smtClean="0">
                <a:solidFill>
                  <a:schemeClr val="tx2"/>
                </a:solidFill>
              </a:rPr>
              <a:t>se mobilise pour la réussite économique pour toutes et tous</a:t>
            </a:r>
            <a:br>
              <a:rPr lang="fr-FR" sz="2400" dirty="0" smtClean="0">
                <a:solidFill>
                  <a:schemeClr val="tx2"/>
                </a:solidFill>
              </a:rPr>
            </a:br>
            <a:r>
              <a:rPr lang="fr-FR" sz="2400" dirty="0" smtClean="0">
                <a:solidFill>
                  <a:schemeClr val="tx2"/>
                </a:solidFill>
              </a:rPr>
              <a:t>dans les quartiers : investir, attirer, accompagner</a:t>
            </a:r>
            <a:endParaRPr lang="fr-FR" sz="2400" dirty="0">
              <a:solidFill>
                <a:schemeClr val="tx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0027" y="2938118"/>
            <a:ext cx="2813223" cy="68061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330026" y="3247980"/>
            <a:ext cx="2591767" cy="68061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3811522" y="3108445"/>
            <a:ext cx="4972477" cy="1355555"/>
          </a:xfrm>
          <a:prstGeom prst="roundRect">
            <a:avLst>
              <a:gd name="adj" fmla="val 5457"/>
            </a:avLst>
          </a:prstGeom>
          <a:solidFill>
            <a:schemeClr val="tx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72000" rtlCol="0" anchor="t"/>
          <a:lstStyle/>
          <a:p>
            <a:r>
              <a:rPr lang="fr-FR" sz="1600" dirty="0" smtClean="0">
                <a:solidFill>
                  <a:schemeClr val="tx2"/>
                </a:solidFill>
              </a:rPr>
              <a:t>Dans </a:t>
            </a:r>
            <a:r>
              <a:rPr lang="fr-FR" sz="1600" dirty="0">
                <a:solidFill>
                  <a:schemeClr val="tx2"/>
                </a:solidFill>
              </a:rPr>
              <a:t>le cadre de la loi de finances pour 2026,</a:t>
            </a:r>
            <a:br>
              <a:rPr lang="fr-FR" sz="1600" dirty="0">
                <a:solidFill>
                  <a:schemeClr val="tx2"/>
                </a:solidFill>
              </a:rPr>
            </a:br>
            <a:r>
              <a:rPr lang="fr-FR" sz="1600" dirty="0">
                <a:solidFill>
                  <a:schemeClr val="tx2"/>
                </a:solidFill>
              </a:rPr>
              <a:t>une </a:t>
            </a:r>
            <a:r>
              <a:rPr lang="fr-FR" sz="1600" b="1" dirty="0">
                <a:solidFill>
                  <a:schemeClr val="tx2"/>
                </a:solidFill>
              </a:rPr>
              <a:t>réforme de la fiscalité </a:t>
            </a:r>
            <a:r>
              <a:rPr lang="fr-FR" sz="1600" b="1" dirty="0" smtClean="0">
                <a:solidFill>
                  <a:schemeClr val="tx2"/>
                </a:solidFill>
              </a:rPr>
              <a:t>applicable</a:t>
            </a:r>
            <a:br>
              <a:rPr lang="fr-FR" sz="1600" b="1" dirty="0" smtClean="0">
                <a:solidFill>
                  <a:schemeClr val="tx2"/>
                </a:solidFill>
              </a:rPr>
            </a:br>
            <a:r>
              <a:rPr lang="fr-FR" sz="1600" b="1" dirty="0" smtClean="0">
                <a:solidFill>
                  <a:schemeClr val="tx2"/>
                </a:solidFill>
              </a:rPr>
              <a:t>aux activités </a:t>
            </a:r>
            <a:r>
              <a:rPr lang="fr-FR" sz="1600" b="1" dirty="0">
                <a:solidFill>
                  <a:schemeClr val="tx2"/>
                </a:solidFill>
              </a:rPr>
              <a:t>implantées en QPV</a:t>
            </a:r>
            <a:r>
              <a:rPr lang="fr-FR" sz="1600" dirty="0">
                <a:solidFill>
                  <a:schemeClr val="tx2"/>
                </a:solidFill>
              </a:rPr>
              <a:t> a été adoptée</a:t>
            </a:r>
            <a:r>
              <a:rPr lang="fr-FR" sz="1600" dirty="0" smtClean="0">
                <a:solidFill>
                  <a:schemeClr val="tx2"/>
                </a:solidFill>
              </a:rPr>
              <a:t>.</a:t>
            </a:r>
            <a:endParaRPr lang="fr-FR" sz="1600" dirty="0">
              <a:solidFill>
                <a:schemeClr val="tx2"/>
              </a:solidFill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3906908" y="4094483"/>
            <a:ext cx="2968541" cy="227647"/>
          </a:xfrm>
          <a:prstGeom prst="roundRect">
            <a:avLst>
              <a:gd name="adj" fmla="val 30025"/>
            </a:avLst>
          </a:prstGeom>
          <a:solidFill>
            <a:schemeClr val="bg1"/>
          </a:solidFill>
          <a:ln w="6350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ARTICLE 42 DE LA LOI DE FINANCES POUR 2026</a:t>
            </a:r>
            <a:endParaRPr lang="fr-FR" sz="900" b="1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3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4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5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139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à coins arrondis 28"/>
          <p:cNvSpPr/>
          <p:nvPr/>
        </p:nvSpPr>
        <p:spPr>
          <a:xfrm>
            <a:off x="319602" y="2248331"/>
            <a:ext cx="8464398" cy="2338069"/>
          </a:xfrm>
          <a:prstGeom prst="roundRect">
            <a:avLst>
              <a:gd name="adj" fmla="val 6644"/>
            </a:avLst>
          </a:prstGeom>
          <a:solidFill>
            <a:srgbClr val="000091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319602" y="1178685"/>
            <a:ext cx="8464398" cy="914096"/>
          </a:xfrm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fr-FR" sz="2200" b="0" dirty="0" smtClean="0">
                <a:solidFill>
                  <a:schemeClr val="tx2"/>
                </a:solidFill>
                <a:latin typeface="+mn-lt"/>
              </a:rPr>
              <a:t>L’État met tout en œuvre</a:t>
            </a:r>
            <a:r>
              <a:rPr lang="fr-FR" sz="2200" b="0" dirty="0">
                <a:solidFill>
                  <a:schemeClr val="tx2"/>
                </a:solidFill>
                <a:latin typeface="+mn-lt"/>
              </a:rPr>
              <a:t/>
            </a:r>
            <a:br>
              <a:rPr lang="fr-FR" sz="2200" b="0" dirty="0">
                <a:solidFill>
                  <a:schemeClr val="tx2"/>
                </a:solidFill>
                <a:latin typeface="+mn-lt"/>
              </a:rPr>
            </a:br>
            <a:r>
              <a:rPr lang="fr-FR" sz="2200" b="0" dirty="0" smtClean="0">
                <a:solidFill>
                  <a:schemeClr val="tx2"/>
                </a:solidFill>
                <a:latin typeface="+mn-lt"/>
              </a:rPr>
              <a:t>pour</a:t>
            </a:r>
            <a:r>
              <a:rPr lang="fr-FR" sz="2200" dirty="0" smtClean="0">
                <a:solidFill>
                  <a:schemeClr val="tx2"/>
                </a:solidFill>
                <a:latin typeface="+mn-lt"/>
              </a:rPr>
              <a:t> développer la vie économique des quartiers </a:t>
            </a:r>
            <a:br>
              <a:rPr lang="fr-FR" sz="2200" dirty="0" smtClean="0">
                <a:solidFill>
                  <a:schemeClr val="tx2"/>
                </a:solidFill>
                <a:latin typeface="+mn-lt"/>
              </a:rPr>
            </a:br>
            <a:r>
              <a:rPr lang="fr-FR" sz="2200" b="0" dirty="0" smtClean="0">
                <a:solidFill>
                  <a:schemeClr val="tx2"/>
                </a:solidFill>
                <a:latin typeface="+mn-lt"/>
              </a:rPr>
              <a:t>et</a:t>
            </a:r>
            <a:r>
              <a:rPr lang="fr-FR" sz="2200" dirty="0" smtClean="0">
                <a:solidFill>
                  <a:schemeClr val="tx2"/>
                </a:solidFill>
                <a:latin typeface="+mn-lt"/>
              </a:rPr>
              <a:t> améliorer le quotidien des habitants </a:t>
            </a:r>
            <a:endParaRPr lang="fr-FR" sz="2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" name="Espace réservé du texte 5"/>
          <p:cNvSpPr txBox="1">
            <a:spLocks/>
          </p:cNvSpPr>
          <p:nvPr/>
        </p:nvSpPr>
        <p:spPr bwMode="gray">
          <a:xfrm>
            <a:off x="473324" y="2576367"/>
            <a:ext cx="2592000" cy="2010033"/>
          </a:xfrm>
          <a:prstGeom prst="rect">
            <a:avLst/>
          </a:prstGeom>
          <a:noFill/>
          <a:ln w="25400" cap="rnd">
            <a:noFill/>
          </a:ln>
        </p:spPr>
        <p:txBody>
          <a:bodyPr vert="horz" wrap="square" lIns="108000" tIns="108000" rIns="108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fr-FR" sz="14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Soutenir l’activité économique</a:t>
            </a:r>
          </a:p>
          <a:p>
            <a:pPr>
              <a:spcAft>
                <a:spcPts val="0"/>
              </a:spcAft>
            </a:pPr>
            <a:r>
              <a:rPr lang="fr-FR" sz="1100" dirty="0">
                <a:solidFill>
                  <a:srgbClr val="000091"/>
                </a:solidFill>
              </a:rPr>
              <a:t>Conformément aux </a:t>
            </a:r>
            <a:r>
              <a:rPr lang="fr-FR" sz="1100" dirty="0" smtClean="0">
                <a:solidFill>
                  <a:srgbClr val="000091"/>
                </a:solidFill>
              </a:rPr>
              <a:t>orientations du </a:t>
            </a:r>
            <a:r>
              <a:rPr lang="fr-FR" sz="1100" dirty="0">
                <a:solidFill>
                  <a:srgbClr val="000091"/>
                </a:solidFill>
              </a:rPr>
              <a:t>comité interministériel des villes qui s’est tenu le 6 juin </a:t>
            </a:r>
            <a:r>
              <a:rPr lang="fr-FR" sz="1100" dirty="0" smtClean="0">
                <a:solidFill>
                  <a:srgbClr val="000091"/>
                </a:solidFill>
              </a:rPr>
              <a:t>2025, </a:t>
            </a:r>
            <a:r>
              <a:rPr lang="fr-FR" sz="1100" b="1" dirty="0" smtClean="0">
                <a:solidFill>
                  <a:srgbClr val="000091"/>
                </a:solidFill>
              </a:rPr>
              <a:t>le </a:t>
            </a:r>
            <a:r>
              <a:rPr lang="fr-FR" sz="1100" b="1" dirty="0">
                <a:solidFill>
                  <a:srgbClr val="000091"/>
                </a:solidFill>
              </a:rPr>
              <a:t>Gouvernement prolonge, renforce et simplifie les aides fiscales aux entreprises implantées dans les QPV</a:t>
            </a:r>
            <a:r>
              <a:rPr lang="fr-FR" dirty="0" smtClean="0">
                <a:solidFill>
                  <a:srgbClr val="000091"/>
                </a:solidFill>
              </a:rPr>
              <a:t>.</a:t>
            </a:r>
            <a:endParaRPr lang="fr-FR" dirty="0">
              <a:solidFill>
                <a:srgbClr val="000091"/>
              </a:solidFill>
            </a:endParaRPr>
          </a:p>
        </p:txBody>
      </p:sp>
      <p:sp>
        <p:nvSpPr>
          <p:cNvPr id="43" name="Rectangle à coins arrondis 42"/>
          <p:cNvSpPr/>
          <p:nvPr/>
        </p:nvSpPr>
        <p:spPr>
          <a:xfrm>
            <a:off x="575102" y="2388667"/>
            <a:ext cx="861812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OBJECTIF 1</a:t>
            </a:r>
            <a:endParaRPr lang="fr-FR" sz="9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4" name="Rectangle à coins arrondis 43"/>
          <p:cNvSpPr/>
          <p:nvPr/>
        </p:nvSpPr>
        <p:spPr>
          <a:xfrm>
            <a:off x="3310992" y="2399604"/>
            <a:ext cx="862337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OBJECTIF 2</a:t>
            </a:r>
            <a:endParaRPr lang="fr-FR" sz="9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5" name="Rectangle à coins arrondis 44"/>
          <p:cNvSpPr/>
          <p:nvPr/>
        </p:nvSpPr>
        <p:spPr>
          <a:xfrm>
            <a:off x="6155519" y="2393621"/>
            <a:ext cx="862337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OBJECTIF 3</a:t>
            </a:r>
            <a:endParaRPr lang="fr-FR" sz="9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1" name="Espace réservé du texte 5"/>
          <p:cNvSpPr txBox="1">
            <a:spLocks/>
          </p:cNvSpPr>
          <p:nvPr/>
        </p:nvSpPr>
        <p:spPr bwMode="gray">
          <a:xfrm>
            <a:off x="3260410" y="2576366"/>
            <a:ext cx="2592000" cy="2010034"/>
          </a:xfrm>
          <a:prstGeom prst="rect">
            <a:avLst/>
          </a:prstGeom>
          <a:noFill/>
          <a:ln w="25400" cap="rnd">
            <a:noFill/>
          </a:ln>
        </p:spPr>
        <p:txBody>
          <a:bodyPr vert="horz" wrap="square" lIns="108000" tIns="108000" rIns="108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fr-FR" sz="14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Développer les services</a:t>
            </a:r>
            <a:br>
              <a:rPr lang="fr-FR" sz="14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</a:br>
            <a:r>
              <a:rPr lang="fr-FR" sz="14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de proximité et de santé </a:t>
            </a:r>
            <a:endParaRPr lang="fr-FR" sz="14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fr-FR" sz="1100" dirty="0" smtClean="0">
                <a:solidFill>
                  <a:srgbClr val="000091"/>
                </a:solidFill>
              </a:rPr>
              <a:t>Le </a:t>
            </a:r>
            <a:r>
              <a:rPr lang="fr-FR" sz="1100" dirty="0">
                <a:solidFill>
                  <a:srgbClr val="000091"/>
                </a:solidFill>
              </a:rPr>
              <a:t>Gouvernement a souhaité </a:t>
            </a:r>
            <a:r>
              <a:rPr lang="fr-FR" sz="1100" dirty="0" smtClean="0">
                <a:solidFill>
                  <a:srgbClr val="000091"/>
                </a:solidFill>
              </a:rPr>
              <a:t>concentrer </a:t>
            </a:r>
            <a:r>
              <a:rPr lang="fr-FR" sz="1100" dirty="0">
                <a:solidFill>
                  <a:srgbClr val="000091"/>
                </a:solidFill>
              </a:rPr>
              <a:t>les exonérations fiscales sur les </a:t>
            </a:r>
            <a:r>
              <a:rPr lang="fr-FR" sz="1100" dirty="0" smtClean="0">
                <a:solidFill>
                  <a:srgbClr val="000091"/>
                </a:solidFill>
              </a:rPr>
              <a:t>activités </a:t>
            </a:r>
            <a:r>
              <a:rPr lang="fr-FR" sz="1100" dirty="0">
                <a:solidFill>
                  <a:srgbClr val="000091"/>
                </a:solidFill>
              </a:rPr>
              <a:t>qui remplissent un </a:t>
            </a:r>
            <a:r>
              <a:rPr lang="fr-FR" sz="1100" b="1" dirty="0">
                <a:solidFill>
                  <a:srgbClr val="000091"/>
                </a:solidFill>
              </a:rPr>
              <a:t>rôle essentiel </a:t>
            </a:r>
            <a:r>
              <a:rPr lang="fr-FR" sz="1100" b="1" dirty="0" smtClean="0">
                <a:solidFill>
                  <a:srgbClr val="000091"/>
                </a:solidFill>
              </a:rPr>
              <a:t>sur </a:t>
            </a:r>
            <a:r>
              <a:rPr lang="fr-FR" sz="1100" b="1" dirty="0">
                <a:solidFill>
                  <a:srgbClr val="000091"/>
                </a:solidFill>
              </a:rPr>
              <a:t>la qualité de vie </a:t>
            </a:r>
            <a:r>
              <a:rPr lang="fr-FR" sz="1100" b="1" dirty="0" smtClean="0">
                <a:solidFill>
                  <a:srgbClr val="000091"/>
                </a:solidFill>
              </a:rPr>
              <a:t>des </a:t>
            </a:r>
            <a:r>
              <a:rPr lang="fr-FR" sz="1100" b="1" dirty="0">
                <a:solidFill>
                  <a:srgbClr val="000091"/>
                </a:solidFill>
              </a:rPr>
              <a:t>habitants </a:t>
            </a:r>
            <a:r>
              <a:rPr lang="fr-FR" sz="1100" dirty="0">
                <a:solidFill>
                  <a:srgbClr val="000091"/>
                </a:solidFill>
              </a:rPr>
              <a:t>et qui ont </a:t>
            </a:r>
            <a:r>
              <a:rPr lang="fr-FR" altLang="zh-CN" sz="1100" dirty="0">
                <a:solidFill>
                  <a:srgbClr val="000091"/>
                </a:solidFill>
              </a:rPr>
              <a:t>un </a:t>
            </a:r>
            <a:r>
              <a:rPr lang="fr-FR" altLang="zh-CN" sz="1100" b="1" dirty="0">
                <a:solidFill>
                  <a:srgbClr val="000091"/>
                </a:solidFill>
              </a:rPr>
              <a:t>effet </a:t>
            </a:r>
            <a:r>
              <a:rPr lang="fr-FR" altLang="zh-CN" sz="1100" b="1" dirty="0" smtClean="0">
                <a:solidFill>
                  <a:srgbClr val="000091"/>
                </a:solidFill>
              </a:rPr>
              <a:t>sur </a:t>
            </a:r>
            <a:r>
              <a:rPr lang="fr-FR" altLang="zh-CN" sz="1100" b="1" dirty="0">
                <a:solidFill>
                  <a:srgbClr val="000091"/>
                </a:solidFill>
              </a:rPr>
              <a:t>le développement des territoires</a:t>
            </a:r>
            <a:r>
              <a:rPr lang="fr-FR" altLang="zh-CN" sz="1100" dirty="0">
                <a:solidFill>
                  <a:srgbClr val="000091"/>
                </a:solidFill>
              </a:rPr>
              <a:t>.</a:t>
            </a:r>
            <a:endParaRPr lang="fr-FR" sz="1100" dirty="0">
              <a:solidFill>
                <a:srgbClr val="000091"/>
              </a:solidFill>
            </a:endParaRPr>
          </a:p>
        </p:txBody>
      </p:sp>
      <p:sp>
        <p:nvSpPr>
          <p:cNvPr id="52" name="Espace réservé du texte 5"/>
          <p:cNvSpPr txBox="1">
            <a:spLocks/>
          </p:cNvSpPr>
          <p:nvPr/>
        </p:nvSpPr>
        <p:spPr bwMode="gray">
          <a:xfrm>
            <a:off x="6047496" y="2581321"/>
            <a:ext cx="2592000" cy="2005079"/>
          </a:xfrm>
          <a:prstGeom prst="rect">
            <a:avLst/>
          </a:prstGeom>
          <a:noFill/>
          <a:ln w="25400" cap="rnd">
            <a:noFill/>
          </a:ln>
        </p:spPr>
        <p:txBody>
          <a:bodyPr vert="horz" wrap="square" lIns="108000" tIns="108000" rIns="108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00"/>
              </a:lnSpc>
              <a:spcAft>
                <a:spcPts val="600"/>
              </a:spcAft>
            </a:pPr>
            <a:r>
              <a:rPr lang="fr-FR" sz="14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Simplifier les démarches des acteurs économiques</a:t>
            </a:r>
          </a:p>
          <a:p>
            <a:r>
              <a:rPr lang="fr-FR" sz="1100" dirty="0">
                <a:solidFill>
                  <a:srgbClr val="000091"/>
                </a:solidFill>
              </a:rPr>
              <a:t>Les précédents zonages ZFU-TE et QPV souffraient d’un manque de lisibilité et d’une grande </a:t>
            </a:r>
            <a:r>
              <a:rPr lang="fr-FR" sz="1100" dirty="0" smtClean="0">
                <a:solidFill>
                  <a:srgbClr val="000091"/>
                </a:solidFill>
              </a:rPr>
              <a:t>complexité. Le </a:t>
            </a:r>
            <a:r>
              <a:rPr lang="fr-FR" sz="1100" dirty="0">
                <a:solidFill>
                  <a:srgbClr val="000091"/>
                </a:solidFill>
              </a:rPr>
              <a:t>Gouvernement fait le </a:t>
            </a:r>
            <a:r>
              <a:rPr lang="fr-FR" sz="1100" b="1" dirty="0">
                <a:solidFill>
                  <a:srgbClr val="000091"/>
                </a:solidFill>
              </a:rPr>
              <a:t>choix de la </a:t>
            </a:r>
            <a:r>
              <a:rPr lang="fr-FR" sz="1100" b="1" dirty="0" smtClean="0">
                <a:solidFill>
                  <a:srgbClr val="000091"/>
                </a:solidFill>
              </a:rPr>
              <a:t>simplification</a:t>
            </a:r>
            <a:r>
              <a:rPr lang="fr-FR" sz="1100" dirty="0" smtClean="0">
                <a:solidFill>
                  <a:srgbClr val="000091"/>
                </a:solidFill>
              </a:rPr>
              <a:t>, dans le zonage et dans les critères à satisfaire.</a:t>
            </a:r>
            <a:endParaRPr lang="fr-FR" sz="1100" dirty="0">
              <a:solidFill>
                <a:srgbClr val="000091"/>
              </a:solidFill>
            </a:endParaRPr>
          </a:p>
        </p:txBody>
      </p:sp>
      <p:sp>
        <p:nvSpPr>
          <p:cNvPr id="11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2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3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2</a:t>
            </a:r>
            <a:r>
              <a:rPr lang="fr-FR" dirty="0" smtClean="0"/>
              <a:t>. Le zonage unique QPV :</a:t>
            </a:r>
            <a:br>
              <a:rPr lang="fr-FR" dirty="0" smtClean="0"/>
            </a:br>
            <a:r>
              <a:rPr lang="fr-FR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plus simple, plus cohérent et plus lisible</a:t>
            </a:r>
            <a:endParaRPr lang="fr-FR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>
                <a:solidFill>
                  <a:schemeClr val="bg1"/>
                </a:solidFill>
              </a:rPr>
              <a:pPr algn="r"/>
              <a:t>16/04/2026</a:t>
            </a:fld>
            <a:endParaRPr lang="fr-FR" cap="all" dirty="0">
              <a:solidFill>
                <a:schemeClr val="bg1"/>
              </a:solidFill>
            </a:endParaRPr>
          </a:p>
        </p:txBody>
      </p:sp>
      <p:sp>
        <p:nvSpPr>
          <p:cNvPr id="6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>
                <a:solidFill>
                  <a:schemeClr val="bg1"/>
                </a:solidFill>
              </a:rPr>
              <a:pPr/>
              <a:t>7</a:t>
            </a:fld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69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2707480" y="1387127"/>
            <a:ext cx="2400301" cy="171406"/>
          </a:xfrm>
          <a:prstGeom prst="rect">
            <a:avLst/>
          </a:prstGeom>
          <a:solidFill>
            <a:srgbClr val="000091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319602" y="1813559"/>
            <a:ext cx="2581727" cy="855186"/>
          </a:xfrm>
          <a:prstGeom prst="roundRect">
            <a:avLst>
              <a:gd name="adj" fmla="val 11922"/>
            </a:avLst>
          </a:prstGeom>
          <a:solidFill>
            <a:srgbClr val="000091">
              <a:alpha val="10196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bIns="216000" rtlCol="0" anchor="ctr"/>
          <a:lstStyle/>
          <a:p>
            <a:pPr algn="ctr"/>
            <a:r>
              <a:rPr lang="fr-FR" sz="1000" b="1" dirty="0" smtClean="0">
                <a:solidFill>
                  <a:schemeClr val="tx2"/>
                </a:solidFill>
              </a:rPr>
              <a:t>Zone franche urbaine-territoire entrepreneur </a:t>
            </a:r>
            <a:r>
              <a:rPr lang="fr-FR" sz="1000" dirty="0" smtClean="0">
                <a:solidFill>
                  <a:schemeClr val="tx2"/>
                </a:solidFill>
              </a:rPr>
              <a:t>(ZFU-TE)</a:t>
            </a:r>
          </a:p>
          <a:p>
            <a:pPr algn="ctr"/>
            <a:r>
              <a:rPr lang="fr-FR" sz="1000" dirty="0" smtClean="0">
                <a:solidFill>
                  <a:schemeClr val="bg2"/>
                </a:solidFill>
              </a:rPr>
              <a:t>↓</a:t>
            </a:r>
          </a:p>
          <a:p>
            <a:pPr algn="ctr"/>
            <a:r>
              <a:rPr lang="fr-FR" sz="1000" dirty="0" smtClean="0">
                <a:solidFill>
                  <a:schemeClr val="bg2"/>
                </a:solidFill>
              </a:rPr>
              <a:t>Exonération d’</a:t>
            </a:r>
            <a:r>
              <a:rPr lang="fr-FR" sz="1000" b="1" dirty="0" smtClean="0">
                <a:solidFill>
                  <a:schemeClr val="bg2"/>
                </a:solidFill>
              </a:rPr>
              <a:t>impôt</a:t>
            </a:r>
            <a:br>
              <a:rPr lang="fr-FR" sz="1000" b="1" dirty="0" smtClean="0">
                <a:solidFill>
                  <a:schemeClr val="bg2"/>
                </a:solidFill>
              </a:rPr>
            </a:br>
            <a:r>
              <a:rPr lang="fr-FR" sz="1000" b="1" dirty="0" smtClean="0">
                <a:solidFill>
                  <a:schemeClr val="bg2"/>
                </a:solidFill>
              </a:rPr>
              <a:t>sur </a:t>
            </a:r>
            <a:r>
              <a:rPr lang="fr-FR" sz="1000" b="1" dirty="0">
                <a:solidFill>
                  <a:schemeClr val="bg2"/>
                </a:solidFill>
              </a:rPr>
              <a:t>les bénéfices </a:t>
            </a:r>
            <a:r>
              <a:rPr lang="fr-FR" sz="1000" dirty="0">
                <a:solidFill>
                  <a:schemeClr val="bg2"/>
                </a:solidFill>
              </a:rPr>
              <a:t>(IR ou IS</a:t>
            </a:r>
            <a:r>
              <a:rPr lang="fr-FR" sz="1000" dirty="0" smtClean="0">
                <a:solidFill>
                  <a:schemeClr val="bg2"/>
                </a:solidFill>
              </a:rPr>
              <a:t>)</a:t>
            </a:r>
            <a:endParaRPr lang="fr-FR" sz="1000" dirty="0">
              <a:solidFill>
                <a:schemeClr val="bg2"/>
              </a:solidFill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319601" y="1341951"/>
            <a:ext cx="8464399" cy="255002"/>
          </a:xfrm>
          <a:prstGeom prst="roundRect">
            <a:avLst>
              <a:gd name="adj" fmla="val 30025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rgbClr val="000091"/>
                </a:solidFill>
              </a:rPr>
              <a:t>Jusqu’au 31 décembre 2025, 2 zonages d’allègements fiscaux existaient au sein de la géographie prioritaire</a:t>
            </a:r>
            <a:endParaRPr lang="fr-FR" sz="1200" b="1" dirty="0">
              <a:solidFill>
                <a:srgbClr val="000091"/>
              </a:solidFill>
            </a:endParaRPr>
          </a:p>
        </p:txBody>
      </p:sp>
      <p:sp>
        <p:nvSpPr>
          <p:cNvPr id="26" name="Rectangle à coins arrondis 25"/>
          <p:cNvSpPr/>
          <p:nvPr/>
        </p:nvSpPr>
        <p:spPr>
          <a:xfrm>
            <a:off x="319602" y="3701947"/>
            <a:ext cx="2581727" cy="825366"/>
          </a:xfrm>
          <a:prstGeom prst="roundRect">
            <a:avLst>
              <a:gd name="adj" fmla="val 11922"/>
            </a:avLst>
          </a:prstGeom>
          <a:solidFill>
            <a:srgbClr val="000091">
              <a:alpha val="10196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bIns="216000" rtlCol="0" anchor="ctr"/>
          <a:lstStyle/>
          <a:p>
            <a:pPr algn="ctr"/>
            <a:r>
              <a:rPr lang="fr-FR" sz="1000" b="1" dirty="0" smtClean="0">
                <a:solidFill>
                  <a:schemeClr val="tx2"/>
                </a:solidFill>
              </a:rPr>
              <a:t>Quartiers prioritaires</a:t>
            </a:r>
            <a:br>
              <a:rPr lang="fr-FR" sz="1000" b="1" dirty="0" smtClean="0">
                <a:solidFill>
                  <a:schemeClr val="tx2"/>
                </a:solidFill>
              </a:rPr>
            </a:br>
            <a:r>
              <a:rPr lang="fr-FR" sz="1000" b="1" dirty="0" smtClean="0">
                <a:solidFill>
                  <a:schemeClr val="tx2"/>
                </a:solidFill>
              </a:rPr>
              <a:t>de la politique de la ville (QPV)</a:t>
            </a:r>
          </a:p>
          <a:p>
            <a:pPr algn="ctr"/>
            <a:r>
              <a:rPr lang="fr-FR" sz="1000" dirty="0">
                <a:solidFill>
                  <a:schemeClr val="bg2"/>
                </a:solidFill>
              </a:rPr>
              <a:t>↓</a:t>
            </a:r>
          </a:p>
          <a:p>
            <a:pPr algn="ctr"/>
            <a:r>
              <a:rPr lang="fr-FR" sz="1000" dirty="0" smtClean="0">
                <a:solidFill>
                  <a:schemeClr val="bg2"/>
                </a:solidFill>
              </a:rPr>
              <a:t>Exonérations d’</a:t>
            </a:r>
            <a:r>
              <a:rPr lang="fr-FR" sz="1000" b="1" dirty="0" smtClean="0">
                <a:solidFill>
                  <a:schemeClr val="bg2"/>
                </a:solidFill>
              </a:rPr>
              <a:t>impôts </a:t>
            </a:r>
            <a:r>
              <a:rPr lang="fr-FR" sz="1000" b="1" dirty="0">
                <a:solidFill>
                  <a:schemeClr val="bg2"/>
                </a:solidFill>
              </a:rPr>
              <a:t>locaux</a:t>
            </a:r>
          </a:p>
          <a:p>
            <a:pPr algn="ctr"/>
            <a:r>
              <a:rPr lang="fr-FR" sz="1000" dirty="0">
                <a:solidFill>
                  <a:schemeClr val="bg2"/>
                </a:solidFill>
              </a:rPr>
              <a:t>(TFPB et CFE) </a:t>
            </a:r>
          </a:p>
        </p:txBody>
      </p:sp>
      <p:cxnSp>
        <p:nvCxnSpPr>
          <p:cNvPr id="6" name="Connecteur droit 5"/>
          <p:cNvCxnSpPr>
            <a:stCxn id="12" idx="3"/>
            <a:endCxn id="28" idx="1"/>
          </p:cNvCxnSpPr>
          <p:nvPr/>
        </p:nvCxnSpPr>
        <p:spPr>
          <a:xfrm>
            <a:off x="2901329" y="2241152"/>
            <a:ext cx="180906" cy="1"/>
          </a:xfrm>
          <a:prstGeom prst="line">
            <a:avLst/>
          </a:prstGeom>
          <a:ln w="571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>
            <a:stCxn id="12" idx="2"/>
            <a:endCxn id="26" idx="0"/>
          </p:cNvCxnSpPr>
          <p:nvPr/>
        </p:nvCxnSpPr>
        <p:spPr>
          <a:xfrm>
            <a:off x="1610466" y="2668745"/>
            <a:ext cx="0" cy="1033202"/>
          </a:xfrm>
          <a:prstGeom prst="line">
            <a:avLst/>
          </a:prstGeom>
          <a:ln w="127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à coins arrondis 27"/>
          <p:cNvSpPr/>
          <p:nvPr/>
        </p:nvSpPr>
        <p:spPr>
          <a:xfrm>
            <a:off x="3082235" y="1701686"/>
            <a:ext cx="3145327" cy="1078933"/>
          </a:xfrm>
          <a:prstGeom prst="roundRect">
            <a:avLst>
              <a:gd name="adj" fmla="val 7892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marL="171450" indent="-171450">
              <a:buFont typeface="Marianne" panose="02000000000000000000" pitchFamily="50" charset="0"/>
              <a:buChar char="→"/>
            </a:pPr>
            <a:r>
              <a:rPr lang="fr-FR" sz="800" dirty="0">
                <a:solidFill>
                  <a:schemeClr val="tx1"/>
                </a:solidFill>
              </a:rPr>
              <a:t>E</a:t>
            </a:r>
            <a:r>
              <a:rPr lang="fr-FR" sz="800" dirty="0" smtClean="0">
                <a:solidFill>
                  <a:schemeClr val="tx1"/>
                </a:solidFill>
              </a:rPr>
              <a:t>ntre </a:t>
            </a:r>
            <a:r>
              <a:rPr lang="fr-FR" sz="800" dirty="0">
                <a:solidFill>
                  <a:schemeClr val="tx1"/>
                </a:solidFill>
              </a:rPr>
              <a:t>le </a:t>
            </a:r>
            <a:r>
              <a:rPr lang="fr-FR" sz="800" dirty="0" smtClean="0">
                <a:solidFill>
                  <a:schemeClr val="tx1"/>
                </a:solidFill>
              </a:rPr>
              <a:t>1</a:t>
            </a:r>
            <a:r>
              <a:rPr lang="fr-FR" sz="800" baseline="30000" dirty="0" smtClean="0">
                <a:solidFill>
                  <a:schemeClr val="tx1"/>
                </a:solidFill>
              </a:rPr>
              <a:t>er</a:t>
            </a:r>
            <a:r>
              <a:rPr lang="fr-FR" sz="800" dirty="0" smtClean="0">
                <a:solidFill>
                  <a:schemeClr val="tx1"/>
                </a:solidFill>
              </a:rPr>
              <a:t> </a:t>
            </a:r>
            <a:r>
              <a:rPr lang="fr-FR" sz="800" dirty="0">
                <a:solidFill>
                  <a:schemeClr val="tx1"/>
                </a:solidFill>
              </a:rPr>
              <a:t>janvier 2006 et le 31 décembre 2025</a:t>
            </a:r>
          </a:p>
          <a:p>
            <a:pPr marL="171450" indent="-171450">
              <a:buFont typeface="Marianne" panose="02000000000000000000" pitchFamily="50" charset="0"/>
              <a:buChar char="→"/>
            </a:pPr>
            <a:r>
              <a:rPr lang="fr-FR" sz="800" dirty="0">
                <a:solidFill>
                  <a:schemeClr val="tx1"/>
                </a:solidFill>
              </a:rPr>
              <a:t>Activité commerciale, industrielle, artisanale ou libérale</a:t>
            </a:r>
          </a:p>
          <a:p>
            <a:pPr marL="171450" indent="-171450">
              <a:buFont typeface="Marianne" panose="02000000000000000000" pitchFamily="50" charset="0"/>
              <a:buChar char="→"/>
            </a:pPr>
            <a:r>
              <a:rPr lang="fr-FR" sz="800" dirty="0">
                <a:solidFill>
                  <a:schemeClr val="tx1"/>
                </a:solidFill>
              </a:rPr>
              <a:t>M</a:t>
            </a:r>
            <a:r>
              <a:rPr lang="fr-FR" sz="800" dirty="0" smtClean="0">
                <a:solidFill>
                  <a:schemeClr val="tx1"/>
                </a:solidFill>
              </a:rPr>
              <a:t>oins </a:t>
            </a:r>
            <a:r>
              <a:rPr lang="fr-FR" sz="800" dirty="0">
                <a:solidFill>
                  <a:schemeClr val="tx1"/>
                </a:solidFill>
              </a:rPr>
              <a:t>de 50 salariés</a:t>
            </a:r>
          </a:p>
          <a:p>
            <a:pPr marL="171450" indent="-171450">
              <a:buFont typeface="Marianne" panose="02000000000000000000" pitchFamily="50" charset="0"/>
              <a:buChar char="→"/>
            </a:pPr>
            <a:r>
              <a:rPr lang="fr-FR" sz="800" dirty="0">
                <a:solidFill>
                  <a:schemeClr val="tx1"/>
                </a:solidFill>
              </a:rPr>
              <a:t>Chiffres d’affaires ou bénéfice inférieur à </a:t>
            </a:r>
            <a:r>
              <a:rPr lang="fr-FR" sz="800" dirty="0" smtClean="0">
                <a:solidFill>
                  <a:schemeClr val="tx1"/>
                </a:solidFill>
              </a:rPr>
              <a:t>10 M€ </a:t>
            </a:r>
          </a:p>
          <a:p>
            <a:pPr marL="171450" indent="-171450">
              <a:buFont typeface="Marianne" panose="02000000000000000000" pitchFamily="50" charset="0"/>
              <a:buChar char="→"/>
            </a:pPr>
            <a:r>
              <a:rPr lang="fr-FR" sz="800" dirty="0" smtClean="0">
                <a:solidFill>
                  <a:schemeClr val="tx1"/>
                </a:solidFill>
              </a:rPr>
              <a:t>Condition </a:t>
            </a:r>
            <a:r>
              <a:rPr lang="fr-FR" sz="800" dirty="0">
                <a:solidFill>
                  <a:schemeClr val="tx1"/>
                </a:solidFill>
              </a:rPr>
              <a:t>de détention minimale de capital</a:t>
            </a:r>
          </a:p>
          <a:p>
            <a:pPr marL="171450" indent="-171450">
              <a:buFont typeface="Marianne" panose="02000000000000000000" pitchFamily="50" charset="0"/>
              <a:buChar char="→"/>
            </a:pPr>
            <a:r>
              <a:rPr lang="fr-FR" sz="800" dirty="0">
                <a:solidFill>
                  <a:schemeClr val="tx1"/>
                </a:solidFill>
              </a:rPr>
              <a:t>Clause d’embauche locale</a:t>
            </a:r>
          </a:p>
        </p:txBody>
      </p:sp>
      <p:sp>
        <p:nvSpPr>
          <p:cNvPr id="30" name="Rectangle à coins arrondis 29"/>
          <p:cNvSpPr/>
          <p:nvPr/>
        </p:nvSpPr>
        <p:spPr>
          <a:xfrm>
            <a:off x="3082235" y="3574630"/>
            <a:ext cx="3145327" cy="1080000"/>
          </a:xfrm>
          <a:prstGeom prst="roundRect">
            <a:avLst>
              <a:gd name="adj" fmla="val 7892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marL="171450" indent="-171450">
              <a:buFont typeface="Marianne" panose="02000000000000000000" pitchFamily="50" charset="0"/>
              <a:buChar char="→"/>
            </a:pPr>
            <a:r>
              <a:rPr lang="fr-FR" sz="800" dirty="0">
                <a:solidFill>
                  <a:schemeClr val="tx1"/>
                </a:solidFill>
              </a:rPr>
              <a:t>Activité commerciale uniquement</a:t>
            </a:r>
          </a:p>
          <a:p>
            <a:pPr marL="171450" indent="-171450">
              <a:buFont typeface="Marianne" panose="02000000000000000000" pitchFamily="50" charset="0"/>
              <a:buChar char="→"/>
            </a:pPr>
            <a:r>
              <a:rPr lang="fr-FR" sz="800" dirty="0">
                <a:solidFill>
                  <a:schemeClr val="tx1"/>
                </a:solidFill>
              </a:rPr>
              <a:t>Critères différents pour chaque </a:t>
            </a:r>
            <a:r>
              <a:rPr lang="fr-FR" sz="800" dirty="0" smtClean="0">
                <a:solidFill>
                  <a:schemeClr val="tx1"/>
                </a:solidFill>
              </a:rPr>
              <a:t>exonération</a:t>
            </a:r>
          </a:p>
          <a:p>
            <a:pPr marL="171450" indent="-171450">
              <a:buFont typeface="Marianne" panose="02000000000000000000" pitchFamily="50" charset="0"/>
              <a:buChar char="→"/>
            </a:pPr>
            <a:r>
              <a:rPr lang="fr-FR" sz="800" dirty="0" smtClean="0">
                <a:solidFill>
                  <a:schemeClr val="tx1"/>
                </a:solidFill>
              </a:rPr>
              <a:t>Dispositions </a:t>
            </a:r>
            <a:r>
              <a:rPr lang="fr-FR" sz="800" dirty="0">
                <a:solidFill>
                  <a:schemeClr val="tx1"/>
                </a:solidFill>
              </a:rPr>
              <a:t>fiscales </a:t>
            </a:r>
            <a:r>
              <a:rPr lang="fr-FR" sz="800" dirty="0" smtClean="0">
                <a:solidFill>
                  <a:schemeClr val="tx1"/>
                </a:solidFill>
              </a:rPr>
              <a:t>complexes</a:t>
            </a:r>
          </a:p>
          <a:p>
            <a:pPr marL="171450" indent="-171450">
              <a:buFont typeface="Marianne" panose="02000000000000000000" pitchFamily="50" charset="0"/>
              <a:buChar char="→"/>
            </a:pPr>
            <a:r>
              <a:rPr lang="fr-FR" sz="800" dirty="0" smtClean="0">
                <a:solidFill>
                  <a:schemeClr val="tx1"/>
                </a:solidFill>
              </a:rPr>
              <a:t>Appropriation difficile par les acteurs économiques</a:t>
            </a:r>
          </a:p>
          <a:p>
            <a:pPr marL="171450" indent="-171450">
              <a:buFont typeface="Marianne" panose="02000000000000000000" pitchFamily="50" charset="0"/>
              <a:buChar char="→"/>
            </a:pPr>
            <a:r>
              <a:rPr lang="fr-FR" sz="800" dirty="0" smtClean="0">
                <a:solidFill>
                  <a:schemeClr val="tx1"/>
                </a:solidFill>
              </a:rPr>
              <a:t>Zonage imparfait par rapport aux ZFU-TE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31" name="Rectangle à coins arrondis 30"/>
          <p:cNvSpPr/>
          <p:nvPr/>
        </p:nvSpPr>
        <p:spPr>
          <a:xfrm>
            <a:off x="6395938" y="1990960"/>
            <a:ext cx="2026035" cy="506017"/>
          </a:xfrm>
          <a:prstGeom prst="roundRect">
            <a:avLst>
              <a:gd name="adj" fmla="val 11922"/>
            </a:avLst>
          </a:prstGeom>
          <a:solidFill>
            <a:srgbClr val="00009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bIns="216000" rtlCol="0" anchor="ctr"/>
          <a:lstStyle/>
          <a:p>
            <a:pPr algn="r"/>
            <a:r>
              <a:rPr lang="fr-FR" sz="1000" b="1" dirty="0">
                <a:solidFill>
                  <a:schemeClr val="bg1"/>
                </a:solidFill>
              </a:rPr>
              <a:t>Zones </a:t>
            </a:r>
            <a:r>
              <a:rPr lang="fr-FR" sz="1000" b="1" dirty="0" smtClean="0">
                <a:solidFill>
                  <a:schemeClr val="bg1"/>
                </a:solidFill>
              </a:rPr>
              <a:t>mises</a:t>
            </a:r>
            <a:br>
              <a:rPr lang="fr-FR" sz="1000" b="1" dirty="0" smtClean="0">
                <a:solidFill>
                  <a:schemeClr val="bg1"/>
                </a:solidFill>
              </a:rPr>
            </a:br>
            <a:r>
              <a:rPr lang="fr-FR" sz="1000" b="1" dirty="0" smtClean="0">
                <a:solidFill>
                  <a:schemeClr val="bg1"/>
                </a:solidFill>
              </a:rPr>
              <a:t>en </a:t>
            </a:r>
            <a:r>
              <a:rPr lang="fr-FR" sz="1000" b="1" dirty="0">
                <a:solidFill>
                  <a:schemeClr val="bg1"/>
                </a:solidFill>
              </a:rPr>
              <a:t>extinction à compter du 31 décembre 2025</a:t>
            </a:r>
          </a:p>
        </p:txBody>
      </p:sp>
      <p:sp>
        <p:nvSpPr>
          <p:cNvPr id="32" name="Rectangle à coins arrondis 31"/>
          <p:cNvSpPr/>
          <p:nvPr/>
        </p:nvSpPr>
        <p:spPr>
          <a:xfrm>
            <a:off x="6395938" y="3861622"/>
            <a:ext cx="2026035" cy="506017"/>
          </a:xfrm>
          <a:prstGeom prst="roundRect">
            <a:avLst>
              <a:gd name="adj" fmla="val 11922"/>
            </a:avLst>
          </a:prstGeom>
          <a:solidFill>
            <a:srgbClr val="00009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bIns="216000" rtlCol="0" anchor="ctr"/>
          <a:lstStyle/>
          <a:p>
            <a:pPr algn="r"/>
            <a:r>
              <a:rPr lang="fr-FR" sz="1000" b="1" dirty="0" smtClean="0">
                <a:solidFill>
                  <a:schemeClr val="bg1"/>
                </a:solidFill>
              </a:rPr>
              <a:t>Régime </a:t>
            </a:r>
            <a:r>
              <a:rPr lang="fr-FR" sz="1000" b="1" dirty="0">
                <a:solidFill>
                  <a:schemeClr val="bg1"/>
                </a:solidFill>
              </a:rPr>
              <a:t>fiscal </a:t>
            </a:r>
            <a:r>
              <a:rPr lang="fr-FR" sz="1000" b="1" dirty="0" smtClean="0">
                <a:solidFill>
                  <a:schemeClr val="bg1"/>
                </a:solidFill>
              </a:rPr>
              <a:t>réformé</a:t>
            </a:r>
            <a:br>
              <a:rPr lang="fr-FR" sz="1000" b="1" dirty="0" smtClean="0">
                <a:solidFill>
                  <a:schemeClr val="bg1"/>
                </a:solidFill>
              </a:rPr>
            </a:br>
            <a:r>
              <a:rPr lang="fr-FR" sz="1000" b="1" dirty="0" smtClean="0">
                <a:solidFill>
                  <a:schemeClr val="bg1"/>
                </a:solidFill>
              </a:rPr>
              <a:t>à </a:t>
            </a:r>
            <a:r>
              <a:rPr lang="fr-FR" sz="1000" b="1" dirty="0">
                <a:solidFill>
                  <a:schemeClr val="bg1"/>
                </a:solidFill>
              </a:rPr>
              <a:t>partir du </a:t>
            </a:r>
            <a:r>
              <a:rPr lang="fr-FR" sz="1000" b="1" dirty="0" smtClean="0">
                <a:solidFill>
                  <a:schemeClr val="bg1"/>
                </a:solidFill>
              </a:rPr>
              <a:t>1</a:t>
            </a:r>
            <a:r>
              <a:rPr lang="fr-FR" sz="1000" b="1" baseline="30000" dirty="0" smtClean="0">
                <a:solidFill>
                  <a:schemeClr val="bg1"/>
                </a:solidFill>
              </a:rPr>
              <a:t>er</a:t>
            </a:r>
            <a:r>
              <a:rPr lang="fr-FR" sz="1000" b="1" dirty="0" smtClean="0">
                <a:solidFill>
                  <a:schemeClr val="bg1"/>
                </a:solidFill>
              </a:rPr>
              <a:t> </a:t>
            </a:r>
            <a:r>
              <a:rPr lang="fr-FR" sz="1000" b="1" dirty="0">
                <a:solidFill>
                  <a:schemeClr val="bg1"/>
                </a:solidFill>
              </a:rPr>
              <a:t>janvier 2026</a:t>
            </a:r>
          </a:p>
        </p:txBody>
      </p:sp>
      <p:sp>
        <p:nvSpPr>
          <p:cNvPr id="33" name="Rectangle à coins arrondis 32"/>
          <p:cNvSpPr/>
          <p:nvPr/>
        </p:nvSpPr>
        <p:spPr>
          <a:xfrm>
            <a:off x="5140129" y="3318568"/>
            <a:ext cx="665062" cy="113413"/>
          </a:xfrm>
          <a:prstGeom prst="roundRect">
            <a:avLst>
              <a:gd name="adj" fmla="val 30025"/>
            </a:avLst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700" dirty="0" smtClean="0">
                <a:solidFill>
                  <a:schemeClr val="tx2"/>
                </a:solidFill>
              </a:rPr>
              <a:t>COMPLEXITÉ</a:t>
            </a:r>
            <a:endParaRPr lang="fr-FR" sz="700" dirty="0">
              <a:solidFill>
                <a:schemeClr val="tx2"/>
              </a:solidFill>
            </a:endParaRPr>
          </a:p>
        </p:txBody>
      </p:sp>
      <p:sp>
        <p:nvSpPr>
          <p:cNvPr id="35" name="Rectangle à coins arrondis 34"/>
          <p:cNvSpPr/>
          <p:nvPr/>
        </p:nvSpPr>
        <p:spPr>
          <a:xfrm>
            <a:off x="3214201" y="3091574"/>
            <a:ext cx="1013049" cy="113413"/>
          </a:xfrm>
          <a:prstGeom prst="roundRect">
            <a:avLst>
              <a:gd name="adj" fmla="val 30025"/>
            </a:avLst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700" dirty="0" smtClean="0">
                <a:solidFill>
                  <a:schemeClr val="tx2"/>
                </a:solidFill>
              </a:rPr>
              <a:t>MOINDRE RECOURS</a:t>
            </a:r>
            <a:endParaRPr lang="fr-FR" sz="700" dirty="0">
              <a:solidFill>
                <a:schemeClr val="tx2"/>
              </a:solidFill>
            </a:endParaRPr>
          </a:p>
        </p:txBody>
      </p:sp>
      <p:cxnSp>
        <p:nvCxnSpPr>
          <p:cNvPr id="29" name="Connecteur droit avec flèche 28"/>
          <p:cNvCxnSpPr>
            <a:stCxn id="7" idx="2"/>
          </p:cNvCxnSpPr>
          <p:nvPr/>
        </p:nvCxnSpPr>
        <p:spPr>
          <a:xfrm>
            <a:off x="8590350" y="3168762"/>
            <a:ext cx="553650" cy="0"/>
          </a:xfrm>
          <a:prstGeom prst="straightConnector1">
            <a:avLst/>
          </a:prstGeom>
          <a:ln w="76200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arenthèse fermante 6"/>
          <p:cNvSpPr/>
          <p:nvPr/>
        </p:nvSpPr>
        <p:spPr>
          <a:xfrm>
            <a:off x="8421974" y="2222894"/>
            <a:ext cx="168376" cy="1891736"/>
          </a:xfrm>
          <a:prstGeom prst="rightBracket">
            <a:avLst>
              <a:gd name="adj" fmla="val 97948"/>
            </a:avLst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Connecteur droit 37"/>
          <p:cNvCxnSpPr>
            <a:stCxn id="28" idx="3"/>
            <a:endCxn id="31" idx="1"/>
          </p:cNvCxnSpPr>
          <p:nvPr/>
        </p:nvCxnSpPr>
        <p:spPr>
          <a:xfrm>
            <a:off x="6227562" y="2241153"/>
            <a:ext cx="168376" cy="2816"/>
          </a:xfrm>
          <a:prstGeom prst="line">
            <a:avLst/>
          </a:prstGeom>
          <a:ln w="571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>
            <a:stCxn id="30" idx="3"/>
            <a:endCxn id="32" idx="1"/>
          </p:cNvCxnSpPr>
          <p:nvPr/>
        </p:nvCxnSpPr>
        <p:spPr>
          <a:xfrm>
            <a:off x="6227562" y="4114630"/>
            <a:ext cx="168376" cy="1"/>
          </a:xfrm>
          <a:prstGeom prst="line">
            <a:avLst/>
          </a:prstGeom>
          <a:ln w="571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à coins arrondis 23"/>
          <p:cNvSpPr/>
          <p:nvPr/>
        </p:nvSpPr>
        <p:spPr>
          <a:xfrm>
            <a:off x="763538" y="3128639"/>
            <a:ext cx="1693067" cy="113413"/>
          </a:xfrm>
          <a:prstGeom prst="roundRect">
            <a:avLst>
              <a:gd name="adj" fmla="val 30025"/>
            </a:avLst>
          </a:prstGeom>
          <a:solidFill>
            <a:srgbClr val="FFFFFF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700" dirty="0" smtClean="0">
                <a:solidFill>
                  <a:schemeClr val="tx2"/>
                </a:solidFill>
              </a:rPr>
              <a:t>SE SUPERPOSENT IMPARFAITEMENT</a:t>
            </a:r>
            <a:endParaRPr lang="fr-FR" sz="700" dirty="0">
              <a:solidFill>
                <a:schemeClr val="tx2"/>
              </a:solidFill>
            </a:endParaRPr>
          </a:p>
        </p:txBody>
      </p:sp>
      <p:cxnSp>
        <p:nvCxnSpPr>
          <p:cNvPr id="67" name="Connecteur droit 66"/>
          <p:cNvCxnSpPr>
            <a:stCxn id="26" idx="3"/>
            <a:endCxn id="30" idx="1"/>
          </p:cNvCxnSpPr>
          <p:nvPr/>
        </p:nvCxnSpPr>
        <p:spPr>
          <a:xfrm>
            <a:off x="2901329" y="4114630"/>
            <a:ext cx="180906" cy="0"/>
          </a:xfrm>
          <a:prstGeom prst="line">
            <a:avLst/>
          </a:prstGeom>
          <a:ln w="571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4651017" y="3086606"/>
            <a:ext cx="1330764" cy="113413"/>
          </a:xfrm>
          <a:prstGeom prst="roundRect">
            <a:avLst>
              <a:gd name="adj" fmla="val 30025"/>
            </a:avLst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700" dirty="0" smtClean="0">
                <a:solidFill>
                  <a:schemeClr val="tx2"/>
                </a:solidFill>
              </a:rPr>
              <a:t>CONDITIONS DIFFÉRENTES</a:t>
            </a:r>
            <a:endParaRPr lang="fr-FR" sz="700" dirty="0">
              <a:solidFill>
                <a:schemeClr val="tx2"/>
              </a:solidFill>
            </a:endParaRPr>
          </a:p>
        </p:txBody>
      </p:sp>
      <p:sp>
        <p:nvSpPr>
          <p:cNvPr id="98" name="Rectangle à coins arrondis 97"/>
          <p:cNvSpPr/>
          <p:nvPr/>
        </p:nvSpPr>
        <p:spPr>
          <a:xfrm>
            <a:off x="3214201" y="3308463"/>
            <a:ext cx="1439515" cy="113413"/>
          </a:xfrm>
          <a:prstGeom prst="roundRect">
            <a:avLst>
              <a:gd name="adj" fmla="val 30025"/>
            </a:avLst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700" dirty="0" smtClean="0">
                <a:solidFill>
                  <a:schemeClr val="tx2"/>
                </a:solidFill>
              </a:rPr>
              <a:t>EXONÉRATIONS DIFFÉRENTES</a:t>
            </a:r>
            <a:endParaRPr lang="fr-FR" sz="700" dirty="0">
              <a:solidFill>
                <a:schemeClr val="tx2"/>
              </a:solidFill>
            </a:endParaRPr>
          </a:p>
        </p:txBody>
      </p:sp>
      <p:sp>
        <p:nvSpPr>
          <p:cNvPr id="117" name="Rectangle à coins arrondis 116"/>
          <p:cNvSpPr/>
          <p:nvPr/>
        </p:nvSpPr>
        <p:spPr>
          <a:xfrm>
            <a:off x="6395938" y="2549344"/>
            <a:ext cx="2026036" cy="506017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bIns="216000" rtlCol="0" anchor="ctr"/>
          <a:lstStyle/>
          <a:p>
            <a:pPr algn="r"/>
            <a:r>
              <a:rPr lang="fr-FR" sz="800" dirty="0" smtClean="0">
                <a:solidFill>
                  <a:schemeClr val="tx2"/>
                </a:solidFill>
              </a:rPr>
              <a:t>Les entreprises entrées</a:t>
            </a:r>
            <a:br>
              <a:rPr lang="fr-FR" sz="800" dirty="0" smtClean="0">
                <a:solidFill>
                  <a:schemeClr val="tx2"/>
                </a:solidFill>
              </a:rPr>
            </a:br>
            <a:r>
              <a:rPr lang="fr-FR" sz="800" dirty="0" smtClean="0">
                <a:solidFill>
                  <a:schemeClr val="tx2"/>
                </a:solidFill>
              </a:rPr>
              <a:t>dans le dispositif ZFU-TE</a:t>
            </a:r>
            <a:br>
              <a:rPr lang="fr-FR" sz="800" dirty="0" smtClean="0">
                <a:solidFill>
                  <a:schemeClr val="tx2"/>
                </a:solidFill>
              </a:rPr>
            </a:br>
            <a:r>
              <a:rPr lang="fr-FR" sz="800" dirty="0" smtClean="0">
                <a:solidFill>
                  <a:schemeClr val="tx2"/>
                </a:solidFill>
              </a:rPr>
              <a:t>avant le 31 décembre 2025</a:t>
            </a:r>
            <a:br>
              <a:rPr lang="fr-FR" sz="800" dirty="0" smtClean="0">
                <a:solidFill>
                  <a:schemeClr val="tx2"/>
                </a:solidFill>
              </a:rPr>
            </a:br>
            <a:r>
              <a:rPr lang="fr-FR" sz="800" dirty="0" smtClean="0">
                <a:solidFill>
                  <a:schemeClr val="tx2"/>
                </a:solidFill>
              </a:rPr>
              <a:t>maintiennent leurs droits acquis.</a:t>
            </a:r>
            <a:endParaRPr lang="fr-FR" sz="800" dirty="0">
              <a:solidFill>
                <a:schemeClr val="tx2"/>
              </a:solidFill>
            </a:endParaRPr>
          </a:p>
        </p:txBody>
      </p:sp>
      <p:sp>
        <p:nvSpPr>
          <p:cNvPr id="135" name="Rectangle à coins arrondis 134"/>
          <p:cNvSpPr/>
          <p:nvPr/>
        </p:nvSpPr>
        <p:spPr>
          <a:xfrm>
            <a:off x="931762" y="2914112"/>
            <a:ext cx="1356621" cy="113413"/>
          </a:xfrm>
          <a:prstGeom prst="roundRect">
            <a:avLst>
              <a:gd name="adj" fmla="val 30025"/>
            </a:avLst>
          </a:prstGeom>
          <a:solidFill>
            <a:srgbClr val="FFFFFF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700" dirty="0" smtClean="0">
                <a:solidFill>
                  <a:schemeClr val="tx2"/>
                </a:solidFill>
              </a:rPr>
              <a:t>NOMBRE RÉDUIT DE ZFU-TE</a:t>
            </a:r>
            <a:endParaRPr lang="fr-FR" sz="700" dirty="0">
              <a:solidFill>
                <a:schemeClr val="tx2"/>
              </a:solidFill>
            </a:endParaRPr>
          </a:p>
        </p:txBody>
      </p:sp>
      <p:sp>
        <p:nvSpPr>
          <p:cNvPr id="136" name="Rectangle à coins arrondis 135"/>
          <p:cNvSpPr/>
          <p:nvPr/>
        </p:nvSpPr>
        <p:spPr>
          <a:xfrm>
            <a:off x="614759" y="3343166"/>
            <a:ext cx="1991414" cy="113413"/>
          </a:xfrm>
          <a:prstGeom prst="roundRect">
            <a:avLst>
              <a:gd name="adj" fmla="val 30025"/>
            </a:avLst>
          </a:prstGeom>
          <a:solidFill>
            <a:srgbClr val="FFFFFF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700" dirty="0" smtClean="0">
                <a:solidFill>
                  <a:schemeClr val="tx2"/>
                </a:solidFill>
              </a:rPr>
              <a:t>GÉOGRAPHIE PRIORITAIRE À ACTUALISER</a:t>
            </a:r>
            <a:endParaRPr lang="fr-FR" sz="700" dirty="0">
              <a:solidFill>
                <a:schemeClr val="tx2"/>
              </a:solidFill>
            </a:endParaRPr>
          </a:p>
        </p:txBody>
      </p:sp>
      <p:sp>
        <p:nvSpPr>
          <p:cNvPr id="36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37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39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0" name="Rectangle à coins arrondis 39"/>
          <p:cNvSpPr/>
          <p:nvPr/>
        </p:nvSpPr>
        <p:spPr>
          <a:xfrm>
            <a:off x="3214201" y="2866561"/>
            <a:ext cx="1467337" cy="113413"/>
          </a:xfrm>
          <a:prstGeom prst="roundRect">
            <a:avLst>
              <a:gd name="adj" fmla="val 30025"/>
            </a:avLst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700" dirty="0" smtClean="0">
                <a:solidFill>
                  <a:schemeClr val="tx2"/>
                </a:solidFill>
              </a:rPr>
              <a:t>RESPECT DU DROIT EUROPÉEN </a:t>
            </a:r>
            <a:endParaRPr lang="fr-FR" sz="7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06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à coins arrondis 19"/>
          <p:cNvSpPr/>
          <p:nvPr/>
        </p:nvSpPr>
        <p:spPr>
          <a:xfrm>
            <a:off x="5311121" y="3340894"/>
            <a:ext cx="3472879" cy="1292065"/>
          </a:xfrm>
          <a:prstGeom prst="roundRect">
            <a:avLst>
              <a:gd name="adj" fmla="val 3152"/>
            </a:avLst>
          </a:prstGeom>
          <a:solidFill>
            <a:schemeClr val="accent3">
              <a:lumMod val="60000"/>
              <a:lumOff val="40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endParaRPr lang="fr-FR" sz="600" dirty="0">
              <a:solidFill>
                <a:schemeClr val="tx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26930" y="4213197"/>
            <a:ext cx="1240570" cy="14133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5426929" y="4058097"/>
            <a:ext cx="2570895" cy="14133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5426930" y="3906676"/>
            <a:ext cx="2748696" cy="14133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7000875" y="3752457"/>
            <a:ext cx="1545431" cy="14133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1487921" y="1793854"/>
            <a:ext cx="3472879" cy="2839106"/>
          </a:xfrm>
          <a:prstGeom prst="roundRect">
            <a:avLst>
              <a:gd name="adj" fmla="val 3152"/>
            </a:avLst>
          </a:prstGeom>
          <a:solidFill>
            <a:srgbClr val="000091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fr-FR" sz="1400" b="1" dirty="0" smtClean="0">
                <a:solidFill>
                  <a:schemeClr val="bg2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→</a:t>
            </a:r>
            <a:r>
              <a:rPr lang="fr-FR" sz="1400" b="1" dirty="0" smtClean="0">
                <a:solidFill>
                  <a:schemeClr val="bg2"/>
                </a:solidFill>
                <a:sym typeface="Wingdings" panose="05000000000000000000" pitchFamily="2" charset="2"/>
              </a:rPr>
              <a:t> Un</a:t>
            </a:r>
            <a:r>
              <a:rPr lang="fr-FR" sz="1400" b="1" dirty="0" smtClean="0">
                <a:solidFill>
                  <a:schemeClr val="bg2"/>
                </a:solidFill>
              </a:rPr>
              <a:t> </a:t>
            </a:r>
            <a:r>
              <a:rPr lang="fr-FR" sz="1400" b="1" dirty="0">
                <a:solidFill>
                  <a:schemeClr val="bg2"/>
                </a:solidFill>
              </a:rPr>
              <a:t>seul zonage : 1 </a:t>
            </a:r>
            <a:r>
              <a:rPr lang="fr-FR" sz="1400" b="1" dirty="0" smtClean="0">
                <a:solidFill>
                  <a:schemeClr val="bg2"/>
                </a:solidFill>
              </a:rPr>
              <a:t>584 </a:t>
            </a:r>
            <a:r>
              <a:rPr lang="fr-FR" sz="1400" b="1" dirty="0">
                <a:solidFill>
                  <a:schemeClr val="bg2"/>
                </a:solidFill>
              </a:rPr>
              <a:t>quartiers prioritaires de la politique de la ville.</a:t>
            </a:r>
          </a:p>
          <a:p>
            <a:pPr>
              <a:spcAft>
                <a:spcPts val="1200"/>
              </a:spcAft>
            </a:pPr>
            <a:r>
              <a:rPr lang="fr-FR" sz="1200" b="1" dirty="0">
                <a:solidFill>
                  <a:schemeClr val="tx2"/>
                </a:solidFill>
              </a:rPr>
              <a:t>La géographie prioritaire de la politique </a:t>
            </a:r>
            <a:br>
              <a:rPr lang="fr-FR" sz="1200" b="1" dirty="0">
                <a:solidFill>
                  <a:schemeClr val="tx2"/>
                </a:solidFill>
              </a:rPr>
            </a:br>
            <a:r>
              <a:rPr lang="fr-FR" sz="1200" b="1" dirty="0">
                <a:solidFill>
                  <a:schemeClr val="tx2"/>
                </a:solidFill>
              </a:rPr>
              <a:t>de la ville actualisée </a:t>
            </a:r>
            <a:r>
              <a:rPr lang="fr-FR" sz="1200" dirty="0">
                <a:solidFill>
                  <a:schemeClr val="tx2"/>
                </a:solidFill>
              </a:rPr>
              <a:t>le 1</a:t>
            </a:r>
            <a:r>
              <a:rPr lang="fr-FR" sz="1200" baseline="30000" dirty="0">
                <a:solidFill>
                  <a:schemeClr val="tx2"/>
                </a:solidFill>
              </a:rPr>
              <a:t>er</a:t>
            </a:r>
            <a:r>
              <a:rPr lang="fr-FR" sz="1200" dirty="0">
                <a:solidFill>
                  <a:schemeClr val="tx2"/>
                </a:solidFill>
              </a:rPr>
              <a:t> janvier 2024 </a:t>
            </a:r>
            <a:br>
              <a:rPr lang="fr-FR" sz="1200" dirty="0">
                <a:solidFill>
                  <a:schemeClr val="tx2"/>
                </a:solidFill>
              </a:rPr>
            </a:br>
            <a:r>
              <a:rPr lang="fr-FR" sz="1200" dirty="0">
                <a:solidFill>
                  <a:schemeClr val="tx2"/>
                </a:solidFill>
              </a:rPr>
              <a:t>pour l’Hexagone et le 1</a:t>
            </a:r>
            <a:r>
              <a:rPr lang="fr-FR" sz="1200" baseline="30000" dirty="0">
                <a:solidFill>
                  <a:schemeClr val="tx2"/>
                </a:solidFill>
              </a:rPr>
              <a:t>er</a:t>
            </a:r>
            <a:r>
              <a:rPr lang="fr-FR" sz="1200" dirty="0">
                <a:solidFill>
                  <a:schemeClr val="tx2"/>
                </a:solidFill>
              </a:rPr>
              <a:t> janvier 2025 pour </a:t>
            </a:r>
            <a:br>
              <a:rPr lang="fr-FR" sz="1200" dirty="0">
                <a:solidFill>
                  <a:schemeClr val="tx2"/>
                </a:solidFill>
              </a:rPr>
            </a:br>
            <a:r>
              <a:rPr lang="fr-FR" sz="1200" dirty="0">
                <a:solidFill>
                  <a:schemeClr val="tx2"/>
                </a:solidFill>
              </a:rPr>
              <a:t>les Outre-mer devient le </a:t>
            </a:r>
            <a:r>
              <a:rPr lang="fr-FR" sz="1200" b="1" dirty="0">
                <a:solidFill>
                  <a:schemeClr val="tx2"/>
                </a:solidFill>
              </a:rPr>
              <a:t>zonage unique</a:t>
            </a:r>
            <a:br>
              <a:rPr lang="fr-FR" sz="1200" b="1" dirty="0">
                <a:solidFill>
                  <a:schemeClr val="tx2"/>
                </a:solidFill>
              </a:rPr>
            </a:br>
            <a:r>
              <a:rPr lang="fr-FR" sz="1200" b="1" dirty="0">
                <a:solidFill>
                  <a:schemeClr val="tx2"/>
                </a:solidFill>
              </a:rPr>
              <a:t>des aides fiscales aux entreprises en QPV</a:t>
            </a:r>
            <a:r>
              <a:rPr lang="fr-FR" sz="1200" dirty="0">
                <a:solidFill>
                  <a:schemeClr val="tx2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chemeClr val="tx2"/>
                </a:solidFill>
              </a:rPr>
              <a:t>La carte des quartiers prioritaires actualisée est disponible sur le site du </a:t>
            </a:r>
            <a:r>
              <a:rPr lang="fr-FR" sz="800" b="1" dirty="0">
                <a:solidFill>
                  <a:schemeClr val="tx2"/>
                </a:solidFill>
              </a:rPr>
              <a:t>SIG Politique de la ville</a:t>
            </a:r>
            <a:r>
              <a:rPr lang="fr-FR" sz="800" dirty="0">
                <a:solidFill>
                  <a:schemeClr val="tx2"/>
                </a:solidFill>
              </a:rPr>
              <a:t> : </a:t>
            </a:r>
            <a:r>
              <a:rPr lang="fr-FR" sz="800" u="sng" dirty="0">
                <a:solidFill>
                  <a:schemeClr val="tx2"/>
                </a:solidFill>
              </a:rPr>
              <a:t>https://sig.ville.gouv.fr/</a:t>
            </a:r>
            <a:r>
              <a:rPr lang="fr-FR" sz="800" dirty="0">
                <a:solidFill>
                  <a:schemeClr val="tx2"/>
                </a:solidFill>
              </a:rPr>
              <a:t>.</a:t>
            </a:r>
          </a:p>
          <a:p>
            <a:pPr marL="88900" indent="-88900">
              <a:spcAft>
                <a:spcPts val="0"/>
              </a:spcAft>
            </a:pPr>
            <a:r>
              <a:rPr lang="fr-FR" sz="600" b="1" dirty="0">
                <a:solidFill>
                  <a:schemeClr val="tx2"/>
                </a:solidFill>
              </a:rPr>
              <a:t>Références :</a:t>
            </a:r>
          </a:p>
          <a:p>
            <a:pPr marL="88900" indent="-88900">
              <a:spcAft>
                <a:spcPts val="0"/>
              </a:spcAft>
              <a:buFont typeface="Marianne" panose="02000000000000000000" pitchFamily="50" charset="0"/>
              <a:buChar char="↘"/>
            </a:pPr>
            <a:r>
              <a:rPr lang="fr-FR" sz="600" dirty="0">
                <a:solidFill>
                  <a:schemeClr val="tx2"/>
                </a:solidFill>
              </a:rPr>
              <a:t>Décret n° </a:t>
            </a:r>
            <a:r>
              <a:rPr lang="fr-FR" sz="600" u="sng" dirty="0">
                <a:solidFill>
                  <a:schemeClr val="tx2"/>
                </a:solidFill>
              </a:rPr>
              <a:t>2023-1314</a:t>
            </a:r>
            <a:r>
              <a:rPr lang="fr-FR" sz="600" dirty="0">
                <a:solidFill>
                  <a:schemeClr val="tx2"/>
                </a:solidFill>
              </a:rPr>
              <a:t> du 28 décembre 2023 modifiant</a:t>
            </a:r>
            <a:br>
              <a:rPr lang="fr-FR" sz="600" dirty="0">
                <a:solidFill>
                  <a:schemeClr val="tx2"/>
                </a:solidFill>
              </a:rPr>
            </a:br>
            <a:r>
              <a:rPr lang="fr-FR" sz="600" dirty="0">
                <a:solidFill>
                  <a:schemeClr val="tx2"/>
                </a:solidFill>
              </a:rPr>
              <a:t>la liste des quartiers prioritaires de la politique de la ville</a:t>
            </a:r>
            <a:br>
              <a:rPr lang="fr-FR" sz="600" dirty="0">
                <a:solidFill>
                  <a:schemeClr val="tx2"/>
                </a:solidFill>
              </a:rPr>
            </a:br>
            <a:r>
              <a:rPr lang="fr-FR" sz="600" dirty="0">
                <a:solidFill>
                  <a:schemeClr val="tx2"/>
                </a:solidFill>
              </a:rPr>
              <a:t>dans les départements métropolitains</a:t>
            </a:r>
          </a:p>
          <a:p>
            <a:pPr marL="88900" indent="-88900">
              <a:spcAft>
                <a:spcPts val="0"/>
              </a:spcAft>
              <a:buFont typeface="Marianne" panose="02000000000000000000" pitchFamily="50" charset="0"/>
              <a:buChar char="↘"/>
            </a:pPr>
            <a:r>
              <a:rPr lang="fr-FR" sz="600" dirty="0">
                <a:solidFill>
                  <a:schemeClr val="tx2"/>
                </a:solidFill>
              </a:rPr>
              <a:t>Décret n° </a:t>
            </a:r>
            <a:r>
              <a:rPr lang="fr-FR" sz="600" u="sng" dirty="0">
                <a:solidFill>
                  <a:schemeClr val="tx2"/>
                </a:solidFill>
              </a:rPr>
              <a:t>2024-1212</a:t>
            </a:r>
            <a:r>
              <a:rPr lang="fr-FR" sz="600" dirty="0">
                <a:solidFill>
                  <a:schemeClr val="tx2"/>
                </a:solidFill>
              </a:rPr>
              <a:t> du 27 décembre 2024 modifiant</a:t>
            </a:r>
            <a:br>
              <a:rPr lang="fr-FR" sz="600" dirty="0">
                <a:solidFill>
                  <a:schemeClr val="tx2"/>
                </a:solidFill>
              </a:rPr>
            </a:br>
            <a:r>
              <a:rPr lang="fr-FR" sz="600" dirty="0">
                <a:solidFill>
                  <a:schemeClr val="tx2"/>
                </a:solidFill>
              </a:rPr>
              <a:t>la liste des quartiers prioritaires de la politique de la ville</a:t>
            </a:r>
            <a:br>
              <a:rPr lang="fr-FR" sz="600" dirty="0">
                <a:solidFill>
                  <a:schemeClr val="tx2"/>
                </a:solidFill>
              </a:rPr>
            </a:br>
            <a:r>
              <a:rPr lang="fr-FR" sz="600" dirty="0">
                <a:solidFill>
                  <a:schemeClr val="tx2"/>
                </a:solidFill>
              </a:rPr>
              <a:t>dans les collectivités régies par l'article 73  de la</a:t>
            </a:r>
            <a:br>
              <a:rPr lang="fr-FR" sz="600" dirty="0">
                <a:solidFill>
                  <a:schemeClr val="tx2"/>
                </a:solidFill>
              </a:rPr>
            </a:br>
            <a:r>
              <a:rPr lang="fr-FR" sz="600" dirty="0">
                <a:solidFill>
                  <a:schemeClr val="tx2"/>
                </a:solidFill>
              </a:rPr>
              <a:t>Constitution, à Saint-Martin et en Polynésie </a:t>
            </a:r>
            <a:r>
              <a:rPr lang="fr-FR" sz="600" dirty="0" smtClean="0">
                <a:solidFill>
                  <a:schemeClr val="tx2"/>
                </a:solidFill>
              </a:rPr>
              <a:t>française</a:t>
            </a:r>
            <a:endParaRPr lang="fr-FR" sz="600" dirty="0">
              <a:solidFill>
                <a:schemeClr val="tx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487921" y="1001535"/>
            <a:ext cx="7296079" cy="70788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fr-FR" sz="2000" b="1" dirty="0" smtClean="0">
                <a:solidFill>
                  <a:schemeClr val="tx2"/>
                </a:solidFill>
              </a:rPr>
              <a:t>Depuis le 1</a:t>
            </a:r>
            <a:r>
              <a:rPr lang="fr-FR" sz="2000" b="1" baseline="30000" dirty="0" smtClean="0">
                <a:solidFill>
                  <a:schemeClr val="tx2"/>
                </a:solidFill>
              </a:rPr>
              <a:t>er</a:t>
            </a:r>
            <a:r>
              <a:rPr lang="fr-FR" sz="2000" b="1" dirty="0" smtClean="0">
                <a:solidFill>
                  <a:schemeClr val="tx2"/>
                </a:solidFill>
              </a:rPr>
              <a:t> janvier 2026,</a:t>
            </a:r>
          </a:p>
          <a:p>
            <a:r>
              <a:rPr lang="fr-FR" sz="2000" b="1" dirty="0" smtClean="0">
                <a:solidFill>
                  <a:schemeClr val="tx2"/>
                </a:solidFill>
              </a:rPr>
              <a:t>1 zonage unique : </a:t>
            </a:r>
            <a:r>
              <a:rPr lang="fr-FR" sz="2000" dirty="0" smtClean="0">
                <a:solidFill>
                  <a:schemeClr val="tx2"/>
                </a:solidFill>
              </a:rPr>
              <a:t>plus simple, plus cohérent et plus lisible </a:t>
            </a:r>
            <a:endParaRPr lang="fr-FR" sz="2000" dirty="0">
              <a:solidFill>
                <a:schemeClr val="tx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16384" y="1554760"/>
            <a:ext cx="1943572" cy="106408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441" y="3679372"/>
            <a:ext cx="1015963" cy="1015963"/>
          </a:xfrm>
          <a:prstGeom prst="rect">
            <a:avLst/>
          </a:prstGeom>
        </p:spPr>
      </p:pic>
      <p:sp>
        <p:nvSpPr>
          <p:cNvPr id="16" name="Espace réservé du texte 16"/>
          <p:cNvSpPr>
            <a:spLocks noGrp="1"/>
          </p:cNvSpPr>
          <p:nvPr>
            <p:ph type="body" sz="quarter" idx="16"/>
          </p:nvPr>
        </p:nvSpPr>
        <p:spPr>
          <a:xfrm>
            <a:off x="59714" y="3062274"/>
            <a:ext cx="1269024" cy="302265"/>
          </a:xfrm>
          <a:noFill/>
        </p:spPr>
        <p:txBody>
          <a:bodyPr lIns="72000" tIns="72000" rIns="72000" bIns="72000" anchor="ctr"/>
          <a:lstStyle/>
          <a:p>
            <a:r>
              <a:rPr lang="fr-FR" sz="1000" dirty="0" smtClean="0">
                <a:solidFill>
                  <a:schemeClr val="tx2"/>
                </a:solidFill>
              </a:rPr>
              <a:t>Avec effet au</a:t>
            </a:r>
            <a:br>
              <a:rPr lang="fr-FR" sz="1000" dirty="0" smtClean="0">
                <a:solidFill>
                  <a:schemeClr val="tx2"/>
                </a:solidFill>
              </a:rPr>
            </a:br>
            <a:r>
              <a:rPr lang="fr-FR" sz="1000" b="1" dirty="0" smtClean="0">
                <a:solidFill>
                  <a:schemeClr val="tx2"/>
                </a:solidFill>
              </a:rPr>
              <a:t>1</a:t>
            </a:r>
            <a:r>
              <a:rPr lang="fr-FR" sz="1000" b="1" baseline="30000" dirty="0" smtClean="0">
                <a:solidFill>
                  <a:schemeClr val="tx2"/>
                </a:solidFill>
              </a:rPr>
              <a:t>er</a:t>
            </a:r>
            <a:r>
              <a:rPr lang="fr-FR" sz="1000" b="1" dirty="0" smtClean="0">
                <a:solidFill>
                  <a:schemeClr val="tx2"/>
                </a:solidFill>
              </a:rPr>
              <a:t> janvier 2026</a:t>
            </a:r>
            <a:endParaRPr lang="fr-FR" sz="1000" b="1" dirty="0">
              <a:solidFill>
                <a:schemeClr val="tx2"/>
              </a:solidFill>
            </a:endParaRPr>
          </a:p>
        </p:txBody>
      </p:sp>
      <p:sp>
        <p:nvSpPr>
          <p:cNvPr id="18" name="Rectangle à coins arrondis 17"/>
          <p:cNvSpPr/>
          <p:nvPr/>
        </p:nvSpPr>
        <p:spPr>
          <a:xfrm>
            <a:off x="5314721" y="1793853"/>
            <a:ext cx="3472879" cy="2839105"/>
          </a:xfrm>
          <a:prstGeom prst="roundRect">
            <a:avLst>
              <a:gd name="adj" fmla="val 4494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fr-FR" sz="1400" b="1" dirty="0">
                <a:solidFill>
                  <a:schemeClr val="bg2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→</a:t>
            </a:r>
            <a:r>
              <a:rPr lang="fr-FR" sz="1400" b="1" dirty="0">
                <a:solidFill>
                  <a:schemeClr val="bg2"/>
                </a:solidFill>
              </a:rPr>
              <a:t> Le Gouvernement fait le choix</a:t>
            </a:r>
            <a:br>
              <a:rPr lang="fr-FR" sz="1400" b="1" dirty="0">
                <a:solidFill>
                  <a:schemeClr val="bg2"/>
                </a:solidFill>
              </a:rPr>
            </a:br>
            <a:r>
              <a:rPr lang="fr-FR" sz="1400" b="1" dirty="0">
                <a:solidFill>
                  <a:schemeClr val="bg2"/>
                </a:solidFill>
              </a:rPr>
              <a:t>de la simplification.</a:t>
            </a:r>
            <a:endParaRPr lang="fr-FR" sz="1400" dirty="0">
              <a:solidFill>
                <a:schemeClr val="bg2"/>
              </a:solidFill>
            </a:endParaRPr>
          </a:p>
          <a:p>
            <a:pPr>
              <a:spcAft>
                <a:spcPts val="1200"/>
              </a:spcAft>
            </a:pPr>
            <a:r>
              <a:rPr lang="fr-FR" sz="1200" dirty="0">
                <a:solidFill>
                  <a:schemeClr val="tx2"/>
                </a:solidFill>
              </a:rPr>
              <a:t>Les </a:t>
            </a:r>
            <a:r>
              <a:rPr lang="fr-FR" sz="1200" dirty="0" smtClean="0">
                <a:solidFill>
                  <a:schemeClr val="tx2"/>
                </a:solidFill>
              </a:rPr>
              <a:t>entreprises doivent </a:t>
            </a:r>
            <a:r>
              <a:rPr lang="fr-FR" sz="1200" dirty="0">
                <a:solidFill>
                  <a:schemeClr val="tx2"/>
                </a:solidFill>
              </a:rPr>
              <a:t>désormais répondre aux </a:t>
            </a:r>
            <a:r>
              <a:rPr lang="fr-FR" sz="1200" b="1" dirty="0">
                <a:solidFill>
                  <a:schemeClr val="tx2"/>
                </a:solidFill>
              </a:rPr>
              <a:t>mêmes conditions pour bénéficier </a:t>
            </a:r>
            <a:r>
              <a:rPr lang="fr-FR" sz="1200" b="1" dirty="0" smtClean="0">
                <a:solidFill>
                  <a:schemeClr val="tx2"/>
                </a:solidFill>
              </a:rPr>
              <a:t>d’une exonération </a:t>
            </a:r>
            <a:r>
              <a:rPr lang="fr-FR" sz="1200" b="1" dirty="0">
                <a:solidFill>
                  <a:schemeClr val="tx2"/>
                </a:solidFill>
              </a:rPr>
              <a:t>d’impôt sur les bénéfices </a:t>
            </a:r>
            <a:r>
              <a:rPr lang="fr-FR" sz="1200" b="1" i="1" dirty="0">
                <a:solidFill>
                  <a:schemeClr val="tx2"/>
                </a:solidFill>
              </a:rPr>
              <a:t>et</a:t>
            </a:r>
            <a:r>
              <a:rPr lang="fr-FR" sz="1200" b="1" dirty="0">
                <a:solidFill>
                  <a:schemeClr val="tx2"/>
                </a:solidFill>
              </a:rPr>
              <a:t> des exonérations d’impôts locaux</a:t>
            </a:r>
            <a:r>
              <a:rPr lang="fr-FR" sz="1200" dirty="0">
                <a:solidFill>
                  <a:schemeClr val="tx2"/>
                </a:solidFill>
              </a:rPr>
              <a:t>.</a:t>
            </a:r>
            <a:endParaRPr lang="fr-FR" sz="900" dirty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</a:pPr>
            <a:r>
              <a:rPr lang="fr-FR" sz="1000" dirty="0" smtClean="0">
                <a:solidFill>
                  <a:schemeClr val="tx2"/>
                </a:solidFill>
              </a:rPr>
              <a:t>                 Les </a:t>
            </a:r>
            <a:r>
              <a:rPr lang="fr-FR" sz="1000" dirty="0">
                <a:solidFill>
                  <a:schemeClr val="tx2"/>
                </a:solidFill>
              </a:rPr>
              <a:t>entreprises installées jusqu’à la fin de l’année 2025 dans l’un des dispositifs précédemment existants </a:t>
            </a:r>
            <a:r>
              <a:rPr lang="fr-FR" sz="1000" b="1" dirty="0">
                <a:solidFill>
                  <a:schemeClr val="tx2"/>
                </a:solidFill>
              </a:rPr>
              <a:t>continuent de bénéficier des avantages fiscaux en vigueur lors de leur installation, et ce, pendant toute la durée initialement prévue</a:t>
            </a:r>
            <a:r>
              <a:rPr lang="fr-FR" sz="1000" dirty="0">
                <a:solidFill>
                  <a:schemeClr val="tx2"/>
                </a:solidFill>
              </a:rPr>
              <a:t>, jusqu’à extinction des droits </a:t>
            </a:r>
            <a:r>
              <a:rPr lang="fr-FR" sz="1000" dirty="0" smtClean="0">
                <a:solidFill>
                  <a:schemeClr val="tx2"/>
                </a:solidFill>
              </a:rPr>
              <a:t>acquis qui interviendra, au </a:t>
            </a:r>
            <a:r>
              <a:rPr lang="fr-FR" sz="1000" dirty="0">
                <a:solidFill>
                  <a:schemeClr val="tx2"/>
                </a:solidFill>
              </a:rPr>
              <a:t>plus tard, en 2033.</a:t>
            </a:r>
          </a:p>
        </p:txBody>
      </p:sp>
      <p:cxnSp>
        <p:nvCxnSpPr>
          <p:cNvPr id="7" name="Connecteur droit avec flèche 6"/>
          <p:cNvCxnSpPr/>
          <p:nvPr/>
        </p:nvCxnSpPr>
        <p:spPr>
          <a:xfrm flipV="1">
            <a:off x="0" y="2771775"/>
            <a:ext cx="1328738" cy="7426"/>
          </a:xfrm>
          <a:prstGeom prst="straightConnector1">
            <a:avLst/>
          </a:prstGeom>
          <a:ln w="76200">
            <a:solidFill>
              <a:schemeClr val="tx2"/>
            </a:solidFill>
            <a:prstDash val="soli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à coins arrondis 16"/>
          <p:cNvSpPr/>
          <p:nvPr/>
        </p:nvSpPr>
        <p:spPr>
          <a:xfrm>
            <a:off x="5426929" y="3453665"/>
            <a:ext cx="552389" cy="113413"/>
          </a:xfrm>
          <a:prstGeom prst="roundRect">
            <a:avLst>
              <a:gd name="adj" fmla="val 30025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700" b="1" dirty="0" smtClean="0">
                <a:solidFill>
                  <a:schemeClr val="tx2"/>
                </a:solidFill>
              </a:rPr>
              <a:t>À NOTER</a:t>
            </a:r>
            <a:endParaRPr lang="fr-FR" sz="700" b="1" dirty="0">
              <a:solidFill>
                <a:schemeClr val="tx2"/>
              </a:solidFill>
            </a:endParaRPr>
          </a:p>
        </p:txBody>
      </p:sp>
      <p:sp>
        <p:nvSpPr>
          <p:cNvPr id="21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22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24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7001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5163927" y="1938142"/>
            <a:ext cx="3725530" cy="2637827"/>
          </a:xfrm>
          <a:prstGeom prst="roundRect">
            <a:avLst>
              <a:gd name="adj" fmla="val 3152"/>
            </a:avLst>
          </a:prstGeom>
          <a:solidFill>
            <a:srgbClr val="000091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90000"/>
                    <a:lumOff val="10000"/>
                  </a:schemeClr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+mn-cs"/>
                <a:sym typeface="Wingdings" panose="05000000000000000000" pitchFamily="2" charset="2"/>
              </a:rPr>
              <a:t>→</a:t>
            </a:r>
            <a:r>
              <a:rPr kumimoji="0" lang="fr-FR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90000"/>
                    <a:lumOff val="10000"/>
                  </a:schemeClr>
                </a:solidFill>
                <a:effectLst/>
                <a:uLnTx/>
                <a:uFillTx/>
                <a:latin typeface="Marianne"/>
                <a:ea typeface="+mn-ea"/>
                <a:cs typeface="+mn-cs"/>
                <a:sym typeface="Wingdings" panose="05000000000000000000" pitchFamily="2" charset="2"/>
              </a:rPr>
              <a:t> Un</a:t>
            </a:r>
            <a:r>
              <a:rPr kumimoji="0" lang="fr-FR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90000"/>
                    <a:lumOff val="10000"/>
                  </a:schemeClr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90000"/>
                    <a:lumOff val="10000"/>
                  </a:schemeClr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seul zonage : 1 </a:t>
            </a:r>
            <a:r>
              <a:rPr kumimoji="0" lang="fr-FR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90000"/>
                    <a:lumOff val="10000"/>
                  </a:schemeClr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584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90000"/>
                    <a:lumOff val="10000"/>
                  </a:schemeClr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quartiers prioritaires de la politique de la ville.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Le</a:t>
            </a:r>
            <a:r>
              <a:rPr kumimoji="0" lang="fr-FR" sz="1200" i="0" u="none" strike="noStrike" kern="1200" cap="none" spc="0" normalizeH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 </a:t>
            </a:r>
            <a:r>
              <a:rPr kumimoji="0" lang="fr-FR" sz="1200" b="1" i="0" u="none" strike="noStrike" kern="1200" cap="none" spc="0" normalizeH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zonage des quartiers prioritaires </a:t>
            </a:r>
            <a:r>
              <a:rPr kumimoji="0" lang="fr-F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de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la politique </a:t>
            </a:r>
            <a:r>
              <a:rPr kumimoji="0" lang="fr-F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devient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le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zonage unique</a:t>
            </a:r>
            <a:b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</a:b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des aides fiscales aux </a:t>
            </a:r>
            <a:r>
              <a:rPr kumimoji="0" lang="fr-F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entreprises</a:t>
            </a:r>
            <a:r>
              <a:rPr kumimoji="0" lang="fr-F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.</a:t>
            </a:r>
          </a:p>
          <a:p>
            <a:pPr lvl="0" defTabSz="914400">
              <a:spcAft>
                <a:spcPts val="600"/>
              </a:spcAft>
              <a:defRPr/>
            </a:pPr>
            <a:r>
              <a:rPr lang="fr-FR" sz="1400" b="1" dirty="0">
                <a:solidFill>
                  <a:schemeClr val="accent1">
                    <a:lumMod val="90000"/>
                    <a:lumOff val="10000"/>
                  </a:schemeClr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→</a:t>
            </a:r>
            <a:r>
              <a:rPr lang="fr-FR" sz="14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Le Gouvernement </a:t>
            </a:r>
            <a:r>
              <a:rPr lang="fr-FR" sz="14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fait</a:t>
            </a:r>
            <a:br>
              <a:rPr lang="fr-FR" sz="14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</a:br>
            <a:r>
              <a:rPr lang="fr-FR" sz="14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le choix de </a:t>
            </a:r>
            <a:r>
              <a:rPr lang="fr-FR" sz="14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la simplification.</a:t>
            </a:r>
            <a:endParaRPr lang="fr-FR" sz="14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lvl="0" defTabSz="914400">
              <a:spcAft>
                <a:spcPts val="1200"/>
              </a:spcAft>
              <a:defRPr/>
            </a:pPr>
            <a:r>
              <a:rPr lang="fr-FR" sz="1200" dirty="0">
                <a:solidFill>
                  <a:srgbClr val="000091"/>
                </a:solidFill>
              </a:rPr>
              <a:t>Les entreprises doivent </a:t>
            </a:r>
            <a:r>
              <a:rPr lang="fr-FR" sz="1200" dirty="0" smtClean="0">
                <a:solidFill>
                  <a:srgbClr val="000091"/>
                </a:solidFill>
              </a:rPr>
              <a:t>désormais répondre </a:t>
            </a:r>
            <a:r>
              <a:rPr lang="fr-FR" sz="1200" dirty="0">
                <a:solidFill>
                  <a:srgbClr val="000091"/>
                </a:solidFill>
              </a:rPr>
              <a:t>aux </a:t>
            </a:r>
            <a:r>
              <a:rPr lang="fr-FR" sz="1200" b="1" dirty="0">
                <a:solidFill>
                  <a:srgbClr val="000091"/>
                </a:solidFill>
              </a:rPr>
              <a:t>mêmes conditions </a:t>
            </a:r>
            <a:r>
              <a:rPr lang="fr-FR" sz="1200" dirty="0" smtClean="0">
                <a:solidFill>
                  <a:srgbClr val="000091"/>
                </a:solidFill>
              </a:rPr>
              <a:t>pour bénéficier</a:t>
            </a:r>
            <a:br>
              <a:rPr lang="fr-FR" sz="1200" dirty="0" smtClean="0">
                <a:solidFill>
                  <a:srgbClr val="000091"/>
                </a:solidFill>
              </a:rPr>
            </a:br>
            <a:r>
              <a:rPr lang="fr-FR" sz="1200" dirty="0" smtClean="0">
                <a:solidFill>
                  <a:srgbClr val="000091"/>
                </a:solidFill>
              </a:rPr>
              <a:t>d’une</a:t>
            </a:r>
            <a:r>
              <a:rPr lang="fr-FR" sz="1200" b="1" dirty="0" smtClean="0">
                <a:solidFill>
                  <a:srgbClr val="000091"/>
                </a:solidFill>
              </a:rPr>
              <a:t> </a:t>
            </a:r>
            <a:r>
              <a:rPr lang="fr-FR" sz="1200" b="1" dirty="0">
                <a:solidFill>
                  <a:srgbClr val="000091"/>
                </a:solidFill>
              </a:rPr>
              <a:t>exonération </a:t>
            </a:r>
            <a:r>
              <a:rPr lang="fr-FR" sz="1200" b="1" dirty="0" smtClean="0">
                <a:solidFill>
                  <a:srgbClr val="000091"/>
                </a:solidFill>
              </a:rPr>
              <a:t>d’impôt sur </a:t>
            </a:r>
            <a:r>
              <a:rPr lang="fr-FR" sz="1200" b="1" dirty="0">
                <a:solidFill>
                  <a:srgbClr val="000091"/>
                </a:solidFill>
              </a:rPr>
              <a:t>les </a:t>
            </a:r>
            <a:r>
              <a:rPr lang="fr-FR" sz="1200" b="1" dirty="0" smtClean="0">
                <a:solidFill>
                  <a:srgbClr val="000091"/>
                </a:solidFill>
              </a:rPr>
              <a:t>bénéfices</a:t>
            </a:r>
            <a:r>
              <a:rPr lang="fr-FR" sz="1200" b="1" dirty="0">
                <a:solidFill>
                  <a:srgbClr val="000091"/>
                </a:solidFill>
              </a:rPr>
              <a:t/>
            </a:r>
            <a:br>
              <a:rPr lang="fr-FR" sz="1200" b="1" dirty="0">
                <a:solidFill>
                  <a:srgbClr val="000091"/>
                </a:solidFill>
              </a:rPr>
            </a:br>
            <a:r>
              <a:rPr lang="fr-FR" sz="1200" dirty="0" smtClean="0">
                <a:solidFill>
                  <a:srgbClr val="000091"/>
                </a:solidFill>
              </a:rPr>
              <a:t>e</a:t>
            </a:r>
            <a:r>
              <a:rPr lang="fr-FR" sz="1200" i="1" dirty="0" smtClean="0">
                <a:solidFill>
                  <a:srgbClr val="000091"/>
                </a:solidFill>
              </a:rPr>
              <a:t>t</a:t>
            </a:r>
            <a:r>
              <a:rPr lang="fr-FR" sz="1200" dirty="0" smtClean="0">
                <a:solidFill>
                  <a:srgbClr val="000091"/>
                </a:solidFill>
              </a:rPr>
              <a:t> </a:t>
            </a:r>
            <a:r>
              <a:rPr lang="fr-FR" sz="1200" dirty="0">
                <a:solidFill>
                  <a:srgbClr val="000091"/>
                </a:solidFill>
              </a:rPr>
              <a:t>des </a:t>
            </a:r>
            <a:r>
              <a:rPr lang="fr-FR" sz="1200" b="1" dirty="0">
                <a:solidFill>
                  <a:srgbClr val="000091"/>
                </a:solidFill>
              </a:rPr>
              <a:t>exonérations d’impôts locaux</a:t>
            </a:r>
            <a:r>
              <a:rPr lang="fr-FR" sz="1200" dirty="0">
                <a:solidFill>
                  <a:srgbClr val="000091"/>
                </a:solidFill>
              </a:rPr>
              <a:t>.</a:t>
            </a:r>
            <a:endParaRPr lang="fr-FR" sz="1000" dirty="0">
              <a:solidFill>
                <a:srgbClr val="00009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91"/>
              </a:solidFill>
              <a:effectLst/>
              <a:uLnTx/>
              <a:uFillTx/>
              <a:latin typeface="Marianne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17921" y="1004236"/>
            <a:ext cx="8571536" cy="76944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Depuis le 1</a:t>
            </a:r>
            <a:r>
              <a:rPr kumimoji="0" lang="fr-FR" sz="2200" b="1" i="0" u="none" strike="noStrike" kern="1200" cap="none" spc="0" normalizeH="0" baseline="3000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er</a:t>
            </a:r>
            <a:r>
              <a:rPr kumimoji="0" lang="fr-FR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 janvier 2026,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1 zonage unique : </a:t>
            </a:r>
            <a:r>
              <a:rPr kumimoji="0" lang="fr-FR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plus simple, plus cohérent et plus lisible 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rgbClr val="000091"/>
              </a:solidFill>
              <a:effectLst/>
              <a:uLnTx/>
              <a:uFillTx/>
              <a:latin typeface="Marianne"/>
              <a:ea typeface="+mn-ea"/>
              <a:cs typeface="+mn-cs"/>
            </a:endParaRPr>
          </a:p>
        </p:txBody>
      </p:sp>
      <p:sp>
        <p:nvSpPr>
          <p:cNvPr id="21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96E375-0D74-46CB-9D09-858ACF5298C5}" type="datetime1">
              <a:rPr kumimoji="0" lang="fr-FR" sz="750" b="0" i="0" u="none" strike="noStrike" kern="1200" cap="all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16/04/2026</a:t>
            </a:fld>
            <a:endParaRPr kumimoji="0" lang="fr-FR" sz="750" b="0" i="0" u="none" strike="noStrike" kern="1200" cap="all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rianne" panose="02000000000000000000" pitchFamily="50" charset="0"/>
              <a:ea typeface="+mn-ea"/>
              <a:cs typeface="+mn-cs"/>
            </a:endParaRPr>
          </a:p>
        </p:txBody>
      </p:sp>
      <p:sp>
        <p:nvSpPr>
          <p:cNvPr id="22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Nouvelles mesures d’incitation fiscale en faveur du développement des activités économiques</a:t>
            </a:r>
            <a:br>
              <a:rPr kumimoji="0" lang="fr-FR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</a:br>
            <a:r>
              <a:rPr kumimoji="0" lang="fr-FR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dans les quartiers prioritaires de la politique de la ville</a:t>
            </a:r>
          </a:p>
        </p:txBody>
      </p:sp>
      <p:sp>
        <p:nvSpPr>
          <p:cNvPr id="24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122C9-A0B9-462F-8757-0847AD287B63}" type="slidenum">
              <a:rPr kumimoji="0" lang="fr-FR" sz="75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7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rianne" panose="02000000000000000000" pitchFamily="50" charset="0"/>
              <a:ea typeface="+mn-ea"/>
              <a:cs typeface="+mn-cs"/>
            </a:endParaRPr>
          </a:p>
        </p:txBody>
      </p:sp>
      <p:sp>
        <p:nvSpPr>
          <p:cNvPr id="23" name="Rectangle à coins arrondis 22"/>
          <p:cNvSpPr/>
          <p:nvPr/>
        </p:nvSpPr>
        <p:spPr>
          <a:xfrm>
            <a:off x="319602" y="1846875"/>
            <a:ext cx="2045283" cy="972000"/>
          </a:xfrm>
          <a:prstGeom prst="roundRect">
            <a:avLst>
              <a:gd name="adj" fmla="val 11922"/>
            </a:avLst>
          </a:prstGeom>
          <a:solidFill>
            <a:srgbClr val="000091">
              <a:alpha val="10196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bIns="21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Zone franche urbaine-territoire entrepreneur </a:t>
            </a:r>
            <a:r>
              <a:rPr kumimoji="0" lang="fr-F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(ZFU-TE)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↓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Exonération d’</a:t>
            </a: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impôt</a:t>
            </a:r>
            <a:b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</a:b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sur </a:t>
            </a: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les bénéfices 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(IR ou IS</a:t>
            </a:r>
            <a:r>
              <a:rPr kumimoji="0" lang="fr-F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)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E1000F"/>
              </a:solidFill>
              <a:effectLst/>
              <a:uLnTx/>
              <a:uFillTx/>
              <a:latin typeface="Marianne"/>
              <a:ea typeface="+mn-ea"/>
              <a:cs typeface="+mn-cs"/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319602" y="3717537"/>
            <a:ext cx="2045283" cy="972000"/>
          </a:xfrm>
          <a:prstGeom prst="roundRect">
            <a:avLst>
              <a:gd name="adj" fmla="val 11922"/>
            </a:avLst>
          </a:prstGeom>
          <a:solidFill>
            <a:srgbClr val="000091">
              <a:alpha val="10196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bIns="21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Quartiers prioritaires</a:t>
            </a:r>
            <a:b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</a:b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de la politique de la ville </a:t>
            </a:r>
            <a:r>
              <a:rPr kumimoji="0" lang="fr-FR" sz="100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(QPV)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↓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Exonérations d’</a:t>
            </a: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impôts locaux</a:t>
            </a:r>
            <a:r>
              <a:rPr kumimoji="0" lang="fr-FR" sz="1000" b="1" i="0" u="none" strike="noStrike" kern="1200" cap="none" spc="0" normalizeH="0" noProof="0" dirty="0" smtClean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 </a:t>
            </a:r>
            <a:r>
              <a:rPr kumimoji="0" lang="fr-F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(TFPB 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et CFE) </a:t>
            </a:r>
          </a:p>
        </p:txBody>
      </p:sp>
      <p:cxnSp>
        <p:nvCxnSpPr>
          <p:cNvPr id="27" name="Connecteur droit 26"/>
          <p:cNvCxnSpPr>
            <a:stCxn id="23" idx="2"/>
            <a:endCxn id="25" idx="0"/>
          </p:cNvCxnSpPr>
          <p:nvPr/>
        </p:nvCxnSpPr>
        <p:spPr>
          <a:xfrm>
            <a:off x="1342244" y="2818875"/>
            <a:ext cx="0" cy="898662"/>
          </a:xfrm>
          <a:prstGeom prst="line">
            <a:avLst/>
          </a:prstGeom>
          <a:ln w="127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à coins arrondis 28"/>
          <p:cNvSpPr/>
          <p:nvPr/>
        </p:nvSpPr>
        <p:spPr>
          <a:xfrm>
            <a:off x="2555582" y="2079867"/>
            <a:ext cx="2026035" cy="506017"/>
          </a:xfrm>
          <a:prstGeom prst="roundRect">
            <a:avLst>
              <a:gd name="adj" fmla="val 11922"/>
            </a:avLst>
          </a:prstGeom>
          <a:solidFill>
            <a:srgbClr val="00009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bIns="21600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Zones </a:t>
            </a: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mises</a:t>
            </a:r>
            <a:b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</a:b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en </a:t>
            </a: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extinction à compter du 31 décembre 2025</a:t>
            </a:r>
          </a:p>
        </p:txBody>
      </p:sp>
      <p:sp>
        <p:nvSpPr>
          <p:cNvPr id="30" name="Rectangle à coins arrondis 29"/>
          <p:cNvSpPr/>
          <p:nvPr/>
        </p:nvSpPr>
        <p:spPr>
          <a:xfrm>
            <a:off x="2555582" y="3950529"/>
            <a:ext cx="2026035" cy="506017"/>
          </a:xfrm>
          <a:prstGeom prst="roundRect">
            <a:avLst>
              <a:gd name="adj" fmla="val 11922"/>
            </a:avLst>
          </a:prstGeom>
          <a:solidFill>
            <a:srgbClr val="00009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bIns="21600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Régime </a:t>
            </a: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fiscal </a:t>
            </a: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réformé</a:t>
            </a:r>
            <a:b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</a:b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à </a:t>
            </a: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partir du </a:t>
            </a: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1</a:t>
            </a:r>
            <a:r>
              <a:rPr kumimoji="0" lang="fr-FR" sz="1000" b="1" i="0" u="none" strike="noStrike" kern="120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er</a:t>
            </a: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 </a:t>
            </a: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janvier 2026</a:t>
            </a:r>
          </a:p>
        </p:txBody>
      </p:sp>
      <p:sp>
        <p:nvSpPr>
          <p:cNvPr id="34" name="Parenthèse fermante 33"/>
          <p:cNvSpPr/>
          <p:nvPr/>
        </p:nvSpPr>
        <p:spPr>
          <a:xfrm>
            <a:off x="4581618" y="2311801"/>
            <a:ext cx="168376" cy="1891736"/>
          </a:xfrm>
          <a:prstGeom prst="rightBracket">
            <a:avLst>
              <a:gd name="adj" fmla="val 97948"/>
            </a:avLst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rianne"/>
              <a:ea typeface="+mn-ea"/>
              <a:cs typeface="+mn-cs"/>
            </a:endParaRPr>
          </a:p>
        </p:txBody>
      </p:sp>
      <p:cxnSp>
        <p:nvCxnSpPr>
          <p:cNvPr id="36" name="Connecteur droit 35"/>
          <p:cNvCxnSpPr>
            <a:stCxn id="23" idx="3"/>
            <a:endCxn id="29" idx="1"/>
          </p:cNvCxnSpPr>
          <p:nvPr/>
        </p:nvCxnSpPr>
        <p:spPr>
          <a:xfrm>
            <a:off x="2364885" y="2332875"/>
            <a:ext cx="190697" cy="1"/>
          </a:xfrm>
          <a:prstGeom prst="line">
            <a:avLst/>
          </a:prstGeom>
          <a:ln w="571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>
            <a:stCxn id="25" idx="3"/>
            <a:endCxn id="30" idx="1"/>
          </p:cNvCxnSpPr>
          <p:nvPr/>
        </p:nvCxnSpPr>
        <p:spPr>
          <a:xfrm>
            <a:off x="2364885" y="4203537"/>
            <a:ext cx="190697" cy="1"/>
          </a:xfrm>
          <a:prstGeom prst="line">
            <a:avLst/>
          </a:prstGeom>
          <a:ln w="571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à coins arrondis 41"/>
          <p:cNvSpPr/>
          <p:nvPr/>
        </p:nvSpPr>
        <p:spPr>
          <a:xfrm>
            <a:off x="2555582" y="2638251"/>
            <a:ext cx="2026036" cy="506017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bIns="21600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Les entreprises entrées</a:t>
            </a:r>
            <a:b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</a:br>
            <a: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dans le dispositif ZFU-TE</a:t>
            </a:r>
            <a:b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</a:br>
            <a: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avant le 31 décembre 2025</a:t>
            </a:r>
            <a:b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</a:br>
            <a: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1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maintiennent leurs droits acquis.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rgbClr val="000091"/>
              </a:solidFill>
              <a:effectLst/>
              <a:uLnTx/>
              <a:uFillTx/>
              <a:latin typeface="Marianne"/>
              <a:ea typeface="+mn-ea"/>
              <a:cs typeface="+mn-cs"/>
            </a:endParaRPr>
          </a:p>
        </p:txBody>
      </p:sp>
      <p:cxnSp>
        <p:nvCxnSpPr>
          <p:cNvPr id="78" name="Connecteur droit avec flèche 77"/>
          <p:cNvCxnSpPr>
            <a:stCxn id="34" idx="2"/>
            <a:endCxn id="3" idx="1"/>
          </p:cNvCxnSpPr>
          <p:nvPr/>
        </p:nvCxnSpPr>
        <p:spPr>
          <a:xfrm flipV="1">
            <a:off x="4749994" y="3257056"/>
            <a:ext cx="413933" cy="613"/>
          </a:xfrm>
          <a:prstGeom prst="straightConnector1">
            <a:avLst/>
          </a:prstGeom>
          <a:ln w="76200">
            <a:solidFill>
              <a:schemeClr val="tx2"/>
            </a:solidFill>
            <a:headEnd type="none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Image 8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991" y="2709278"/>
            <a:ext cx="1015963" cy="1015963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523509" y="1576011"/>
            <a:ext cx="1957753" cy="11388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rianne"/>
              <a:ea typeface="+mn-ea"/>
              <a:cs typeface="+mn-cs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1950075" y="178151"/>
            <a:ext cx="5637350" cy="280928"/>
          </a:xfrm>
          <a:prstGeom prst="roundRect">
            <a:avLst/>
          </a:prstGeom>
          <a:solidFill>
            <a:schemeClr val="tx1">
              <a:alpha val="10196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 smtClean="0">
                <a:latin typeface="+mj-lt"/>
                <a:cs typeface="Arial" panose="020B0604020202020204" pitchFamily="34" charset="0"/>
              </a:rPr>
              <a:t>Page masquée par défaut : synthèse en une page.</a:t>
            </a:r>
            <a:endParaRPr lang="fr-FR" sz="1050" b="1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55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à coins arrondis 14"/>
          <p:cNvSpPr/>
          <p:nvPr/>
        </p:nvSpPr>
        <p:spPr>
          <a:xfrm>
            <a:off x="319602" y="2088197"/>
            <a:ext cx="3472879" cy="1231003"/>
          </a:xfrm>
          <a:prstGeom prst="roundRect">
            <a:avLst>
              <a:gd name="adj" fmla="val 4494"/>
            </a:avLst>
          </a:prstGeom>
          <a:solidFill>
            <a:srgbClr val="000091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4000" b="1" i="1" dirty="0" smtClean="0">
                <a:solidFill>
                  <a:srgbClr val="000091"/>
                </a:solidFill>
                <a:latin typeface="Spectral" panose="02020502060000000000" pitchFamily="18" charset="0"/>
                <a:sym typeface="Wingdings" panose="05000000000000000000" pitchFamily="2" charset="2"/>
              </a:rPr>
              <a:t>123</a:t>
            </a:r>
            <a:endParaRPr lang="fr-FR" sz="2800" b="1" i="1" dirty="0" smtClean="0">
              <a:solidFill>
                <a:srgbClr val="000091"/>
              </a:solidFill>
              <a:latin typeface="Spectral" panose="02020502060000000000" pitchFamily="18" charset="0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r>
              <a:rPr lang="fr-FR" sz="1400" b="1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quartiers prioritaires</a:t>
            </a:r>
            <a:br>
              <a:rPr lang="fr-FR" sz="1400" b="1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</a:br>
            <a:r>
              <a:rPr lang="fr-FR" sz="1400" b="1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de la politique de la ville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9602" y="1184415"/>
            <a:ext cx="8464398" cy="70788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fr-FR" sz="2000" b="1" dirty="0" smtClean="0">
                <a:solidFill>
                  <a:schemeClr val="tx2"/>
                </a:solidFill>
              </a:rPr>
              <a:t>En [</a:t>
            </a:r>
            <a:r>
              <a:rPr lang="fr-FR" sz="2000" b="1" i="1" spc="-100" dirty="0" smtClean="0">
                <a:solidFill>
                  <a:schemeClr val="tx2"/>
                </a:solidFill>
                <a:uFill>
                  <a:solidFill>
                    <a:schemeClr val="tx2"/>
                  </a:solidFill>
                </a:uFill>
                <a:latin typeface="Spectral" panose="02020502060000000000" pitchFamily="18" charset="0"/>
              </a:rPr>
              <a:t>nom_territoire</a:t>
            </a:r>
            <a:r>
              <a:rPr lang="fr-FR" sz="2000" b="1" dirty="0" smtClean="0">
                <a:solidFill>
                  <a:schemeClr val="tx2"/>
                </a:solidFill>
              </a:rPr>
              <a:t>], la réforme se déploie au plus près</a:t>
            </a:r>
          </a:p>
          <a:p>
            <a:r>
              <a:rPr lang="fr-FR" sz="2000" b="1" dirty="0" smtClean="0">
                <a:solidFill>
                  <a:schemeClr val="tx2"/>
                </a:solidFill>
              </a:rPr>
              <a:t>du potentiel économique des quartiers urbains</a:t>
            </a:r>
            <a:endParaRPr lang="fr-FR" sz="2000" dirty="0">
              <a:solidFill>
                <a:schemeClr val="tx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7140" y="1403150"/>
            <a:ext cx="1464941" cy="106408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579" y="2274531"/>
            <a:ext cx="1015963" cy="101596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19540" y="1719786"/>
            <a:ext cx="2717479" cy="106408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à coins arrondis 16"/>
          <p:cNvSpPr/>
          <p:nvPr/>
        </p:nvSpPr>
        <p:spPr>
          <a:xfrm>
            <a:off x="319602" y="3435848"/>
            <a:ext cx="3472879" cy="1231003"/>
          </a:xfrm>
          <a:prstGeom prst="roundRect">
            <a:avLst>
              <a:gd name="adj" fmla="val 4494"/>
            </a:avLst>
          </a:prstGeom>
          <a:solidFill>
            <a:srgbClr val="000091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4000" b="1" i="1" dirty="0" smtClean="0">
                <a:solidFill>
                  <a:srgbClr val="000091"/>
                </a:solidFill>
                <a:latin typeface="Spectral" panose="02020502060000000000" pitchFamily="18" charset="0"/>
                <a:sym typeface="Wingdings" panose="05000000000000000000" pitchFamily="2" charset="2"/>
              </a:rPr>
              <a:t>123</a:t>
            </a:r>
            <a:r>
              <a:rPr lang="fr-FR" sz="2800" b="1" i="1" dirty="0" smtClean="0">
                <a:solidFill>
                  <a:srgbClr val="000091"/>
                </a:solidFill>
                <a:latin typeface="Spectral" panose="02020502060000000000" pitchFamily="18" charset="0"/>
                <a:sym typeface="Wingdings" panose="05000000000000000000" pitchFamily="2" charset="2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fr-FR" sz="1400" b="1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[</a:t>
            </a:r>
            <a:r>
              <a:rPr lang="fr-FR" sz="1400" b="1" dirty="0" err="1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intitulté_indicateur</a:t>
            </a:r>
            <a:r>
              <a:rPr lang="fr-FR" sz="1400" b="1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]</a:t>
            </a:r>
            <a:endParaRPr lang="fr-FR" sz="1400" dirty="0">
              <a:solidFill>
                <a:srgbClr val="000091"/>
              </a:solidFill>
            </a:endParaRPr>
          </a:p>
        </p:txBody>
      </p:sp>
      <p:sp>
        <p:nvSpPr>
          <p:cNvPr id="19" name="Rectangle à coins arrondis 18"/>
          <p:cNvSpPr/>
          <p:nvPr/>
        </p:nvSpPr>
        <p:spPr>
          <a:xfrm>
            <a:off x="4211442" y="2079471"/>
            <a:ext cx="2076798" cy="2587380"/>
          </a:xfrm>
          <a:prstGeom prst="roundRect">
            <a:avLst>
              <a:gd name="adj" fmla="val 4494"/>
            </a:avLst>
          </a:prstGeom>
          <a:solidFill>
            <a:srgbClr val="000091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4000" b="1" i="1" dirty="0" smtClean="0">
                <a:solidFill>
                  <a:srgbClr val="000091"/>
                </a:solidFill>
                <a:latin typeface="Spectral" panose="02020502060000000000" pitchFamily="18" charset="0"/>
                <a:sym typeface="Wingdings" panose="05000000000000000000" pitchFamily="2" charset="2"/>
              </a:rPr>
              <a:t>123</a:t>
            </a:r>
            <a:r>
              <a:rPr lang="fr-FR" sz="2800" b="1" i="1" dirty="0" smtClean="0">
                <a:solidFill>
                  <a:srgbClr val="000091"/>
                </a:solidFill>
                <a:latin typeface="Spectral" panose="02020502060000000000" pitchFamily="18" charset="0"/>
                <a:sym typeface="Wingdings" panose="05000000000000000000" pitchFamily="2" charset="2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fr-FR" sz="1400" b="1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cités de l’emploi</a:t>
            </a:r>
          </a:p>
          <a:p>
            <a:pPr>
              <a:spcAft>
                <a:spcPts val="600"/>
              </a:spcAft>
            </a:pPr>
            <a:r>
              <a:rPr lang="fr-FR" sz="1200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dans les communes de :</a:t>
            </a:r>
          </a:p>
          <a:p>
            <a:pPr>
              <a:spcAft>
                <a:spcPts val="600"/>
              </a:spcAft>
            </a:pPr>
            <a:r>
              <a:rPr lang="fr-FR" sz="1200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- Abc</a:t>
            </a:r>
          </a:p>
          <a:p>
            <a:pPr>
              <a:spcAft>
                <a:spcPts val="600"/>
              </a:spcAft>
            </a:pPr>
            <a:r>
              <a:rPr lang="fr-FR" sz="1200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- Abc</a:t>
            </a:r>
          </a:p>
          <a:p>
            <a:pPr>
              <a:spcAft>
                <a:spcPts val="600"/>
              </a:spcAft>
            </a:pPr>
            <a:r>
              <a:rPr lang="fr-FR" sz="1200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- Abc</a:t>
            </a:r>
          </a:p>
          <a:p>
            <a:pPr>
              <a:spcAft>
                <a:spcPts val="600"/>
              </a:spcAft>
            </a:pPr>
            <a:endParaRPr lang="fr-FR" sz="1400" dirty="0">
              <a:solidFill>
                <a:srgbClr val="000091"/>
              </a:solidFill>
            </a:endParaRPr>
          </a:p>
        </p:txBody>
      </p:sp>
      <p:sp>
        <p:nvSpPr>
          <p:cNvPr id="20" name="Rectangle à coins arrondis 19"/>
          <p:cNvSpPr/>
          <p:nvPr/>
        </p:nvSpPr>
        <p:spPr>
          <a:xfrm>
            <a:off x="6707202" y="2044210"/>
            <a:ext cx="2076798" cy="2587380"/>
          </a:xfrm>
          <a:prstGeom prst="roundRect">
            <a:avLst>
              <a:gd name="adj" fmla="val 4494"/>
            </a:avLst>
          </a:prstGeom>
          <a:solidFill>
            <a:srgbClr val="000091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4000" b="1" i="1" dirty="0" smtClean="0">
                <a:solidFill>
                  <a:srgbClr val="000091"/>
                </a:solidFill>
                <a:latin typeface="Spectral" panose="02020502060000000000" pitchFamily="18" charset="0"/>
                <a:sym typeface="Wingdings" panose="05000000000000000000" pitchFamily="2" charset="2"/>
              </a:rPr>
              <a:t>123</a:t>
            </a:r>
            <a:r>
              <a:rPr lang="fr-FR" sz="2800" b="1" i="1" dirty="0" smtClean="0">
                <a:solidFill>
                  <a:srgbClr val="000091"/>
                </a:solidFill>
                <a:latin typeface="Spectral" panose="02020502060000000000" pitchFamily="18" charset="0"/>
                <a:sym typeface="Wingdings" panose="05000000000000000000" pitchFamily="2" charset="2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fr-FR" sz="1400" b="1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[</a:t>
            </a:r>
            <a:r>
              <a:rPr lang="fr-FR" sz="1400" b="1" dirty="0" err="1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intitulté_indicateur</a:t>
            </a:r>
            <a:r>
              <a:rPr lang="fr-FR" sz="1400" b="1" dirty="0" smtClean="0">
                <a:solidFill>
                  <a:srgbClr val="000091"/>
                </a:solidFill>
                <a:latin typeface="Marianne" panose="02000000000000000000" pitchFamily="50" charset="0"/>
                <a:sym typeface="Wingdings" panose="05000000000000000000" pitchFamily="2" charset="2"/>
              </a:rPr>
              <a:t>]</a:t>
            </a:r>
            <a:endParaRPr lang="fr-FR" sz="1400" dirty="0">
              <a:solidFill>
                <a:srgbClr val="000091"/>
              </a:solidFill>
            </a:endParaRPr>
          </a:p>
        </p:txBody>
      </p:sp>
      <p:sp>
        <p:nvSpPr>
          <p:cNvPr id="12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8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21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1733125" y="288440"/>
            <a:ext cx="5637351" cy="255389"/>
          </a:xfrm>
          <a:prstGeom prst="roundRect">
            <a:avLst/>
          </a:prstGeom>
          <a:solidFill>
            <a:srgbClr val="E1000F">
              <a:alpha val="10196"/>
            </a:srgb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900" b="1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Note : cette fiche </a:t>
            </a:r>
            <a:r>
              <a:rPr lang="fr-FR" sz="900" b="1" dirty="0" smtClean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de territoire peut </a:t>
            </a:r>
            <a:r>
              <a:rPr lang="fr-FR" sz="900" b="1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être actualisée à partir des données de l’ANCT </a:t>
            </a:r>
            <a:r>
              <a:rPr lang="fr-FR" sz="900" b="1" dirty="0" smtClean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(dont </a:t>
            </a:r>
            <a:r>
              <a:rPr lang="fr-FR" sz="900" b="1" dirty="0" err="1" smtClean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Deveco</a:t>
            </a:r>
            <a:r>
              <a:rPr lang="fr-FR" sz="900" b="1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1942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+mj-lt"/>
              <a:buAutoNum type="arabicPeriod" startAt="3"/>
            </a:pPr>
            <a:r>
              <a:rPr lang="fr-FR" dirty="0" smtClean="0"/>
              <a:t>Des allègements fiscaux</a:t>
            </a:r>
            <a:br>
              <a:rPr lang="fr-FR" dirty="0" smtClean="0"/>
            </a:br>
            <a:r>
              <a:rPr lang="fr-FR" dirty="0" smtClean="0"/>
              <a:t>renforcés et simplifiés</a:t>
            </a:r>
            <a:br>
              <a:rPr lang="fr-FR" dirty="0" smtClean="0"/>
            </a:br>
            <a:r>
              <a:rPr lang="fr-FR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pour les entreprises</a:t>
            </a:r>
            <a:r>
              <a:rPr lang="fr-FR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de proximité</a:t>
            </a:r>
            <a:endParaRPr lang="fr-FR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>
                <a:solidFill>
                  <a:schemeClr val="bg1"/>
                </a:solidFill>
              </a:rPr>
              <a:pPr algn="r"/>
              <a:t>16/04/2026</a:t>
            </a:fld>
            <a:endParaRPr lang="fr-FR" cap="all" dirty="0">
              <a:solidFill>
                <a:schemeClr val="bg1"/>
              </a:solidFill>
            </a:endParaRP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>
                <a:solidFill>
                  <a:schemeClr val="bg1"/>
                </a:solidFill>
              </a:rPr>
              <a:pPr/>
              <a:t>12</a:t>
            </a:fld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59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8758" y="937261"/>
            <a:ext cx="8855242" cy="37947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>
          <a:xfrm>
            <a:off x="792911" y="2642766"/>
            <a:ext cx="6662057" cy="951149"/>
          </a:xfrm>
        </p:spPr>
        <p:txBody>
          <a:bodyPr anchor="ctr"/>
          <a:lstStyle/>
          <a:p>
            <a:r>
              <a:rPr lang="fr-FR" sz="3600" i="1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  <a:t>Qui est concerné ?</a:t>
            </a:r>
            <a:endParaRPr lang="fr-FR" sz="3600" b="0" i="1" cap="none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792911" y="2466003"/>
            <a:ext cx="948777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000" dirty="0" smtClean="0">
                <a:solidFill>
                  <a:srgbClr val="000091"/>
                </a:solidFill>
              </a:rPr>
              <a:t>PARTIE 3.1</a:t>
            </a:r>
            <a:endParaRPr lang="fr-FR" sz="1000" dirty="0">
              <a:solidFill>
                <a:srgbClr val="000091"/>
              </a:solidFill>
            </a:endParaRPr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792911" y="1366865"/>
            <a:ext cx="192881" cy="166687"/>
          </a:xfrm>
          <a:solidFill>
            <a:srgbClr val="000091"/>
          </a:solidFill>
          <a:ln w="25400" cap="rnd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/>
            <a:r>
              <a:rPr lang="fr-FR" sz="100" b="1" dirty="0" smtClean="0">
                <a:solidFill>
                  <a:schemeClr val="bg1"/>
                </a:solidFill>
              </a:rPr>
              <a:t> </a:t>
            </a:r>
            <a:endParaRPr lang="fr-FR" sz="100" b="1" dirty="0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792911" y="1333690"/>
            <a:ext cx="4982171" cy="408089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</p:spPr>
        <p:txBody>
          <a:bodyPr lIns="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1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3.</a:t>
            </a:r>
            <a:r>
              <a:rPr lang="fr-FR" sz="1100" dirty="0" smtClean="0">
                <a:solidFill>
                  <a:schemeClr val="bg1"/>
                </a:solidFill>
              </a:rPr>
              <a:t>  </a:t>
            </a:r>
            <a:r>
              <a:rPr lang="fr-FR" sz="1100" dirty="0" smtClean="0">
                <a:solidFill>
                  <a:schemeClr val="tx2"/>
                </a:solidFill>
              </a:rPr>
              <a:t>Des allègements fiscaux renforcés et simplifiés</a:t>
            </a:r>
          </a:p>
          <a:p>
            <a:r>
              <a:rPr lang="fr-FR" sz="1100" b="0" dirty="0">
                <a:solidFill>
                  <a:schemeClr val="tx2"/>
                </a:solidFill>
              </a:rPr>
              <a:t>p</a:t>
            </a:r>
            <a:r>
              <a:rPr lang="fr-FR" sz="1100" b="0" dirty="0" smtClean="0">
                <a:solidFill>
                  <a:schemeClr val="tx2"/>
                </a:solidFill>
              </a:rPr>
              <a:t>our les entreprises de proximité</a:t>
            </a:r>
            <a:endParaRPr lang="fr-FR" sz="1100" b="0" dirty="0">
              <a:solidFill>
                <a:schemeClr val="tx2"/>
              </a:solidFill>
            </a:endParaRPr>
          </a:p>
        </p:txBody>
      </p:sp>
      <p:cxnSp>
        <p:nvCxnSpPr>
          <p:cNvPr id="13" name="Connecteur droit 12"/>
          <p:cNvCxnSpPr/>
          <p:nvPr/>
        </p:nvCxnSpPr>
        <p:spPr>
          <a:xfrm flipV="1">
            <a:off x="792911" y="1741779"/>
            <a:ext cx="1488327" cy="3313"/>
          </a:xfrm>
          <a:prstGeom prst="line">
            <a:avLst/>
          </a:prstGeom>
          <a:ln>
            <a:solidFill>
              <a:srgbClr val="0000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20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mtClean="0"/>
              <a:t>Nouvelles mesures d’incitation fiscale en faveur du développement des activités économiques</a:t>
            </a:r>
            <a:br>
              <a:rPr lang="fr-FR" smtClean="0"/>
            </a:br>
            <a:r>
              <a:rPr lang="fr-FR" smtClean="0"/>
              <a:t>dans les quartiers prioritaires de la politique de la ville</a:t>
            </a:r>
            <a:endParaRPr lang="fr-FR" dirty="0" smtClean="0"/>
          </a:p>
        </p:txBody>
      </p:sp>
      <p:sp>
        <p:nvSpPr>
          <p:cNvPr id="21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13</a:t>
            </a:fld>
            <a:endParaRPr lang="fr-FR" dirty="0"/>
          </a:p>
        </p:txBody>
      </p:sp>
      <p:cxnSp>
        <p:nvCxnSpPr>
          <p:cNvPr id="22" name="Connecteur droit 21"/>
          <p:cNvCxnSpPr/>
          <p:nvPr/>
        </p:nvCxnSpPr>
        <p:spPr bwMode="gray">
          <a:xfrm>
            <a:off x="319602" y="4783500"/>
            <a:ext cx="8464398" cy="90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93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19602" y="2265573"/>
            <a:ext cx="2556471" cy="2348361"/>
          </a:xfrm>
          <a:prstGeom prst="roundRect">
            <a:avLst>
              <a:gd name="adj" fmla="val 2855"/>
            </a:avLst>
          </a:prstGeom>
          <a:solidFill>
            <a:schemeClr val="tx2">
              <a:alpha val="10000"/>
            </a:schemeClr>
          </a:solidFill>
        </p:spPr>
        <p:txBody>
          <a:bodyPr lIns="72000" tIns="72000" rIns="72000" bIns="72000" anchor="b"/>
          <a:lstStyle/>
          <a:p>
            <a:r>
              <a:rPr lang="fr-FR" sz="1600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Activité créée ou reprise dans un </a:t>
            </a:r>
            <a:r>
              <a:rPr lang="fr-FR" sz="1600" b="1" dirty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quartier </a:t>
            </a:r>
            <a:r>
              <a:rPr lang="fr-FR" sz="1600" b="1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prioritaire de la </a:t>
            </a:r>
            <a:r>
              <a:rPr lang="fr-FR" sz="1600" b="1" dirty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politique de la ville </a:t>
            </a:r>
            <a:r>
              <a:rPr lang="fr-FR" sz="1600" dirty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entre le 1</a:t>
            </a:r>
            <a:r>
              <a:rPr lang="fr-FR" sz="1600" baseline="30000" dirty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fr-FR" sz="1600" dirty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janvier 2026 et le 31 décembre </a:t>
            </a:r>
            <a:r>
              <a:rPr lang="fr-FR" sz="1600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2030</a:t>
            </a:r>
            <a:endParaRPr lang="fr-FR" sz="1600" dirty="0">
              <a:solidFill>
                <a:schemeClr val="tx2"/>
              </a:solidFill>
              <a:latin typeface="Marianne" panose="02000000000000000000" pitchFamily="50" charset="0"/>
              <a:cs typeface="Times New Roman" panose="02020603050405020304" pitchFamily="18" charset="0"/>
            </a:endParaRPr>
          </a:p>
          <a:p>
            <a:r>
              <a:rPr lang="fr-FR" dirty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e</a:t>
            </a:r>
            <a:r>
              <a:rPr lang="fr-FR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n l’état – sous réserve d’une reconduction au-delà de 2030</a:t>
            </a:r>
            <a:endParaRPr lang="fr-FR" sz="700" dirty="0">
              <a:solidFill>
                <a:schemeClr val="tx2"/>
              </a:solidFill>
            </a:endParaRPr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275528" y="2265573"/>
            <a:ext cx="2556471" cy="2348361"/>
          </a:xfrm>
          <a:prstGeom prst="roundRect">
            <a:avLst>
              <a:gd name="adj" fmla="val 3218"/>
            </a:avLst>
          </a:prstGeom>
          <a:solidFill>
            <a:schemeClr val="tx2">
              <a:alpha val="10000"/>
            </a:schemeClr>
          </a:solidFill>
        </p:spPr>
        <p:txBody>
          <a:bodyPr lIns="72000" tIns="72000" rIns="72000" bIns="72000" anchor="b"/>
          <a:lstStyle/>
          <a:p>
            <a:r>
              <a:rPr lang="fr-FR" sz="1600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Avoir une </a:t>
            </a:r>
            <a:r>
              <a:rPr lang="fr-FR" sz="1600" b="1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activité commerciale, artisanale ou relevant d’une profession de santé</a:t>
            </a:r>
          </a:p>
          <a:p>
            <a:r>
              <a:rPr lang="fr-FR" dirty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a</a:t>
            </a:r>
            <a:r>
              <a:rPr lang="fr-FR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u sens de la </a:t>
            </a:r>
            <a:r>
              <a:rPr lang="fr-FR" b="1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quatrième partie</a:t>
            </a:r>
            <a:br>
              <a:rPr lang="fr-FR" b="1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</a:br>
            <a:r>
              <a:rPr lang="fr-FR" b="1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du code de la santé publique </a:t>
            </a:r>
            <a:r>
              <a:rPr lang="fr-FR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(professions médicales, de la pharmacie, de la physique </a:t>
            </a:r>
            <a:br>
              <a:rPr lang="fr-FR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</a:br>
            <a:r>
              <a:rPr lang="fr-FR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et auxiliaires médicaux)</a:t>
            </a:r>
            <a:endParaRPr lang="fr-FR" dirty="0">
              <a:solidFill>
                <a:schemeClr val="tx2"/>
              </a:solidFill>
              <a:latin typeface="Marianne" panose="02000000000000000000" pitchFamily="50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174085" y="2312249"/>
            <a:ext cx="2609913" cy="864808"/>
          </a:xfrm>
          <a:prstGeom prst="roundRect">
            <a:avLst>
              <a:gd name="adj" fmla="val 5755"/>
            </a:avLst>
          </a:prstGeom>
          <a:solidFill>
            <a:schemeClr val="tx2">
              <a:alpha val="10000"/>
            </a:schemeClr>
          </a:solidFill>
        </p:spPr>
        <p:txBody>
          <a:bodyPr lIns="72000" tIns="72000" rIns="72000" bIns="72000" anchor="b"/>
          <a:lstStyle/>
          <a:p>
            <a:r>
              <a:rPr lang="fr-FR" sz="1600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Employer</a:t>
            </a:r>
            <a:br>
              <a:rPr lang="fr-FR" sz="1600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600" b="1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moins de 50 salariés</a:t>
            </a:r>
            <a:endParaRPr lang="fr-FR" sz="1600" dirty="0" smtClean="0">
              <a:solidFill>
                <a:schemeClr val="tx2"/>
              </a:solidFill>
              <a:latin typeface="Marianne" panose="02000000000000000000" pitchFamily="50" charset="0"/>
              <a:cs typeface="Times New Roman" panose="02020603050405020304" pitchFamily="18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748" y="4081130"/>
            <a:ext cx="763300" cy="7633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171" y="4022723"/>
            <a:ext cx="755896" cy="755896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643" y="4106281"/>
            <a:ext cx="712997" cy="712997"/>
          </a:xfrm>
          <a:prstGeom prst="rect">
            <a:avLst/>
          </a:prstGeom>
        </p:spPr>
      </p:pic>
      <p:sp>
        <p:nvSpPr>
          <p:cNvPr id="17" name="Titre 1"/>
          <p:cNvSpPr txBox="1">
            <a:spLocks/>
          </p:cNvSpPr>
          <p:nvPr/>
        </p:nvSpPr>
        <p:spPr bwMode="gray">
          <a:xfrm>
            <a:off x="323527" y="1764514"/>
            <a:ext cx="8460471" cy="4441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800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4 conditions à respecter pour bénéficier du dispositif</a:t>
            </a:r>
            <a:endParaRPr lang="fr-FR" sz="1800" i="1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sp>
        <p:nvSpPr>
          <p:cNvPr id="19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174084" y="3236863"/>
            <a:ext cx="2609914" cy="1372446"/>
          </a:xfrm>
          <a:prstGeom prst="roundRect">
            <a:avLst>
              <a:gd name="adj" fmla="val 5196"/>
            </a:avLst>
          </a:prstGeom>
          <a:solidFill>
            <a:schemeClr val="tx2">
              <a:alpha val="10000"/>
            </a:schemeClr>
          </a:solidFill>
        </p:spPr>
        <p:txBody>
          <a:bodyPr lIns="72000" tIns="72000" rIns="72000" bIns="72000" anchor="b"/>
          <a:lstStyle/>
          <a:p>
            <a:r>
              <a:rPr lang="fr-FR" sz="1600" dirty="0" smtClean="0">
                <a:solidFill>
                  <a:schemeClr val="tx2"/>
                </a:solidFill>
              </a:rPr>
              <a:t>Réaliser un chiffre d’affaires HT</a:t>
            </a:r>
            <a:r>
              <a:rPr lang="fr-FR" sz="1600" dirty="0">
                <a:solidFill>
                  <a:schemeClr val="tx2"/>
                </a:solidFill>
              </a:rPr>
              <a:t> </a:t>
            </a:r>
            <a:r>
              <a:rPr lang="fr-FR" sz="1600" dirty="0" smtClean="0">
                <a:solidFill>
                  <a:schemeClr val="tx2"/>
                </a:solidFill>
              </a:rPr>
              <a:t>ou un total de bilan inférieur</a:t>
            </a:r>
            <a:br>
              <a:rPr lang="fr-FR" sz="1600" dirty="0" smtClean="0">
                <a:solidFill>
                  <a:schemeClr val="tx2"/>
                </a:solidFill>
              </a:rPr>
            </a:br>
            <a:r>
              <a:rPr lang="fr-FR" sz="1600" dirty="0" smtClean="0">
                <a:solidFill>
                  <a:schemeClr val="tx2"/>
                </a:solidFill>
              </a:rPr>
              <a:t>à </a:t>
            </a:r>
            <a:r>
              <a:rPr lang="fr-FR" sz="1600" b="1" dirty="0" smtClean="0">
                <a:solidFill>
                  <a:schemeClr val="tx2"/>
                </a:solidFill>
              </a:rPr>
              <a:t>10 millions d’euros</a:t>
            </a: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148" y="2792743"/>
            <a:ext cx="635081" cy="635081"/>
          </a:xfrm>
          <a:prstGeom prst="rect">
            <a:avLst/>
          </a:prstGeom>
        </p:spPr>
      </p:pic>
      <p:sp>
        <p:nvSpPr>
          <p:cNvPr id="20" name="Titre 1"/>
          <p:cNvSpPr txBox="1">
            <a:spLocks/>
          </p:cNvSpPr>
          <p:nvPr/>
        </p:nvSpPr>
        <p:spPr bwMode="gray">
          <a:xfrm>
            <a:off x="323529" y="987574"/>
            <a:ext cx="8460471" cy="72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200" dirty="0" smtClean="0">
                <a:solidFill>
                  <a:schemeClr val="tx2"/>
                </a:solidFill>
              </a:rPr>
              <a:t>Des aides fiscales concentrées sur le développement,</a:t>
            </a:r>
            <a:br>
              <a:rPr lang="fr-FR" sz="22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la proximité et le quotidien des quartiers</a:t>
            </a:r>
            <a:endParaRPr lang="fr-FR" sz="2200" dirty="0">
              <a:solidFill>
                <a:schemeClr val="tx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291424" y="1301750"/>
            <a:ext cx="2145220" cy="10795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Rectangle 21"/>
          <p:cNvSpPr/>
          <p:nvPr/>
        </p:nvSpPr>
        <p:spPr>
          <a:xfrm>
            <a:off x="637810" y="1593694"/>
            <a:ext cx="1305290" cy="11388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/>
          <p:cNvSpPr/>
          <p:nvPr/>
        </p:nvSpPr>
        <p:spPr>
          <a:xfrm>
            <a:off x="2699792" y="1593694"/>
            <a:ext cx="1296144" cy="11388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 à coins arrondis 26"/>
          <p:cNvSpPr/>
          <p:nvPr/>
        </p:nvSpPr>
        <p:spPr>
          <a:xfrm>
            <a:off x="387338" y="2384031"/>
            <a:ext cx="1080000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rgbClr val="000091"/>
                </a:solidFill>
              </a:rPr>
              <a:t>CONDITION 1</a:t>
            </a:r>
            <a:endParaRPr lang="fr-FR" sz="900" dirty="0">
              <a:solidFill>
                <a:srgbClr val="000091"/>
              </a:solidFill>
            </a:endParaRPr>
          </a:p>
        </p:txBody>
      </p:sp>
      <p:sp>
        <p:nvSpPr>
          <p:cNvPr id="29" name="Rectangle à coins arrondis 28"/>
          <p:cNvSpPr/>
          <p:nvPr/>
        </p:nvSpPr>
        <p:spPr>
          <a:xfrm>
            <a:off x="3347864" y="2384031"/>
            <a:ext cx="1080000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rgbClr val="000091"/>
                </a:solidFill>
              </a:rPr>
              <a:t>CONDITION </a:t>
            </a:r>
            <a:r>
              <a:rPr lang="fr-FR" sz="900" dirty="0">
                <a:solidFill>
                  <a:srgbClr val="000091"/>
                </a:solidFill>
              </a:rPr>
              <a:t>2</a:t>
            </a:r>
          </a:p>
        </p:txBody>
      </p:sp>
      <p:sp>
        <p:nvSpPr>
          <p:cNvPr id="30" name="Rectangle à coins arrondis 29"/>
          <p:cNvSpPr/>
          <p:nvPr/>
        </p:nvSpPr>
        <p:spPr>
          <a:xfrm>
            <a:off x="6264000" y="2384031"/>
            <a:ext cx="1080000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rgbClr val="000091"/>
                </a:solidFill>
              </a:rPr>
              <a:t>CONDITION </a:t>
            </a:r>
            <a:r>
              <a:rPr lang="fr-FR" sz="900" dirty="0">
                <a:solidFill>
                  <a:srgbClr val="000091"/>
                </a:solidFill>
              </a:rPr>
              <a:t>3</a:t>
            </a:r>
          </a:p>
        </p:txBody>
      </p:sp>
      <p:sp>
        <p:nvSpPr>
          <p:cNvPr id="31" name="Rectangle à coins arrondis 30"/>
          <p:cNvSpPr/>
          <p:nvPr/>
        </p:nvSpPr>
        <p:spPr>
          <a:xfrm>
            <a:off x="6264000" y="3308425"/>
            <a:ext cx="1080000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rgbClr val="000091"/>
                </a:solidFill>
              </a:rPr>
              <a:t>CONDITION </a:t>
            </a:r>
            <a:r>
              <a:rPr lang="fr-FR" sz="900" dirty="0">
                <a:solidFill>
                  <a:srgbClr val="000091"/>
                </a:solidFill>
              </a:rPr>
              <a:t>4</a:t>
            </a:r>
          </a:p>
        </p:txBody>
      </p:sp>
      <p:sp>
        <p:nvSpPr>
          <p:cNvPr id="24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25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26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590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23527" y="2460014"/>
            <a:ext cx="2556471" cy="1987190"/>
          </a:xfrm>
          <a:prstGeom prst="roundRect">
            <a:avLst>
              <a:gd name="adj" fmla="val 7607"/>
            </a:avLst>
          </a:prstGeom>
          <a:solidFill>
            <a:schemeClr val="accent1">
              <a:lumMod val="75000"/>
              <a:lumOff val="25000"/>
              <a:alpha val="10000"/>
            </a:schemeClr>
          </a:solidFill>
        </p:spPr>
        <p:txBody>
          <a:bodyPr lIns="72000" tIns="72000" rIns="72000" bIns="72000" anchor="b"/>
          <a:lstStyle/>
          <a:p>
            <a:r>
              <a:rPr lang="fr-FR" sz="1600" dirty="0" smtClean="0">
                <a:solidFill>
                  <a:srgbClr val="00009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En tant que professionnel de santé, </a:t>
            </a:r>
            <a:r>
              <a:rPr lang="fr-FR" sz="1600" b="1" dirty="0" smtClean="0">
                <a:solidFill>
                  <a:srgbClr val="00009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j’installe mon cabinet dans un QPV </a:t>
            </a:r>
            <a:r>
              <a:rPr lang="fr-FR" sz="1600" dirty="0" smtClean="0">
                <a:solidFill>
                  <a:srgbClr val="00009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ou je reprends celui d’un confrère.</a:t>
            </a:r>
            <a:endParaRPr lang="fr-FR" sz="1600" dirty="0">
              <a:solidFill>
                <a:srgbClr val="000091"/>
              </a:solidFill>
            </a:endParaRPr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275528" y="2460014"/>
            <a:ext cx="2556471" cy="1987190"/>
          </a:xfrm>
          <a:prstGeom prst="roundRect">
            <a:avLst>
              <a:gd name="adj" fmla="val 5019"/>
            </a:avLst>
          </a:prstGeom>
          <a:solidFill>
            <a:schemeClr val="accent1">
              <a:lumMod val="75000"/>
              <a:lumOff val="25000"/>
              <a:alpha val="10000"/>
            </a:schemeClr>
          </a:solidFill>
        </p:spPr>
        <p:txBody>
          <a:bodyPr lIns="72000" tIns="72000" rIns="72000" bIns="72000" anchor="ctr"/>
          <a:lstStyle/>
          <a:p>
            <a:r>
              <a:rPr lang="fr-FR" sz="1600" dirty="0">
                <a:solidFill>
                  <a:srgbClr val="00009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En tant </a:t>
            </a:r>
            <a:r>
              <a:rPr lang="fr-FR" sz="1600" dirty="0" smtClean="0">
                <a:solidFill>
                  <a:srgbClr val="00009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qu’artisan </a:t>
            </a:r>
            <a:br>
              <a:rPr lang="fr-FR" sz="1600" dirty="0" smtClean="0">
                <a:solidFill>
                  <a:srgbClr val="00009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600" dirty="0" smtClean="0">
                <a:solidFill>
                  <a:srgbClr val="00009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ou commerçant, </a:t>
            </a:r>
            <a:br>
              <a:rPr lang="fr-FR" sz="1600" dirty="0" smtClean="0">
                <a:solidFill>
                  <a:srgbClr val="00009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600" b="1" dirty="0" smtClean="0">
                <a:solidFill>
                  <a:srgbClr val="00009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je reprends ou lance une activité </a:t>
            </a:r>
            <a:r>
              <a:rPr lang="fr-FR" sz="1600" dirty="0" smtClean="0">
                <a:solidFill>
                  <a:srgbClr val="00009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en QPV.</a:t>
            </a:r>
          </a:p>
        </p:txBody>
      </p:sp>
      <p:sp>
        <p:nvSpPr>
          <p:cNvPr id="11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227529" y="2460014"/>
            <a:ext cx="2556471" cy="1987190"/>
          </a:xfrm>
          <a:prstGeom prst="roundRect">
            <a:avLst>
              <a:gd name="adj" fmla="val 8470"/>
            </a:avLst>
          </a:prstGeom>
          <a:solidFill>
            <a:schemeClr val="accent1">
              <a:lumMod val="75000"/>
              <a:lumOff val="25000"/>
              <a:alpha val="10000"/>
            </a:schemeClr>
          </a:solidFill>
        </p:spPr>
        <p:txBody>
          <a:bodyPr lIns="72000" tIns="72000" rIns="72000" bIns="72000" anchor="ctr"/>
          <a:lstStyle/>
          <a:p>
            <a:r>
              <a:rPr lang="fr-FR" sz="1600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tant que nouvel entrepreneur, </a:t>
            </a:r>
            <a:r>
              <a:rPr lang="fr-FR" sz="1600" b="1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 fais </a:t>
            </a:r>
            <a:br>
              <a:rPr lang="fr-FR" sz="1600" b="1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600" b="1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choix d’installer </a:t>
            </a:r>
            <a:br>
              <a:rPr lang="fr-FR" sz="1600" b="1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600" b="1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 TPE ou ma PME dans un QPV</a:t>
            </a:r>
            <a:r>
              <a:rPr lang="fr-FR" sz="1600" dirty="0" smtClean="0">
                <a:solidFill>
                  <a:schemeClr val="tx2"/>
                </a:solidFill>
                <a:latin typeface="Marianne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600" dirty="0" smtClean="0">
              <a:solidFill>
                <a:schemeClr val="tx2"/>
              </a:solidFill>
              <a:latin typeface="Marianne" panose="02000000000000000000" pitchFamily="50" charset="0"/>
              <a:cs typeface="Times New Roman" panose="02020603050405020304" pitchFamily="18" charset="0"/>
            </a:endParaRPr>
          </a:p>
        </p:txBody>
      </p:sp>
      <p:sp>
        <p:nvSpPr>
          <p:cNvPr id="17" name="Titre 1"/>
          <p:cNvSpPr txBox="1">
            <a:spLocks/>
          </p:cNvSpPr>
          <p:nvPr/>
        </p:nvSpPr>
        <p:spPr bwMode="gray">
          <a:xfrm>
            <a:off x="319602" y="1889622"/>
            <a:ext cx="8460471" cy="462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800" i="1" dirty="0" smtClean="0">
                <a:solidFill>
                  <a:schemeClr val="accent1">
                    <a:lumMod val="90000"/>
                    <a:lumOff val="10000"/>
                  </a:schemeClr>
                </a:solidFill>
                <a:latin typeface="Spectral" panose="02020502060000000000" pitchFamily="18" charset="0"/>
              </a:rPr>
              <a:t>Par exemple, je peux </a:t>
            </a:r>
            <a:r>
              <a:rPr lang="fr-FR" sz="1800" i="1" dirty="0" smtClean="0">
                <a:solidFill>
                  <a:srgbClr val="008260"/>
                </a:solidFill>
                <a:latin typeface="Spectral" panose="02020502060000000000" pitchFamily="18" charset="0"/>
              </a:rPr>
              <a:t>bénéficier des exonérations </a:t>
            </a:r>
            <a:r>
              <a:rPr lang="fr-FR" sz="1800" i="1" dirty="0" smtClean="0">
                <a:solidFill>
                  <a:schemeClr val="accent1">
                    <a:lumMod val="90000"/>
                    <a:lumOff val="10000"/>
                  </a:schemeClr>
                </a:solidFill>
                <a:latin typeface="Spectral" panose="02020502060000000000" pitchFamily="18" charset="0"/>
              </a:rPr>
              <a:t>fiscales si…</a:t>
            </a:r>
            <a:endParaRPr lang="fr-FR" sz="1800" i="1" dirty="0">
              <a:solidFill>
                <a:schemeClr val="accent1">
                  <a:lumMod val="90000"/>
                  <a:lumOff val="10000"/>
                </a:schemeClr>
              </a:solidFill>
              <a:latin typeface="Spectral" panose="02020502060000000000" pitchFamily="18" charset="0"/>
            </a:endParaRP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036" y="3767537"/>
            <a:ext cx="1015963" cy="1015963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800" y="3767536"/>
            <a:ext cx="1015963" cy="1015963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567" y="3767536"/>
            <a:ext cx="1015963" cy="1015963"/>
          </a:xfrm>
          <a:prstGeom prst="rect">
            <a:avLst/>
          </a:prstGeom>
        </p:spPr>
      </p:pic>
      <p:sp>
        <p:nvSpPr>
          <p:cNvPr id="16" name="Rectangle à coins arrondis 15"/>
          <p:cNvSpPr/>
          <p:nvPr/>
        </p:nvSpPr>
        <p:spPr>
          <a:xfrm>
            <a:off x="444939" y="2584363"/>
            <a:ext cx="1764000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PROFESSIONNEL DE SANTÉ</a:t>
            </a:r>
            <a:endParaRPr lang="fr-FR" sz="9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8" name="Rectangle à coins arrondis 17"/>
          <p:cNvSpPr/>
          <p:nvPr/>
        </p:nvSpPr>
        <p:spPr>
          <a:xfrm>
            <a:off x="3383764" y="2584363"/>
            <a:ext cx="1091983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COMMERÇANT</a:t>
            </a:r>
            <a:endParaRPr lang="fr-FR" sz="9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3" name="Rectangle à coins arrondis 22"/>
          <p:cNvSpPr/>
          <p:nvPr/>
        </p:nvSpPr>
        <p:spPr>
          <a:xfrm>
            <a:off x="6355682" y="2579241"/>
            <a:ext cx="1531891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FUTUR ENTREPRENEUR</a:t>
            </a:r>
            <a:endParaRPr lang="fr-FR" sz="9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4" name="Rectangle à coins arrondis 23"/>
          <p:cNvSpPr/>
          <p:nvPr/>
        </p:nvSpPr>
        <p:spPr>
          <a:xfrm>
            <a:off x="4603900" y="2581149"/>
            <a:ext cx="771106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ARTISAN</a:t>
            </a:r>
            <a:endParaRPr lang="fr-FR" sz="9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 bwMode="gray">
          <a:xfrm>
            <a:off x="323529" y="987574"/>
            <a:ext cx="8460471" cy="72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200" dirty="0" smtClean="0">
                <a:solidFill>
                  <a:schemeClr val="tx2"/>
                </a:solidFill>
              </a:rPr>
              <a:t>Des aides fiscales concentrées sur le développement,</a:t>
            </a:r>
            <a:br>
              <a:rPr lang="fr-FR" sz="22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la proximité et le quotidien des quartiers</a:t>
            </a:r>
            <a:endParaRPr lang="fr-FR" sz="2200" dirty="0">
              <a:solidFill>
                <a:schemeClr val="tx2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291424" y="1301750"/>
            <a:ext cx="2145220" cy="10795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 26"/>
          <p:cNvSpPr/>
          <p:nvPr/>
        </p:nvSpPr>
        <p:spPr>
          <a:xfrm>
            <a:off x="637810" y="1593694"/>
            <a:ext cx="1305290" cy="11388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 27"/>
          <p:cNvSpPr/>
          <p:nvPr/>
        </p:nvSpPr>
        <p:spPr>
          <a:xfrm>
            <a:off x="2699792" y="1593694"/>
            <a:ext cx="1296144" cy="11388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20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21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425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19602" y="2283971"/>
            <a:ext cx="2628441" cy="2096306"/>
          </a:xfrm>
          <a:noFill/>
        </p:spPr>
        <p:txBody>
          <a:bodyPr lIns="72000" tIns="72000" rIns="72000" bIns="72000" anchor="ctr"/>
          <a:lstStyle/>
          <a:p>
            <a:r>
              <a:rPr lang="fr-FR" sz="2000" b="1" i="1" dirty="0">
                <a:solidFill>
                  <a:schemeClr val="tx2"/>
                </a:solidFill>
                <a:latin typeface="Spectral" panose="02020502060000000000" pitchFamily="18" charset="0"/>
              </a:rPr>
              <a:t>L’État </a:t>
            </a:r>
            <a:r>
              <a:rPr lang="fr-FR" sz="2000" b="1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concentre les exonérations fiscales sur les services de proximité et simplifie les démarches des entrepreneurs.</a:t>
            </a:r>
            <a:endParaRPr lang="fr-FR" sz="2000" b="1" i="1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sp>
        <p:nvSpPr>
          <p:cNvPr id="21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271088" y="2193184"/>
            <a:ext cx="2557462" cy="2186776"/>
          </a:xfrm>
          <a:prstGeom prst="roundRect">
            <a:avLst>
              <a:gd name="adj" fmla="val 6122"/>
            </a:avLst>
          </a:prstGeom>
          <a:solidFill>
            <a:schemeClr val="bg2">
              <a:alpha val="10000"/>
            </a:schemeClr>
          </a:solidFill>
        </p:spPr>
        <p:txBody>
          <a:bodyPr lIns="72000" tIns="72000" rIns="72000" bIns="72000" anchor="b"/>
          <a:lstStyle/>
          <a:p>
            <a:r>
              <a:rPr lang="fr-FR" sz="1600" dirty="0" smtClean="0">
                <a:solidFill>
                  <a:schemeClr val="bg2"/>
                </a:solidFill>
              </a:rPr>
              <a:t>Les </a:t>
            </a:r>
            <a:r>
              <a:rPr lang="fr-FR" sz="1600" b="1" dirty="0">
                <a:solidFill>
                  <a:schemeClr val="bg2"/>
                </a:solidFill>
              </a:rPr>
              <a:t>entreprises exerçant une activité </a:t>
            </a:r>
            <a:r>
              <a:rPr lang="fr-FR" sz="1600" b="1" dirty="0" smtClean="0">
                <a:solidFill>
                  <a:schemeClr val="bg2"/>
                </a:solidFill>
              </a:rPr>
              <a:t>industrielle ou libérale (</a:t>
            </a:r>
            <a:r>
              <a:rPr lang="fr-FR" sz="1600" b="1" u="sng" dirty="0" smtClean="0">
                <a:solidFill>
                  <a:schemeClr val="bg2"/>
                </a:solidFill>
              </a:rPr>
              <a:t>hors santé</a:t>
            </a:r>
            <a:r>
              <a:rPr lang="fr-FR" sz="1600" b="1" dirty="0" smtClean="0">
                <a:solidFill>
                  <a:schemeClr val="bg2"/>
                </a:solidFill>
              </a:rPr>
              <a:t>) </a:t>
            </a:r>
            <a:r>
              <a:rPr lang="fr-FR" sz="1600" dirty="0">
                <a:solidFill>
                  <a:schemeClr val="bg2"/>
                </a:solidFill>
              </a:rPr>
              <a:t>ne sont plus </a:t>
            </a:r>
            <a:r>
              <a:rPr lang="fr-FR" sz="1600" dirty="0" smtClean="0">
                <a:solidFill>
                  <a:schemeClr val="bg2"/>
                </a:solidFill>
              </a:rPr>
              <a:t>éligibles </a:t>
            </a:r>
            <a:br>
              <a:rPr lang="fr-FR" sz="1600" dirty="0" smtClean="0">
                <a:solidFill>
                  <a:schemeClr val="bg2"/>
                </a:solidFill>
              </a:rPr>
            </a:br>
            <a:r>
              <a:rPr lang="fr-FR" sz="1600" dirty="0" smtClean="0">
                <a:solidFill>
                  <a:schemeClr val="bg2"/>
                </a:solidFill>
              </a:rPr>
              <a:t>à l’entrée dans</a:t>
            </a:r>
            <a:br>
              <a:rPr lang="fr-FR" sz="1600" dirty="0" smtClean="0">
                <a:solidFill>
                  <a:schemeClr val="bg2"/>
                </a:solidFill>
              </a:rPr>
            </a:br>
            <a:r>
              <a:rPr lang="fr-FR" sz="1600" dirty="0" smtClean="0">
                <a:solidFill>
                  <a:schemeClr val="bg2"/>
                </a:solidFill>
              </a:rPr>
              <a:t>le dispositif.</a:t>
            </a:r>
            <a:endParaRPr lang="fr-FR" sz="1600" dirty="0">
              <a:solidFill>
                <a:schemeClr val="bg2"/>
              </a:solidFill>
            </a:endParaRPr>
          </a:p>
        </p:txBody>
      </p:sp>
      <p:sp>
        <p:nvSpPr>
          <p:cNvPr id="22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223565" y="2193184"/>
            <a:ext cx="2557462" cy="2174835"/>
          </a:xfrm>
          <a:prstGeom prst="roundRect">
            <a:avLst>
              <a:gd name="adj" fmla="val 6485"/>
            </a:avLst>
          </a:prstGeom>
          <a:solidFill>
            <a:schemeClr val="bg2">
              <a:alpha val="10000"/>
            </a:schemeClr>
          </a:solidFill>
        </p:spPr>
        <p:txBody>
          <a:bodyPr lIns="72000" tIns="72000" rIns="72000" bIns="72000" anchor="b"/>
          <a:lstStyle/>
          <a:p>
            <a:r>
              <a:rPr lang="fr-FR" sz="1600" dirty="0" smtClean="0">
                <a:solidFill>
                  <a:schemeClr val="bg2"/>
                </a:solidFill>
              </a:rPr>
              <a:t>La </a:t>
            </a:r>
            <a:r>
              <a:rPr lang="fr-FR" sz="1600" b="1" dirty="0">
                <a:solidFill>
                  <a:schemeClr val="bg2"/>
                </a:solidFill>
              </a:rPr>
              <a:t>clause d’embauche locale </a:t>
            </a:r>
            <a:r>
              <a:rPr lang="fr-FR" sz="1600" dirty="0">
                <a:solidFill>
                  <a:schemeClr val="bg2"/>
                </a:solidFill>
              </a:rPr>
              <a:t>et la </a:t>
            </a:r>
            <a:r>
              <a:rPr lang="fr-FR" sz="1600" b="1" dirty="0" smtClean="0">
                <a:solidFill>
                  <a:schemeClr val="bg2"/>
                </a:solidFill>
              </a:rPr>
              <a:t>condition</a:t>
            </a:r>
            <a:br>
              <a:rPr lang="fr-FR" sz="1600" b="1" dirty="0" smtClean="0">
                <a:solidFill>
                  <a:schemeClr val="bg2"/>
                </a:solidFill>
              </a:rPr>
            </a:br>
            <a:r>
              <a:rPr lang="fr-FR" sz="1600" b="1" dirty="0" smtClean="0">
                <a:solidFill>
                  <a:schemeClr val="bg2"/>
                </a:solidFill>
              </a:rPr>
              <a:t>de </a:t>
            </a:r>
            <a:r>
              <a:rPr lang="fr-FR" sz="1600" b="1" dirty="0">
                <a:solidFill>
                  <a:schemeClr val="bg2"/>
                </a:solidFill>
              </a:rPr>
              <a:t>détention de capital</a:t>
            </a:r>
            <a:r>
              <a:rPr lang="fr-FR" sz="1600" dirty="0">
                <a:solidFill>
                  <a:schemeClr val="bg2"/>
                </a:solidFill>
              </a:rPr>
              <a:t>, </a:t>
            </a:r>
            <a:r>
              <a:rPr lang="fr-FR" sz="1600" dirty="0" smtClean="0">
                <a:solidFill>
                  <a:schemeClr val="bg2"/>
                </a:solidFill>
              </a:rPr>
              <a:t>précédemment en </a:t>
            </a:r>
            <a:r>
              <a:rPr lang="fr-FR" sz="1600" dirty="0">
                <a:solidFill>
                  <a:schemeClr val="bg2"/>
                </a:solidFill>
              </a:rPr>
              <a:t>vigueur dans </a:t>
            </a:r>
            <a:r>
              <a:rPr lang="fr-FR" sz="1600" dirty="0" smtClean="0">
                <a:solidFill>
                  <a:schemeClr val="bg2"/>
                </a:solidFill>
              </a:rPr>
              <a:t>le </a:t>
            </a:r>
            <a:r>
              <a:rPr lang="fr-FR" sz="1600" dirty="0">
                <a:solidFill>
                  <a:schemeClr val="bg2"/>
                </a:solidFill>
              </a:rPr>
              <a:t>régime ZFU-TE, </a:t>
            </a:r>
            <a:r>
              <a:rPr lang="fr-FR" sz="1600" dirty="0" smtClean="0">
                <a:solidFill>
                  <a:schemeClr val="bg2"/>
                </a:solidFill>
              </a:rPr>
              <a:t>sont </a:t>
            </a:r>
            <a:r>
              <a:rPr lang="fr-FR" sz="1600" dirty="0">
                <a:solidFill>
                  <a:schemeClr val="bg2"/>
                </a:solidFill>
              </a:rPr>
              <a:t>supprimées</a:t>
            </a:r>
            <a:r>
              <a:rPr lang="fr-FR" sz="1600" dirty="0" smtClean="0">
                <a:solidFill>
                  <a:schemeClr val="bg2"/>
                </a:solidFill>
              </a:rPr>
              <a:t>.</a:t>
            </a:r>
            <a:endParaRPr lang="fr-FR" sz="1600" dirty="0">
              <a:solidFill>
                <a:schemeClr val="bg2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632" y="3654858"/>
            <a:ext cx="1015963" cy="101596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907" y="3756656"/>
            <a:ext cx="914165" cy="91416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117841" y="3195722"/>
            <a:ext cx="1147565" cy="81385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 23"/>
          <p:cNvSpPr/>
          <p:nvPr/>
        </p:nvSpPr>
        <p:spPr>
          <a:xfrm>
            <a:off x="1725697" y="3516713"/>
            <a:ext cx="970170" cy="81385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 24"/>
          <p:cNvSpPr/>
          <p:nvPr/>
        </p:nvSpPr>
        <p:spPr>
          <a:xfrm>
            <a:off x="384417" y="3516713"/>
            <a:ext cx="1045172" cy="81385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 25"/>
          <p:cNvSpPr/>
          <p:nvPr/>
        </p:nvSpPr>
        <p:spPr>
          <a:xfrm>
            <a:off x="384417" y="3797011"/>
            <a:ext cx="1490464" cy="81385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à coins arrondis 18"/>
          <p:cNvSpPr/>
          <p:nvPr/>
        </p:nvSpPr>
        <p:spPr>
          <a:xfrm>
            <a:off x="3343058" y="2300300"/>
            <a:ext cx="922509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bg2"/>
                </a:solidFill>
              </a:rPr>
              <a:t>INDUSTRIEL</a:t>
            </a:r>
            <a:endParaRPr lang="fr-FR" sz="900" dirty="0">
              <a:solidFill>
                <a:schemeClr val="bg2"/>
              </a:solidFill>
            </a:endParaRPr>
          </a:p>
        </p:txBody>
      </p:sp>
      <p:sp>
        <p:nvSpPr>
          <p:cNvPr id="20" name="Rectangle à coins arrondis 19"/>
          <p:cNvSpPr/>
          <p:nvPr/>
        </p:nvSpPr>
        <p:spPr>
          <a:xfrm>
            <a:off x="4355882" y="2300300"/>
            <a:ext cx="691176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bg2"/>
                </a:solidFill>
              </a:rPr>
              <a:t>LIBÉRAL</a:t>
            </a:r>
            <a:endParaRPr lang="fr-FR" sz="900" dirty="0">
              <a:solidFill>
                <a:schemeClr val="bg2"/>
              </a:solidFill>
            </a:endParaRPr>
          </a:p>
        </p:txBody>
      </p:sp>
      <p:sp>
        <p:nvSpPr>
          <p:cNvPr id="27" name="Rectangle à coins arrondis 26"/>
          <p:cNvSpPr/>
          <p:nvPr/>
        </p:nvSpPr>
        <p:spPr>
          <a:xfrm>
            <a:off x="6341587" y="2300301"/>
            <a:ext cx="1176037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bg2"/>
                </a:solidFill>
              </a:rPr>
              <a:t>SIMPLIFICATION</a:t>
            </a:r>
            <a:endParaRPr lang="fr-FR" sz="900" dirty="0">
              <a:solidFill>
                <a:schemeClr val="bg2"/>
              </a:solidFill>
            </a:endParaRPr>
          </a:p>
        </p:txBody>
      </p:sp>
      <p:sp>
        <p:nvSpPr>
          <p:cNvPr id="32" name="Titre 1"/>
          <p:cNvSpPr txBox="1">
            <a:spLocks/>
          </p:cNvSpPr>
          <p:nvPr/>
        </p:nvSpPr>
        <p:spPr bwMode="gray">
          <a:xfrm>
            <a:off x="323529" y="987574"/>
            <a:ext cx="8460471" cy="72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200" dirty="0" smtClean="0">
                <a:solidFill>
                  <a:schemeClr val="tx2"/>
                </a:solidFill>
              </a:rPr>
              <a:t>Des aides fiscales concentrées sur le développement,</a:t>
            </a:r>
            <a:br>
              <a:rPr lang="fr-FR" sz="22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la proximité et le quotidien des quartiers</a:t>
            </a:r>
            <a:endParaRPr lang="fr-FR" sz="2200" dirty="0">
              <a:solidFill>
                <a:schemeClr val="tx2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291424" y="1301750"/>
            <a:ext cx="2145220" cy="10795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Rectangle 33"/>
          <p:cNvSpPr/>
          <p:nvPr/>
        </p:nvSpPr>
        <p:spPr>
          <a:xfrm>
            <a:off x="637810" y="1593694"/>
            <a:ext cx="1305290" cy="11388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" name="Rectangle 34"/>
          <p:cNvSpPr/>
          <p:nvPr/>
        </p:nvSpPr>
        <p:spPr>
          <a:xfrm>
            <a:off x="2699792" y="1593694"/>
            <a:ext cx="1296144" cy="11388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29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30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583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8758" y="935026"/>
            <a:ext cx="8855242" cy="38088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>
          <a:xfrm>
            <a:off x="792911" y="2642766"/>
            <a:ext cx="7177609" cy="951149"/>
          </a:xfrm>
        </p:spPr>
        <p:txBody>
          <a:bodyPr anchor="ctr"/>
          <a:lstStyle/>
          <a:p>
            <a:r>
              <a:rPr lang="fr-FR" sz="3600" i="1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  <a:t>Quels allègements fiscaux ?</a:t>
            </a:r>
            <a:endParaRPr lang="fr-FR" sz="3600" b="0" i="1" cap="none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792911" y="1366865"/>
            <a:ext cx="192881" cy="166687"/>
          </a:xfrm>
          <a:solidFill>
            <a:srgbClr val="000091"/>
          </a:solidFill>
          <a:ln w="25400" cap="rnd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/>
            <a:r>
              <a:rPr lang="fr-FR" sz="100" b="1" dirty="0" smtClean="0">
                <a:solidFill>
                  <a:schemeClr val="bg1"/>
                </a:solidFill>
              </a:rPr>
              <a:t> </a:t>
            </a:r>
            <a:endParaRPr lang="fr-FR" sz="1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792911" y="2466003"/>
            <a:ext cx="948777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000" dirty="0" smtClean="0">
                <a:solidFill>
                  <a:srgbClr val="000091"/>
                </a:solidFill>
              </a:rPr>
              <a:t>PARTIE 3.2</a:t>
            </a:r>
            <a:endParaRPr lang="fr-FR" sz="1000" dirty="0">
              <a:solidFill>
                <a:srgbClr val="000091"/>
              </a:solidFill>
            </a:endParaRP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792911" y="1333690"/>
            <a:ext cx="4982171" cy="408089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</p:spPr>
        <p:txBody>
          <a:bodyPr lIns="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1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3.</a:t>
            </a:r>
            <a:r>
              <a:rPr lang="fr-FR" sz="1100" dirty="0" smtClean="0">
                <a:solidFill>
                  <a:schemeClr val="bg1"/>
                </a:solidFill>
              </a:rPr>
              <a:t>  </a:t>
            </a:r>
            <a:r>
              <a:rPr lang="fr-FR" sz="1100" dirty="0" smtClean="0">
                <a:solidFill>
                  <a:schemeClr val="tx2"/>
                </a:solidFill>
              </a:rPr>
              <a:t>Des allègements fiscaux renforcés et simplifiés</a:t>
            </a:r>
          </a:p>
          <a:p>
            <a:r>
              <a:rPr lang="fr-FR" sz="1100" b="0" dirty="0">
                <a:solidFill>
                  <a:schemeClr val="tx2"/>
                </a:solidFill>
              </a:rPr>
              <a:t>p</a:t>
            </a:r>
            <a:r>
              <a:rPr lang="fr-FR" sz="1100" b="0" dirty="0" smtClean="0">
                <a:solidFill>
                  <a:schemeClr val="tx2"/>
                </a:solidFill>
              </a:rPr>
              <a:t>our les acteurs économiques de proximité</a:t>
            </a:r>
            <a:endParaRPr lang="fr-FR" sz="1100" b="0" dirty="0">
              <a:solidFill>
                <a:schemeClr val="tx2"/>
              </a:solidFill>
            </a:endParaRPr>
          </a:p>
        </p:txBody>
      </p:sp>
      <p:cxnSp>
        <p:nvCxnSpPr>
          <p:cNvPr id="9" name="Connecteur droit 8"/>
          <p:cNvCxnSpPr/>
          <p:nvPr/>
        </p:nvCxnSpPr>
        <p:spPr>
          <a:xfrm flipV="1">
            <a:off x="792911" y="1741779"/>
            <a:ext cx="1488327" cy="3313"/>
          </a:xfrm>
          <a:prstGeom prst="line">
            <a:avLst/>
          </a:prstGeom>
          <a:ln>
            <a:solidFill>
              <a:srgbClr val="0000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1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mtClean="0"/>
              <a:t>Nouvelles mesures d’incitation fiscale en faveur du développement des activités économiques</a:t>
            </a:r>
            <a:br>
              <a:rPr lang="fr-FR" smtClean="0"/>
            </a:br>
            <a:r>
              <a:rPr lang="fr-FR" smtClean="0"/>
              <a:t>dans les quartiers prioritaires de la politique de la ville</a:t>
            </a:r>
            <a:endParaRPr lang="fr-FR" dirty="0" smtClean="0"/>
          </a:p>
        </p:txBody>
      </p:sp>
      <p:sp>
        <p:nvSpPr>
          <p:cNvPr id="13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17</a:t>
            </a:fld>
            <a:endParaRPr lang="fr-FR" dirty="0"/>
          </a:p>
        </p:txBody>
      </p:sp>
      <p:cxnSp>
        <p:nvCxnSpPr>
          <p:cNvPr id="14" name="Connecteur droit 13"/>
          <p:cNvCxnSpPr/>
          <p:nvPr/>
        </p:nvCxnSpPr>
        <p:spPr bwMode="gray">
          <a:xfrm>
            <a:off x="319602" y="4783500"/>
            <a:ext cx="8464398" cy="90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77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9" y="1307232"/>
            <a:ext cx="8460471" cy="720000"/>
          </a:xfrm>
        </p:spPr>
        <p:txBody>
          <a:bodyPr/>
          <a:lstStyle/>
          <a:p>
            <a:r>
              <a:rPr lang="fr-FR" sz="2200" dirty="0" smtClean="0">
                <a:solidFill>
                  <a:schemeClr val="tx2"/>
                </a:solidFill>
              </a:rPr>
              <a:t>Un dispositif unique</a:t>
            </a:r>
            <a:br>
              <a:rPr lang="fr-FR" sz="22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d’exonération d’</a:t>
            </a:r>
            <a:r>
              <a:rPr lang="fr-FR" sz="2400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impôt sur les bénéfices</a:t>
            </a:r>
            <a:r>
              <a:rPr lang="fr-FR" sz="2400" dirty="0" smtClean="0">
                <a:solidFill>
                  <a:schemeClr val="tx2"/>
                </a:solidFill>
              </a:rPr>
              <a:t/>
            </a:r>
            <a:br>
              <a:rPr lang="fr-FR" sz="24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et d’exonérations d’</a:t>
            </a:r>
            <a:r>
              <a:rPr lang="fr-FR" sz="2400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impôts locaux</a:t>
            </a:r>
            <a:endParaRPr lang="fr-FR" sz="2400" i="1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323527" y="2478458"/>
            <a:ext cx="2556471" cy="2236462"/>
          </a:xfrm>
          <a:prstGeom prst="roundRect">
            <a:avLst>
              <a:gd name="adj" fmla="val 5423"/>
            </a:avLst>
          </a:prstGeom>
          <a:solidFill>
            <a:schemeClr val="tx2">
              <a:alpha val="10000"/>
            </a:schemeClr>
          </a:solidFill>
        </p:spPr>
        <p:txBody>
          <a:bodyPr lIns="72000" tIns="72000" rIns="72000" bIns="7200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b="1" dirty="0" smtClean="0">
                <a:solidFill>
                  <a:schemeClr val="tx2"/>
                </a:solidFill>
              </a:rPr>
              <a:t>Impôt sur le revenu (IR)</a:t>
            </a:r>
            <a:endParaRPr lang="fr-FR" dirty="0" smtClean="0">
              <a:solidFill>
                <a:schemeClr val="tx2"/>
              </a:solidFill>
            </a:endParaRPr>
          </a:p>
          <a:p>
            <a:pPr algn="ctr">
              <a:spcAft>
                <a:spcPts val="0"/>
              </a:spcAft>
            </a:pPr>
            <a:r>
              <a:rPr lang="fr-FR" b="1" dirty="0" smtClean="0">
                <a:solidFill>
                  <a:schemeClr val="tx2"/>
                </a:solidFill>
              </a:rPr>
              <a:t>Impôt sur les sociétés (IS)</a:t>
            </a:r>
          </a:p>
          <a:p>
            <a:pPr algn="ctr"/>
            <a:endParaRPr lang="fr-FR" sz="600" dirty="0">
              <a:solidFill>
                <a:schemeClr val="tx2"/>
              </a:solidFill>
            </a:endParaRPr>
          </a:p>
          <a:p>
            <a:pPr algn="ctr">
              <a:spcAft>
                <a:spcPts val="0"/>
              </a:spcAft>
            </a:pPr>
            <a:endParaRPr lang="fr-FR" sz="1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algn="ctr">
              <a:spcAft>
                <a:spcPts val="0"/>
              </a:spcAft>
            </a:pPr>
            <a:endParaRPr lang="fr-FR" sz="1600" b="1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algn="ctr">
              <a:spcAft>
                <a:spcPts val="0"/>
              </a:spcAft>
            </a:pPr>
            <a:r>
              <a:rPr lang="fr-FR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puis</a:t>
            </a:r>
          </a:p>
          <a:p>
            <a:pPr algn="ctr">
              <a:spcAft>
                <a:spcPts val="0"/>
              </a:spcAft>
            </a:pPr>
            <a:r>
              <a:rPr lang="fr-FR" sz="11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60 % la 6</a:t>
            </a:r>
            <a:r>
              <a:rPr lang="fr-FR" sz="1100" b="1" baseline="300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e</a:t>
            </a:r>
            <a:r>
              <a:rPr lang="fr-FR" sz="11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 année</a:t>
            </a:r>
          </a:p>
          <a:p>
            <a:pPr algn="ctr">
              <a:spcAft>
                <a:spcPts val="0"/>
              </a:spcAft>
            </a:pPr>
            <a:r>
              <a:rPr lang="fr-FR" sz="11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40 % la 7</a:t>
            </a:r>
            <a:r>
              <a:rPr lang="fr-FR" sz="1100" b="1" baseline="300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e</a:t>
            </a:r>
            <a:r>
              <a:rPr lang="fr-FR" sz="11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 année</a:t>
            </a:r>
          </a:p>
          <a:p>
            <a:pPr algn="ctr">
              <a:spcAft>
                <a:spcPts val="0"/>
              </a:spcAft>
            </a:pPr>
            <a:r>
              <a:rPr lang="fr-FR" sz="11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20 % la 8</a:t>
            </a:r>
            <a:r>
              <a:rPr lang="fr-FR" sz="1100" b="1" baseline="300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e</a:t>
            </a:r>
            <a:r>
              <a:rPr lang="fr-FR" sz="11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 année</a:t>
            </a:r>
          </a:p>
          <a:p>
            <a:pPr algn="ctr">
              <a:spcAft>
                <a:spcPts val="0"/>
              </a:spcAft>
            </a:pPr>
            <a:endParaRPr lang="fr-FR" sz="800" dirty="0" smtClean="0">
              <a:solidFill>
                <a:schemeClr val="tx2"/>
              </a:solidFill>
            </a:endParaRPr>
          </a:p>
          <a:p>
            <a:pPr algn="ctr">
              <a:spcAft>
                <a:spcPts val="0"/>
              </a:spcAft>
            </a:pPr>
            <a: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  <a:t>Article 44 </a:t>
            </a:r>
            <a:r>
              <a:rPr lang="fr-FR" sz="900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octies</a:t>
            </a:r>
            <a: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  <a:t> B</a:t>
            </a:r>
            <a:b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  <a:t>du code général des impôts</a:t>
            </a:r>
            <a:endParaRPr lang="fr-FR" sz="900" dirty="0">
              <a:solidFill>
                <a:schemeClr val="tx2"/>
              </a:solidFill>
            </a:endParaRPr>
          </a:p>
          <a:p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3293764" y="2478458"/>
            <a:ext cx="2520000" cy="2236461"/>
          </a:xfrm>
          <a:prstGeom prst="roundRect">
            <a:avLst>
              <a:gd name="adj" fmla="val 6105"/>
            </a:avLst>
          </a:prstGeom>
          <a:solidFill>
            <a:schemeClr val="tx2">
              <a:alpha val="10000"/>
            </a:schemeClr>
          </a:solidFill>
        </p:spPr>
        <p:txBody>
          <a:bodyPr lIns="72000" tIns="72000" rIns="72000" bIns="72000"/>
          <a:lstStyle/>
          <a:p>
            <a:pPr algn="ctr">
              <a:spcAft>
                <a:spcPts val="0"/>
              </a:spcAft>
            </a:pPr>
            <a:r>
              <a:rPr lang="fr-FR" b="1" dirty="0" smtClean="0">
                <a:solidFill>
                  <a:schemeClr val="tx2"/>
                </a:solidFill>
              </a:rPr>
              <a:t>Cotisation foncière</a:t>
            </a:r>
            <a:br>
              <a:rPr lang="fr-FR" b="1" dirty="0" smtClean="0">
                <a:solidFill>
                  <a:schemeClr val="tx2"/>
                </a:solidFill>
              </a:rPr>
            </a:br>
            <a:r>
              <a:rPr lang="fr-FR" b="1" dirty="0" smtClean="0">
                <a:solidFill>
                  <a:schemeClr val="tx2"/>
                </a:solidFill>
              </a:rPr>
              <a:t>des entreprises (CFE)</a:t>
            </a:r>
            <a:endParaRPr lang="fr-FR" sz="200" dirty="0" smtClean="0">
              <a:solidFill>
                <a:schemeClr val="tx2"/>
              </a:solidFill>
            </a:endParaRPr>
          </a:p>
          <a:p>
            <a:pPr algn="ctr"/>
            <a:endParaRPr lang="fr-FR" sz="600" dirty="0">
              <a:solidFill>
                <a:schemeClr val="tx2"/>
              </a:solidFill>
            </a:endParaRPr>
          </a:p>
          <a:p>
            <a:pPr algn="ctr">
              <a:spcAft>
                <a:spcPts val="0"/>
              </a:spcAft>
            </a:pPr>
            <a:endParaRPr lang="fr-FR" sz="1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algn="ctr">
              <a:spcAft>
                <a:spcPts val="0"/>
              </a:spcAft>
            </a:pPr>
            <a:endParaRPr lang="fr-FR" sz="1600" b="1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algn="ctr">
              <a:spcAft>
                <a:spcPts val="0"/>
              </a:spcAft>
            </a:pPr>
            <a:r>
              <a:rPr lang="fr-FR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puis</a:t>
            </a:r>
            <a:endParaRPr lang="fr-FR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algn="ctr">
              <a:spcAft>
                <a:spcPts val="0"/>
              </a:spcAft>
            </a:pPr>
            <a:r>
              <a:rPr lang="fr-FR" sz="11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60 % la 6</a:t>
            </a:r>
            <a:r>
              <a:rPr lang="fr-FR" sz="1100" b="1" baseline="3000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e</a:t>
            </a:r>
            <a:r>
              <a:rPr lang="fr-FR" sz="11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année</a:t>
            </a:r>
          </a:p>
          <a:p>
            <a:pPr algn="ctr">
              <a:spcAft>
                <a:spcPts val="0"/>
              </a:spcAft>
            </a:pPr>
            <a:r>
              <a:rPr lang="fr-FR" sz="11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40 % la 7</a:t>
            </a:r>
            <a:r>
              <a:rPr lang="fr-FR" sz="1100" b="1" baseline="3000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e</a:t>
            </a:r>
            <a:r>
              <a:rPr lang="fr-FR" sz="11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année</a:t>
            </a:r>
          </a:p>
          <a:p>
            <a:pPr algn="ctr">
              <a:spcAft>
                <a:spcPts val="0"/>
              </a:spcAft>
            </a:pPr>
            <a:r>
              <a:rPr lang="fr-FR" sz="11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20 % la 8</a:t>
            </a:r>
            <a:r>
              <a:rPr lang="fr-FR" sz="1100" b="1" baseline="3000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e</a:t>
            </a:r>
            <a:r>
              <a:rPr lang="fr-FR" sz="11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</a:t>
            </a:r>
            <a:r>
              <a:rPr lang="fr-FR" sz="11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année</a:t>
            </a:r>
          </a:p>
          <a:p>
            <a:pPr algn="ctr">
              <a:spcAft>
                <a:spcPts val="0"/>
              </a:spcAft>
            </a:pPr>
            <a:endParaRPr lang="fr-FR" sz="800" dirty="0">
              <a:solidFill>
                <a:schemeClr val="tx2"/>
              </a:solidFill>
            </a:endParaRPr>
          </a:p>
          <a:p>
            <a:pPr algn="ctr">
              <a:spcAft>
                <a:spcPts val="0"/>
              </a:spcAft>
            </a:pPr>
            <a: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  <a:t>Articles 1466 A </a:t>
            </a:r>
            <a:r>
              <a:rPr lang="fr-FR" sz="900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septies</a:t>
            </a:r>
            <a: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  <a:t/>
            </a:r>
            <a:b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  <a:t>du </a:t>
            </a:r>
            <a:r>
              <a:rPr lang="fr-FR" sz="900" dirty="0">
                <a:solidFill>
                  <a:schemeClr val="tx2"/>
                </a:solidFill>
                <a:latin typeface="Spectral" panose="02020502060000000000" pitchFamily="18" charset="0"/>
              </a:rPr>
              <a:t>code général des </a:t>
            </a:r>
            <a: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  <a:t>impôts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6"/>
          </p:nvPr>
        </p:nvSpPr>
        <p:spPr>
          <a:xfrm>
            <a:off x="6264000" y="2478458"/>
            <a:ext cx="2520000" cy="2236461"/>
          </a:xfrm>
          <a:prstGeom prst="roundRect">
            <a:avLst>
              <a:gd name="adj" fmla="val 6105"/>
            </a:avLst>
          </a:prstGeom>
          <a:solidFill>
            <a:schemeClr val="tx2">
              <a:alpha val="10000"/>
            </a:schemeClr>
          </a:solidFill>
        </p:spPr>
        <p:txBody>
          <a:bodyPr lIns="72000" tIns="72000" rIns="72000" bIns="72000"/>
          <a:lstStyle/>
          <a:p>
            <a:pPr algn="ctr">
              <a:spcAft>
                <a:spcPts val="0"/>
              </a:spcAft>
            </a:pPr>
            <a:r>
              <a:rPr lang="fr-FR" b="1" dirty="0" smtClean="0">
                <a:solidFill>
                  <a:schemeClr val="tx2"/>
                </a:solidFill>
              </a:rPr>
              <a:t>Taxe foncière</a:t>
            </a:r>
            <a:br>
              <a:rPr lang="fr-FR" b="1" dirty="0" smtClean="0">
                <a:solidFill>
                  <a:schemeClr val="tx2"/>
                </a:solidFill>
              </a:rPr>
            </a:br>
            <a:r>
              <a:rPr lang="fr-FR" b="1" dirty="0" smtClean="0">
                <a:solidFill>
                  <a:schemeClr val="tx2"/>
                </a:solidFill>
              </a:rPr>
              <a:t>sur les propriétés bâties (TFPB)</a:t>
            </a:r>
          </a:p>
          <a:p>
            <a:pPr algn="ctr"/>
            <a:endParaRPr lang="fr-FR" sz="600" dirty="0">
              <a:solidFill>
                <a:schemeClr val="tx2"/>
              </a:solidFill>
            </a:endParaRPr>
          </a:p>
          <a:p>
            <a:pPr algn="ctr">
              <a:spcAft>
                <a:spcPts val="0"/>
              </a:spcAft>
            </a:pPr>
            <a: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100 % d’exonération</a:t>
            </a:r>
            <a:b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</a:br>
            <a:r>
              <a:rPr lang="fr-FR" sz="1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pendant </a:t>
            </a:r>
            <a: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5 </a:t>
            </a:r>
            <a:r>
              <a:rPr lang="fr-FR" sz="1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années</a:t>
            </a:r>
          </a:p>
          <a:p>
            <a:pPr algn="ctr">
              <a:spcAft>
                <a:spcPts val="0"/>
              </a:spcAft>
            </a:pPr>
            <a:endParaRPr lang="fr-FR" sz="1200" b="1" dirty="0" smtClean="0">
              <a:solidFill>
                <a:schemeClr val="accent4"/>
              </a:solidFill>
            </a:endParaRPr>
          </a:p>
          <a:p>
            <a:pPr algn="ctr">
              <a:spcAft>
                <a:spcPts val="0"/>
              </a:spcAft>
            </a:pPr>
            <a:endParaRPr lang="fr-FR" sz="900" dirty="0" smtClean="0">
              <a:solidFill>
                <a:schemeClr val="tx2"/>
              </a:solidFill>
              <a:latin typeface="Spectral" panose="02020502060000000000" pitchFamily="18" charset="0"/>
            </a:endParaRPr>
          </a:p>
          <a:p>
            <a:pPr algn="ctr">
              <a:spcAft>
                <a:spcPts val="0"/>
              </a:spcAft>
            </a:pPr>
            <a:endParaRPr lang="fr-FR" sz="900" dirty="0">
              <a:solidFill>
                <a:schemeClr val="tx2"/>
              </a:solidFill>
              <a:latin typeface="Spectral" panose="02020502060000000000" pitchFamily="18" charset="0"/>
            </a:endParaRPr>
          </a:p>
          <a:p>
            <a:pPr algn="ctr">
              <a:spcAft>
                <a:spcPts val="0"/>
              </a:spcAft>
            </a:pPr>
            <a:endParaRPr lang="fr-FR" sz="900" dirty="0" smtClean="0">
              <a:solidFill>
                <a:schemeClr val="tx2"/>
              </a:solidFill>
              <a:latin typeface="Spectral" panose="02020502060000000000" pitchFamily="18" charset="0"/>
            </a:endParaRPr>
          </a:p>
          <a:p>
            <a:pPr algn="ctr">
              <a:spcAft>
                <a:spcPts val="0"/>
              </a:spcAft>
            </a:pPr>
            <a:endParaRPr lang="fr-FR" sz="1100" dirty="0">
              <a:solidFill>
                <a:schemeClr val="tx2"/>
              </a:solidFill>
              <a:latin typeface="Spectral" panose="02020502060000000000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  <a:t>Article 1383 C </a:t>
            </a:r>
            <a:r>
              <a:rPr lang="fr-FR" sz="900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ter</a:t>
            </a:r>
            <a: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  <a:t/>
            </a:r>
            <a:b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  <a:t>du </a:t>
            </a:r>
            <a:r>
              <a:rPr lang="fr-FR" sz="900" dirty="0">
                <a:solidFill>
                  <a:schemeClr val="tx2"/>
                </a:solidFill>
                <a:latin typeface="Spectral" panose="02020502060000000000" pitchFamily="18" charset="0"/>
              </a:rPr>
              <a:t>code général des </a:t>
            </a:r>
            <a:r>
              <a:rPr lang="fr-FR" sz="900" dirty="0" smtClean="0">
                <a:solidFill>
                  <a:schemeClr val="tx2"/>
                </a:solidFill>
                <a:latin typeface="Spectral" panose="02020502060000000000" pitchFamily="18" charset="0"/>
              </a:rPr>
              <a:t>impôts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050" y="1238652"/>
            <a:ext cx="2278782" cy="130567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à coins arrondis 15"/>
          <p:cNvSpPr/>
          <p:nvPr/>
        </p:nvSpPr>
        <p:spPr>
          <a:xfrm>
            <a:off x="319602" y="2243139"/>
            <a:ext cx="2560396" cy="166740"/>
          </a:xfrm>
          <a:prstGeom prst="roundRect">
            <a:avLst>
              <a:gd name="adj" fmla="val 30025"/>
            </a:avLst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 smtClean="0">
                <a:solidFill>
                  <a:schemeClr val="tx2"/>
                </a:solidFill>
              </a:rPr>
              <a:t>IMPÔT SUR LES BÉNÉFICES</a:t>
            </a:r>
            <a:endParaRPr lang="fr-FR" sz="800" b="1" dirty="0">
              <a:solidFill>
                <a:schemeClr val="tx2"/>
              </a:solidFill>
            </a:endParaRPr>
          </a:p>
        </p:txBody>
      </p:sp>
      <p:sp>
        <p:nvSpPr>
          <p:cNvPr id="18" name="Rectangle à coins arrondis 17"/>
          <p:cNvSpPr/>
          <p:nvPr/>
        </p:nvSpPr>
        <p:spPr>
          <a:xfrm>
            <a:off x="3293764" y="2243139"/>
            <a:ext cx="5490236" cy="166740"/>
          </a:xfrm>
          <a:prstGeom prst="roundRect">
            <a:avLst>
              <a:gd name="adj" fmla="val 30025"/>
            </a:avLst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 smtClean="0">
                <a:solidFill>
                  <a:schemeClr val="tx2"/>
                </a:solidFill>
              </a:rPr>
              <a:t>IMPÔTS LOCAUX</a:t>
            </a:r>
            <a:endParaRPr lang="fr-FR" sz="800" b="1" dirty="0">
              <a:solidFill>
                <a:schemeClr val="tx2"/>
              </a:solidFill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430036" y="2991887"/>
            <a:ext cx="2339528" cy="557713"/>
          </a:xfrm>
          <a:prstGeom prst="roundRect">
            <a:avLst>
              <a:gd name="adj" fmla="val 30025"/>
            </a:avLst>
          </a:prstGeom>
          <a:solidFill>
            <a:schemeClr val="bg1"/>
          </a:solidFill>
          <a:ln w="6350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100 % d’exonération</a:t>
            </a:r>
            <a:b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</a:br>
            <a: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pendant 5 années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3384000" y="2991886"/>
            <a:ext cx="2339528" cy="557713"/>
          </a:xfrm>
          <a:prstGeom prst="roundRect">
            <a:avLst>
              <a:gd name="adj" fmla="val 30025"/>
            </a:avLst>
          </a:prstGeom>
          <a:solidFill>
            <a:schemeClr val="bg1"/>
          </a:solidFill>
          <a:ln w="6350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100 % d’exonération</a:t>
            </a:r>
            <a:b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</a:br>
            <a: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pendant 5 années</a:t>
            </a:r>
          </a:p>
        </p:txBody>
      </p:sp>
      <p:sp>
        <p:nvSpPr>
          <p:cNvPr id="15" name="Rectangle à coins arrondis 14"/>
          <p:cNvSpPr/>
          <p:nvPr/>
        </p:nvSpPr>
        <p:spPr>
          <a:xfrm>
            <a:off x="6354236" y="2992354"/>
            <a:ext cx="2339528" cy="557713"/>
          </a:xfrm>
          <a:prstGeom prst="roundRect">
            <a:avLst>
              <a:gd name="adj" fmla="val 30025"/>
            </a:avLst>
          </a:prstGeom>
          <a:solidFill>
            <a:schemeClr val="bg1"/>
          </a:solidFill>
          <a:ln w="6350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100 % d’exonération</a:t>
            </a:r>
            <a:b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</a:br>
            <a:r>
              <a:rPr lang="fr-FR" sz="16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pendant 5 années</a:t>
            </a:r>
          </a:p>
        </p:txBody>
      </p:sp>
      <p:sp>
        <p:nvSpPr>
          <p:cNvPr id="17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9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20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339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230630" y="2969771"/>
            <a:ext cx="2118033" cy="1863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 24"/>
          <p:cNvSpPr/>
          <p:nvPr/>
        </p:nvSpPr>
        <p:spPr>
          <a:xfrm>
            <a:off x="6230631" y="2770252"/>
            <a:ext cx="1963667" cy="1863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 23"/>
          <p:cNvSpPr/>
          <p:nvPr/>
        </p:nvSpPr>
        <p:spPr>
          <a:xfrm>
            <a:off x="6519129" y="2601985"/>
            <a:ext cx="1751745" cy="1614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323527" y="2194141"/>
            <a:ext cx="2628314" cy="2114948"/>
          </a:xfrm>
          <a:noFill/>
        </p:spPr>
        <p:txBody>
          <a:bodyPr lIns="72000" tIns="72000" rIns="72000" bIns="72000" anchor="t">
            <a:noAutofit/>
          </a:bodyPr>
          <a:lstStyle/>
          <a:p>
            <a:pPr>
              <a:spcAft>
                <a:spcPts val="600"/>
              </a:spcAft>
            </a:pPr>
            <a:r>
              <a:rPr lang="fr-FR" sz="1600" b="1" dirty="0" smtClean="0">
                <a:solidFill>
                  <a:schemeClr val="tx2"/>
                </a:solidFill>
              </a:rPr>
              <a:t>Cette réforme est entrée en </a:t>
            </a:r>
            <a:r>
              <a:rPr lang="fr-FR" sz="1600" b="1" dirty="0">
                <a:solidFill>
                  <a:schemeClr val="tx2"/>
                </a:solidFill>
              </a:rPr>
              <a:t>vigueur avec </a:t>
            </a:r>
            <a:r>
              <a:rPr lang="fr-FR" sz="1600" b="1" dirty="0" smtClean="0">
                <a:solidFill>
                  <a:schemeClr val="tx2"/>
                </a:solidFill>
              </a:rPr>
              <a:t>effet</a:t>
            </a:r>
            <a:br>
              <a:rPr lang="fr-FR" sz="1600" b="1" dirty="0" smtClean="0">
                <a:solidFill>
                  <a:schemeClr val="tx2"/>
                </a:solidFill>
              </a:rPr>
            </a:br>
            <a:r>
              <a:rPr lang="fr-FR" sz="1600" b="1" dirty="0" smtClean="0">
                <a:solidFill>
                  <a:schemeClr val="tx2"/>
                </a:solidFill>
              </a:rPr>
              <a:t>au </a:t>
            </a:r>
            <a:r>
              <a:rPr lang="fr-FR" sz="1600" b="1" dirty="0">
                <a:solidFill>
                  <a:schemeClr val="tx2"/>
                </a:solidFill>
              </a:rPr>
              <a:t>1</a:t>
            </a:r>
            <a:r>
              <a:rPr lang="fr-FR" sz="1600" b="1" baseline="30000" dirty="0">
                <a:solidFill>
                  <a:schemeClr val="tx2"/>
                </a:solidFill>
              </a:rPr>
              <a:t>er</a:t>
            </a:r>
            <a:r>
              <a:rPr lang="fr-FR" sz="1600" b="1" dirty="0">
                <a:solidFill>
                  <a:schemeClr val="tx2"/>
                </a:solidFill>
              </a:rPr>
              <a:t> janvier </a:t>
            </a:r>
            <a:r>
              <a:rPr lang="fr-FR" sz="1600" b="1" dirty="0" smtClean="0">
                <a:solidFill>
                  <a:schemeClr val="tx2"/>
                </a:solidFill>
              </a:rPr>
              <a:t>2026.</a:t>
            </a:r>
          </a:p>
          <a:p>
            <a:pPr>
              <a:spcAft>
                <a:spcPts val="600"/>
              </a:spcAft>
            </a:pPr>
            <a:r>
              <a:rPr lang="fr-FR" sz="1200" dirty="0" smtClean="0">
                <a:solidFill>
                  <a:schemeClr val="tx2"/>
                </a:solidFill>
              </a:rPr>
              <a:t>Elle s’applique donc, </a:t>
            </a:r>
            <a:r>
              <a:rPr lang="fr-FR" sz="1200" dirty="0">
                <a:solidFill>
                  <a:schemeClr val="tx2"/>
                </a:solidFill>
              </a:rPr>
              <a:t>en matière d’impôt sur les bénéfices, aux </a:t>
            </a:r>
            <a:r>
              <a:rPr lang="fr-FR" sz="1200" b="1" dirty="0">
                <a:solidFill>
                  <a:schemeClr val="tx2"/>
                </a:solidFill>
              </a:rPr>
              <a:t>exercices clos à compter du </a:t>
            </a:r>
            <a:br>
              <a:rPr lang="fr-FR" sz="1200" b="1" dirty="0">
                <a:solidFill>
                  <a:schemeClr val="tx2"/>
                </a:solidFill>
              </a:rPr>
            </a:br>
            <a:r>
              <a:rPr lang="fr-FR" sz="1200" b="1" dirty="0" smtClean="0">
                <a:solidFill>
                  <a:schemeClr val="tx2"/>
                </a:solidFill>
              </a:rPr>
              <a:t>1</a:t>
            </a:r>
            <a:r>
              <a:rPr lang="fr-FR" sz="1200" b="1" baseline="30000" dirty="0" smtClean="0">
                <a:solidFill>
                  <a:schemeClr val="tx2"/>
                </a:solidFill>
              </a:rPr>
              <a:t>er</a:t>
            </a:r>
            <a:r>
              <a:rPr lang="fr-FR" sz="1200" b="1" dirty="0" smtClean="0">
                <a:solidFill>
                  <a:schemeClr val="tx2"/>
                </a:solidFill>
              </a:rPr>
              <a:t> </a:t>
            </a:r>
            <a:r>
              <a:rPr lang="fr-FR" sz="1200" b="1" dirty="0">
                <a:solidFill>
                  <a:schemeClr val="tx2"/>
                </a:solidFill>
              </a:rPr>
              <a:t>janvier 2026 </a:t>
            </a:r>
            <a:r>
              <a:rPr lang="fr-FR" sz="1200" dirty="0">
                <a:solidFill>
                  <a:schemeClr val="tx2"/>
                </a:solidFill>
              </a:rPr>
              <a:t>et, en matière d’impôts locaux, aux </a:t>
            </a:r>
            <a:r>
              <a:rPr lang="fr-FR" sz="1200" b="1" dirty="0">
                <a:solidFill>
                  <a:schemeClr val="tx2"/>
                </a:solidFill>
              </a:rPr>
              <a:t>impositions établies à compter de 2027</a:t>
            </a:r>
            <a:r>
              <a:rPr lang="fr-FR" sz="12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3311999" y="2131219"/>
            <a:ext cx="2520000" cy="2571410"/>
          </a:xfrm>
          <a:prstGeom prst="roundRect">
            <a:avLst>
              <a:gd name="adj" fmla="val 4417"/>
            </a:avLst>
          </a:prstGeom>
          <a:solidFill>
            <a:srgbClr val="000091">
              <a:alpha val="10196"/>
            </a:srgbClr>
          </a:solidFill>
          <a:ln>
            <a:noFill/>
          </a:ln>
        </p:spPr>
        <p:txBody>
          <a:bodyPr lIns="72000" tIns="72000" rIns="72000" bIns="72000" anchor="b"/>
          <a:lstStyle/>
          <a:p>
            <a:pPr>
              <a:spcAft>
                <a:spcPts val="400"/>
              </a:spcAft>
            </a:pPr>
            <a:r>
              <a:rPr lang="fr-FR" sz="1200" dirty="0" smtClean="0">
                <a:solidFill>
                  <a:schemeClr val="tx2"/>
                </a:solidFill>
              </a:rPr>
              <a:t>Pour les activités non sédentaires, </a:t>
            </a:r>
            <a:r>
              <a:rPr lang="fr-FR" sz="1200" dirty="0">
                <a:solidFill>
                  <a:schemeClr val="tx2"/>
                </a:solidFill>
              </a:rPr>
              <a:t>l</a:t>
            </a:r>
            <a:r>
              <a:rPr lang="fr-FR" sz="1200" dirty="0" smtClean="0">
                <a:solidFill>
                  <a:schemeClr val="tx2"/>
                </a:solidFill>
              </a:rPr>
              <a:t>’</a:t>
            </a:r>
            <a:r>
              <a:rPr lang="fr-FR" sz="1400" b="1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exonération d’impôt sur les bénéfices </a:t>
            </a:r>
            <a:r>
              <a:rPr lang="fr-FR" sz="1200" dirty="0" smtClean="0">
                <a:solidFill>
                  <a:schemeClr val="tx2"/>
                </a:solidFill>
              </a:rPr>
              <a:t>s’applique</a:t>
            </a:r>
            <a:r>
              <a:rPr lang="fr-FR" sz="1200" dirty="0">
                <a:solidFill>
                  <a:schemeClr val="tx2"/>
                </a:solidFill>
              </a:rPr>
              <a:t> si ≥25 </a:t>
            </a:r>
            <a:r>
              <a:rPr lang="fr-FR" sz="1200" dirty="0" smtClean="0">
                <a:solidFill>
                  <a:schemeClr val="tx2"/>
                </a:solidFill>
              </a:rPr>
              <a:t>% du CA est </a:t>
            </a:r>
            <a:r>
              <a:rPr lang="fr-FR" sz="1200" dirty="0">
                <a:solidFill>
                  <a:schemeClr val="tx2"/>
                </a:solidFill>
              </a:rPr>
              <a:t>réalisé au sein d’un </a:t>
            </a:r>
            <a:r>
              <a:rPr lang="fr-FR" sz="1200" dirty="0" smtClean="0">
                <a:solidFill>
                  <a:schemeClr val="tx2"/>
                </a:solidFill>
              </a:rPr>
              <a:t>QPV. </a:t>
            </a:r>
          </a:p>
          <a:p>
            <a:pPr>
              <a:spcAft>
                <a:spcPts val="400"/>
              </a:spcAft>
            </a:pPr>
            <a:r>
              <a:rPr lang="fr-FR" sz="1100" dirty="0" smtClean="0">
                <a:solidFill>
                  <a:schemeClr val="tx2"/>
                </a:solidFill>
              </a:rPr>
              <a:t>En-deçà, l’exonération s’applique à </a:t>
            </a:r>
            <a:r>
              <a:rPr lang="fr-FR" sz="1100" dirty="0">
                <a:solidFill>
                  <a:schemeClr val="tx2"/>
                </a:solidFill>
              </a:rPr>
              <a:t>hauteur du </a:t>
            </a:r>
            <a:r>
              <a:rPr lang="fr-FR" sz="1100" dirty="0" smtClean="0">
                <a:solidFill>
                  <a:schemeClr val="tx2"/>
                </a:solidFill>
              </a:rPr>
              <a:t>chiffre d’affaires effectivement réalisé </a:t>
            </a:r>
            <a:r>
              <a:rPr lang="fr-FR" sz="1100" dirty="0">
                <a:solidFill>
                  <a:schemeClr val="tx2"/>
                </a:solidFill>
              </a:rPr>
              <a:t>en </a:t>
            </a:r>
            <a:r>
              <a:rPr lang="fr-FR" sz="1100" dirty="0" smtClean="0">
                <a:solidFill>
                  <a:schemeClr val="tx2"/>
                </a:solidFill>
              </a:rPr>
              <a:t>QPV.</a:t>
            </a:r>
            <a:endParaRPr lang="fr-FR" sz="1100" b="1" dirty="0">
              <a:solidFill>
                <a:schemeClr val="bg2"/>
              </a:solidFill>
            </a:endParaRPr>
          </a:p>
          <a:p>
            <a:pPr>
              <a:spcAft>
                <a:spcPts val="400"/>
              </a:spcAft>
            </a:pPr>
            <a:r>
              <a:rPr lang="fr-FR" sz="1100" dirty="0" smtClean="0">
                <a:solidFill>
                  <a:schemeClr val="tx2"/>
                </a:solidFill>
              </a:rPr>
              <a:t>En revanche, les </a:t>
            </a:r>
            <a:r>
              <a:rPr lang="fr-FR" sz="1300" b="1" i="1" dirty="0">
                <a:solidFill>
                  <a:schemeClr val="tx2"/>
                </a:solidFill>
                <a:latin typeface="Spectral" panose="02020502060000000000" pitchFamily="18" charset="0"/>
              </a:rPr>
              <a:t>exonérations </a:t>
            </a:r>
            <a:r>
              <a:rPr lang="fr-FR" sz="1300" b="1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d’impôts locaux </a:t>
            </a:r>
            <a:r>
              <a:rPr lang="fr-FR" sz="1100" dirty="0" smtClean="0">
                <a:solidFill>
                  <a:schemeClr val="tx2"/>
                </a:solidFill>
              </a:rPr>
              <a:t>s’appliquent</a:t>
            </a:r>
            <a:br>
              <a:rPr lang="fr-FR" sz="1100" dirty="0" smtClean="0">
                <a:solidFill>
                  <a:schemeClr val="tx2"/>
                </a:solidFill>
              </a:rPr>
            </a:br>
            <a:r>
              <a:rPr lang="fr-FR" sz="1100" dirty="0" smtClean="0">
                <a:solidFill>
                  <a:schemeClr val="tx2"/>
                </a:solidFill>
              </a:rPr>
              <a:t>en </a:t>
            </a:r>
            <a:r>
              <a:rPr lang="fr-FR" sz="1100" dirty="0">
                <a:solidFill>
                  <a:schemeClr val="tx2"/>
                </a:solidFill>
              </a:rPr>
              <a:t>tout cas.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6120176" y="2116180"/>
            <a:ext cx="2520000" cy="2571410"/>
          </a:xfrm>
          <a:prstGeom prst="roundRect">
            <a:avLst>
              <a:gd name="adj" fmla="val 5858"/>
            </a:avLst>
          </a:prstGeom>
          <a:solidFill>
            <a:srgbClr val="FFE666">
              <a:alpha val="9804"/>
            </a:srgbClr>
          </a:solidFill>
          <a:ln>
            <a:noFill/>
          </a:ln>
        </p:spPr>
        <p:txBody>
          <a:bodyPr lIns="72000" tIns="72000" rIns="72000" bIns="72000" anchor="b"/>
          <a:lstStyle/>
          <a:p>
            <a:pPr>
              <a:spcAft>
                <a:spcPts val="1200"/>
              </a:spcAft>
            </a:pPr>
            <a:r>
              <a:rPr lang="fr-FR" sz="1200" dirty="0">
                <a:solidFill>
                  <a:schemeClr val="tx2"/>
                </a:solidFill>
              </a:rPr>
              <a:t>U</a:t>
            </a:r>
            <a:r>
              <a:rPr lang="fr-FR" sz="1200" dirty="0" smtClean="0">
                <a:solidFill>
                  <a:schemeClr val="tx2"/>
                </a:solidFill>
              </a:rPr>
              <a:t>ne collectivité territoriale</a:t>
            </a:r>
            <a:br>
              <a:rPr lang="fr-FR" sz="1200" dirty="0" smtClean="0">
                <a:solidFill>
                  <a:schemeClr val="tx2"/>
                </a:solidFill>
              </a:rPr>
            </a:br>
            <a:r>
              <a:rPr lang="fr-FR" sz="1200" dirty="0" smtClean="0">
                <a:solidFill>
                  <a:schemeClr val="tx2"/>
                </a:solidFill>
              </a:rPr>
              <a:t>a </a:t>
            </a:r>
            <a:r>
              <a:rPr lang="fr-FR" sz="1200" dirty="0">
                <a:solidFill>
                  <a:schemeClr val="tx2"/>
                </a:solidFill>
              </a:rPr>
              <a:t>la </a:t>
            </a:r>
            <a:r>
              <a:rPr lang="fr-FR" sz="1200" b="1" dirty="0" smtClean="0">
                <a:solidFill>
                  <a:schemeClr val="tx2"/>
                </a:solidFill>
              </a:rPr>
              <a:t>possibilité de s’opposer</a:t>
            </a:r>
            <a:br>
              <a:rPr lang="fr-FR" sz="1200" b="1" dirty="0" smtClean="0">
                <a:solidFill>
                  <a:schemeClr val="tx2"/>
                </a:solidFill>
              </a:rPr>
            </a:br>
            <a:r>
              <a:rPr lang="fr-FR" sz="1200" b="1" dirty="0" smtClean="0">
                <a:solidFill>
                  <a:schemeClr val="tx2"/>
                </a:solidFill>
              </a:rPr>
              <a:t>à l’</a:t>
            </a:r>
            <a:r>
              <a:rPr lang="fr-FR" sz="1400" b="1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exonération des impôts locaux</a:t>
            </a:r>
            <a:r>
              <a:rPr lang="fr-FR" sz="1200" dirty="0" smtClean="0">
                <a:solidFill>
                  <a:schemeClr val="tx2"/>
                </a:solidFill>
              </a:rPr>
              <a:t>, avant le 19 juin 2026.</a:t>
            </a:r>
          </a:p>
          <a:p>
            <a:pPr>
              <a:spcAft>
                <a:spcPts val="600"/>
              </a:spcAft>
            </a:pPr>
            <a:r>
              <a:rPr lang="fr-FR" sz="1100" dirty="0" smtClean="0">
                <a:solidFill>
                  <a:schemeClr val="tx2"/>
                </a:solidFill>
              </a:rPr>
              <a:t>Cependant, les organes délibérants des collectivités </a:t>
            </a:r>
            <a:br>
              <a:rPr lang="fr-FR" sz="1100" dirty="0" smtClean="0">
                <a:solidFill>
                  <a:schemeClr val="tx2"/>
                </a:solidFill>
              </a:rPr>
            </a:br>
            <a:r>
              <a:rPr lang="fr-FR" sz="1100" b="1" dirty="0" smtClean="0">
                <a:solidFill>
                  <a:schemeClr val="tx2"/>
                </a:solidFill>
              </a:rPr>
              <a:t>ne peuvent pas s’opposer aux exonérations d’</a:t>
            </a:r>
            <a:r>
              <a:rPr lang="fr-FR" sz="1300" b="1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impôt sur les bénéfices </a:t>
            </a:r>
            <a:r>
              <a:rPr lang="fr-FR" sz="1100" dirty="0" smtClean="0">
                <a:solidFill>
                  <a:schemeClr val="tx2"/>
                </a:solidFill>
              </a:rPr>
              <a:t>: celles-ci s’appliquent aux activités éligibles dans </a:t>
            </a:r>
            <a:br>
              <a:rPr lang="fr-FR" sz="1100" dirty="0" smtClean="0">
                <a:solidFill>
                  <a:schemeClr val="tx2"/>
                </a:solidFill>
              </a:rPr>
            </a:br>
            <a:r>
              <a:rPr lang="fr-FR" sz="1100" dirty="0" smtClean="0">
                <a:solidFill>
                  <a:schemeClr val="tx2"/>
                </a:solidFill>
              </a:rPr>
              <a:t>tous les QPV.</a:t>
            </a:r>
            <a:endParaRPr lang="fr-FR" sz="1100" dirty="0">
              <a:solidFill>
                <a:schemeClr val="tx2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298" y="4042561"/>
            <a:ext cx="751215" cy="751215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777" y="4003717"/>
            <a:ext cx="858983" cy="858983"/>
          </a:xfrm>
          <a:prstGeom prst="rect">
            <a:avLst/>
          </a:prstGeom>
        </p:spPr>
      </p:pic>
      <p:sp>
        <p:nvSpPr>
          <p:cNvPr id="13" name="Titre 1"/>
          <p:cNvSpPr txBox="1">
            <a:spLocks/>
          </p:cNvSpPr>
          <p:nvPr/>
        </p:nvSpPr>
        <p:spPr bwMode="gray">
          <a:xfrm>
            <a:off x="323529" y="1307232"/>
            <a:ext cx="8460471" cy="72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200" dirty="0" smtClean="0">
                <a:solidFill>
                  <a:schemeClr val="tx2"/>
                </a:solidFill>
              </a:rPr>
              <a:t>Un dispositif unique</a:t>
            </a:r>
            <a:br>
              <a:rPr lang="fr-FR" sz="22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d’exonération d’</a:t>
            </a:r>
            <a:r>
              <a:rPr lang="fr-FR" sz="2400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impôt sur les bénéfices</a:t>
            </a:r>
            <a:r>
              <a:rPr lang="fr-FR" sz="2400" dirty="0" smtClean="0">
                <a:solidFill>
                  <a:schemeClr val="tx2"/>
                </a:solidFill>
              </a:rPr>
              <a:t/>
            </a:r>
            <a:br>
              <a:rPr lang="fr-FR" sz="24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et d’exonérations d’</a:t>
            </a:r>
            <a:r>
              <a:rPr lang="fr-FR" sz="2400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impôts locaux</a:t>
            </a:r>
            <a:endParaRPr lang="fr-FR" sz="2400" i="1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1050" y="1238652"/>
            <a:ext cx="2278782" cy="130567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3383842" y="2201227"/>
            <a:ext cx="1396801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AGIR DANS LES QPV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6219176" y="2186188"/>
            <a:ext cx="1343674" cy="176763"/>
          </a:xfrm>
          <a:prstGeom prst="roundRect">
            <a:avLst>
              <a:gd name="adj" fmla="val 38766"/>
            </a:avLst>
          </a:prstGeom>
          <a:solidFill>
            <a:srgbClr val="FFE6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 smtClean="0">
                <a:solidFill>
                  <a:schemeClr val="tx2"/>
                </a:solidFill>
              </a:rPr>
              <a:t>LIBERTÉS LOCALES</a:t>
            </a:r>
            <a:endParaRPr lang="fr-FR" sz="900" b="1" dirty="0">
              <a:solidFill>
                <a:schemeClr val="tx2"/>
              </a:solidFill>
            </a:endParaRPr>
          </a:p>
        </p:txBody>
      </p:sp>
      <p:sp>
        <p:nvSpPr>
          <p:cNvPr id="17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8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20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717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8758" y="935026"/>
            <a:ext cx="8855242" cy="38088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>
          <a:xfrm>
            <a:off x="792911" y="2742173"/>
            <a:ext cx="6662057" cy="951149"/>
          </a:xfrm>
        </p:spPr>
        <p:txBody>
          <a:bodyPr anchor="ctr"/>
          <a:lstStyle/>
          <a:p>
            <a:r>
              <a:rPr lang="fr-FR" sz="3600" i="1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  <a:t>Quels cas d’exclusion du bénéfice</a:t>
            </a:r>
            <a:br>
              <a:rPr lang="fr-FR" sz="3600" i="1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3600" i="1" cap="none" dirty="0" smtClean="0">
                <a:solidFill>
                  <a:schemeClr val="tx2"/>
                </a:solidFill>
                <a:latin typeface="Spectral" panose="02020502060000000000" pitchFamily="18" charset="0"/>
              </a:rPr>
              <a:t>des aides fiscales ?</a:t>
            </a:r>
            <a:endParaRPr lang="fr-FR" sz="3600" b="0" i="1" cap="none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792911" y="1366865"/>
            <a:ext cx="192881" cy="166687"/>
          </a:xfrm>
          <a:solidFill>
            <a:srgbClr val="000091"/>
          </a:solidFill>
          <a:ln w="25400" cap="rnd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/>
            <a:r>
              <a:rPr lang="fr-FR" sz="100" b="1" dirty="0" smtClean="0">
                <a:solidFill>
                  <a:schemeClr val="bg1"/>
                </a:solidFill>
              </a:rPr>
              <a:t> </a:t>
            </a:r>
            <a:endParaRPr lang="fr-FR" sz="1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792911" y="2466003"/>
            <a:ext cx="948777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000" dirty="0" smtClean="0">
                <a:solidFill>
                  <a:srgbClr val="000091"/>
                </a:solidFill>
              </a:rPr>
              <a:t>PARTIE 3.3</a:t>
            </a:r>
            <a:endParaRPr lang="fr-FR" sz="1000" dirty="0">
              <a:solidFill>
                <a:srgbClr val="000091"/>
              </a:solidFill>
            </a:endParaRP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792911" y="1333690"/>
            <a:ext cx="4982171" cy="408089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</p:spPr>
        <p:txBody>
          <a:bodyPr lIns="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1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3.</a:t>
            </a:r>
            <a:r>
              <a:rPr lang="fr-FR" sz="1100" dirty="0" smtClean="0">
                <a:solidFill>
                  <a:schemeClr val="bg1"/>
                </a:solidFill>
              </a:rPr>
              <a:t>  </a:t>
            </a:r>
            <a:r>
              <a:rPr lang="fr-FR" sz="1100" dirty="0" smtClean="0">
                <a:solidFill>
                  <a:schemeClr val="tx2"/>
                </a:solidFill>
              </a:rPr>
              <a:t>Des allègements fiscaux renforcés et simplifiés</a:t>
            </a:r>
          </a:p>
          <a:p>
            <a:r>
              <a:rPr lang="fr-FR" sz="1100" b="0" dirty="0">
                <a:solidFill>
                  <a:schemeClr val="tx2"/>
                </a:solidFill>
              </a:rPr>
              <a:t>p</a:t>
            </a:r>
            <a:r>
              <a:rPr lang="fr-FR" sz="1100" b="0" dirty="0" smtClean="0">
                <a:solidFill>
                  <a:schemeClr val="tx2"/>
                </a:solidFill>
              </a:rPr>
              <a:t>our les acteurs économiques de proximité</a:t>
            </a:r>
            <a:endParaRPr lang="fr-FR" sz="1100" b="0" dirty="0">
              <a:solidFill>
                <a:schemeClr val="tx2"/>
              </a:solidFill>
            </a:endParaRPr>
          </a:p>
        </p:txBody>
      </p:sp>
      <p:cxnSp>
        <p:nvCxnSpPr>
          <p:cNvPr id="9" name="Connecteur droit 8"/>
          <p:cNvCxnSpPr/>
          <p:nvPr/>
        </p:nvCxnSpPr>
        <p:spPr>
          <a:xfrm flipV="1">
            <a:off x="792911" y="1741779"/>
            <a:ext cx="1488327" cy="3313"/>
          </a:xfrm>
          <a:prstGeom prst="line">
            <a:avLst/>
          </a:prstGeom>
          <a:ln>
            <a:solidFill>
              <a:srgbClr val="0000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1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mtClean="0"/>
              <a:t>Nouvelles mesures d’incitation fiscale en faveur du développement des activités économiques</a:t>
            </a:r>
            <a:br>
              <a:rPr lang="fr-FR" smtClean="0"/>
            </a:br>
            <a:r>
              <a:rPr lang="fr-FR" smtClean="0"/>
              <a:t>dans les quartiers prioritaires de la politique de la ville</a:t>
            </a:r>
            <a:endParaRPr lang="fr-FR" dirty="0" smtClean="0"/>
          </a:p>
        </p:txBody>
      </p:sp>
      <p:sp>
        <p:nvSpPr>
          <p:cNvPr id="13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20</a:t>
            </a:fld>
            <a:endParaRPr lang="fr-FR" dirty="0"/>
          </a:p>
        </p:txBody>
      </p:sp>
      <p:cxnSp>
        <p:nvCxnSpPr>
          <p:cNvPr id="14" name="Connecteur droit 13"/>
          <p:cNvCxnSpPr/>
          <p:nvPr/>
        </p:nvCxnSpPr>
        <p:spPr bwMode="gray">
          <a:xfrm>
            <a:off x="319602" y="4783500"/>
            <a:ext cx="8464398" cy="90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49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9" y="1108532"/>
            <a:ext cx="8460471" cy="913511"/>
          </a:xfrm>
        </p:spPr>
        <p:txBody>
          <a:bodyPr anchor="ctr"/>
          <a:lstStyle/>
          <a:p>
            <a:r>
              <a:rPr lang="fr-FR" sz="2200" dirty="0" smtClean="0">
                <a:solidFill>
                  <a:schemeClr val="tx2"/>
                </a:solidFill>
              </a:rPr>
              <a:t>Pour garantir leur finalité et leur caractère incitatif,</a:t>
            </a:r>
            <a:br>
              <a:rPr lang="fr-FR" sz="22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ces allègements fiscaux ne peuvent pas être cumulés</a:t>
            </a:r>
            <a:br>
              <a:rPr lang="fr-FR" sz="22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avec d’autres dispositifs et dans certains cas</a:t>
            </a:r>
            <a:endParaRPr lang="fr-FR" sz="2200" dirty="0">
              <a:solidFill>
                <a:schemeClr val="tx2"/>
              </a:solidFill>
            </a:endParaRPr>
          </a:p>
        </p:txBody>
      </p:sp>
      <p:sp>
        <p:nvSpPr>
          <p:cNvPr id="21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264000" y="2222405"/>
            <a:ext cx="2557462" cy="1157839"/>
          </a:xfrm>
          <a:prstGeom prst="roundRect">
            <a:avLst>
              <a:gd name="adj" fmla="val 6137"/>
            </a:avLst>
          </a:prstGeom>
          <a:solidFill>
            <a:schemeClr val="bg2">
              <a:alpha val="10000"/>
            </a:schemeClr>
          </a:solidFill>
        </p:spPr>
        <p:txBody>
          <a:bodyPr lIns="72000" tIns="72000" rIns="72000" bIns="72000" anchor="ctr"/>
          <a:lstStyle/>
          <a:p>
            <a:r>
              <a:rPr lang="fr-FR" sz="1200" dirty="0" smtClean="0">
                <a:solidFill>
                  <a:schemeClr val="bg2"/>
                </a:solidFill>
              </a:rPr>
              <a:t>Le contribuable </a:t>
            </a:r>
            <a:r>
              <a:rPr lang="fr-FR" sz="1200" b="1" dirty="0" smtClean="0">
                <a:solidFill>
                  <a:schemeClr val="bg2"/>
                </a:solidFill>
              </a:rPr>
              <a:t>éligible </a:t>
            </a:r>
            <a:br>
              <a:rPr lang="fr-FR" sz="1200" b="1" dirty="0" smtClean="0">
                <a:solidFill>
                  <a:schemeClr val="bg2"/>
                </a:solidFill>
              </a:rPr>
            </a:br>
            <a:r>
              <a:rPr lang="fr-FR" sz="1200" b="1" dirty="0" smtClean="0">
                <a:solidFill>
                  <a:schemeClr val="bg2"/>
                </a:solidFill>
              </a:rPr>
              <a:t>à d’autres exonérations fiscales doit opter pour un seul de ces régimes </a:t>
            </a:r>
            <a:r>
              <a:rPr lang="fr-FR" sz="1200" dirty="0" smtClean="0">
                <a:solidFill>
                  <a:schemeClr val="bg2"/>
                </a:solidFill>
              </a:rPr>
              <a:t>dans les 6 mois suivant le début de son activité.</a:t>
            </a:r>
            <a:endParaRPr lang="fr-FR" sz="1200" dirty="0">
              <a:solidFill>
                <a:schemeClr val="bg2"/>
              </a:solidFill>
            </a:endParaRPr>
          </a:p>
        </p:txBody>
      </p:sp>
      <p:sp>
        <p:nvSpPr>
          <p:cNvPr id="22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226538" y="3547509"/>
            <a:ext cx="2557462" cy="1157839"/>
          </a:xfrm>
          <a:prstGeom prst="roundRect">
            <a:avLst>
              <a:gd name="adj" fmla="val 5479"/>
            </a:avLst>
          </a:prstGeom>
          <a:solidFill>
            <a:schemeClr val="bg2">
              <a:alpha val="10000"/>
            </a:schemeClr>
          </a:solidFill>
        </p:spPr>
        <p:txBody>
          <a:bodyPr lIns="72000" tIns="72000" rIns="72000" bIns="72000" anchor="ctr"/>
          <a:lstStyle/>
          <a:p>
            <a:r>
              <a:rPr lang="fr-FR" sz="1200" dirty="0">
                <a:solidFill>
                  <a:schemeClr val="bg2"/>
                </a:solidFill>
              </a:rPr>
              <a:t>L</a:t>
            </a:r>
            <a:r>
              <a:rPr lang="fr-FR" sz="1200" dirty="0" smtClean="0">
                <a:solidFill>
                  <a:schemeClr val="bg2"/>
                </a:solidFill>
              </a:rPr>
              <a:t>e </a:t>
            </a:r>
            <a:r>
              <a:rPr lang="fr-FR" sz="1200" dirty="0">
                <a:solidFill>
                  <a:schemeClr val="bg2"/>
                </a:solidFill>
              </a:rPr>
              <a:t>bénéfice des exonérations </a:t>
            </a:r>
            <a:r>
              <a:rPr lang="fr-FR" sz="1200" dirty="0" smtClean="0">
                <a:solidFill>
                  <a:schemeClr val="bg2"/>
                </a:solidFill>
              </a:rPr>
              <a:t/>
            </a:r>
            <a:br>
              <a:rPr lang="fr-FR" sz="1200" dirty="0" smtClean="0">
                <a:solidFill>
                  <a:schemeClr val="bg2"/>
                </a:solidFill>
              </a:rPr>
            </a:br>
            <a:r>
              <a:rPr lang="fr-FR" sz="1200" dirty="0" smtClean="0">
                <a:solidFill>
                  <a:schemeClr val="bg2"/>
                </a:solidFill>
              </a:rPr>
              <a:t>est </a:t>
            </a:r>
            <a:r>
              <a:rPr lang="fr-FR" sz="1200" dirty="0">
                <a:solidFill>
                  <a:schemeClr val="bg2"/>
                </a:solidFill>
              </a:rPr>
              <a:t>subordonné au </a:t>
            </a:r>
            <a:r>
              <a:rPr lang="fr-FR" sz="1200" b="1" dirty="0" smtClean="0">
                <a:solidFill>
                  <a:schemeClr val="bg2"/>
                </a:solidFill>
              </a:rPr>
              <a:t>respect</a:t>
            </a:r>
            <a:br>
              <a:rPr lang="fr-FR" sz="1200" b="1" dirty="0" smtClean="0">
                <a:solidFill>
                  <a:schemeClr val="bg2"/>
                </a:solidFill>
              </a:rPr>
            </a:br>
            <a:r>
              <a:rPr lang="fr-FR" sz="1200" b="1" dirty="0" smtClean="0">
                <a:solidFill>
                  <a:schemeClr val="bg2"/>
                </a:solidFill>
              </a:rPr>
              <a:t>du </a:t>
            </a:r>
            <a:r>
              <a:rPr lang="fr-FR" sz="1200" b="1" dirty="0">
                <a:solidFill>
                  <a:schemeClr val="bg2"/>
                </a:solidFill>
              </a:rPr>
              <a:t>règlement </a:t>
            </a:r>
            <a:r>
              <a:rPr lang="fr-FR" sz="1200" b="1" dirty="0" smtClean="0">
                <a:solidFill>
                  <a:schemeClr val="bg2"/>
                </a:solidFill>
              </a:rPr>
              <a:t>européen</a:t>
            </a:r>
            <a:br>
              <a:rPr lang="fr-FR" sz="1200" b="1" dirty="0" smtClean="0">
                <a:solidFill>
                  <a:schemeClr val="bg2"/>
                </a:solidFill>
              </a:rPr>
            </a:br>
            <a:r>
              <a:rPr lang="fr-FR" sz="1200" b="1" dirty="0" smtClean="0">
                <a:solidFill>
                  <a:schemeClr val="bg2"/>
                </a:solidFill>
              </a:rPr>
              <a:t>sur </a:t>
            </a:r>
            <a:r>
              <a:rPr lang="fr-FR" sz="1200" b="1" dirty="0">
                <a:solidFill>
                  <a:schemeClr val="bg2"/>
                </a:solidFill>
              </a:rPr>
              <a:t> </a:t>
            </a:r>
            <a:r>
              <a:rPr lang="fr-FR" sz="1200" b="1" dirty="0" smtClean="0">
                <a:solidFill>
                  <a:schemeClr val="bg2"/>
                </a:solidFill>
              </a:rPr>
              <a:t>les </a:t>
            </a:r>
            <a:r>
              <a:rPr lang="fr-FR" sz="1200" b="1" dirty="0">
                <a:solidFill>
                  <a:schemeClr val="bg2"/>
                </a:solidFill>
              </a:rPr>
              <a:t>aides </a:t>
            </a:r>
            <a:r>
              <a:rPr lang="fr-FR" sz="1200" b="1" dirty="0" smtClean="0">
                <a:solidFill>
                  <a:schemeClr val="bg2"/>
                </a:solidFill>
              </a:rPr>
              <a:t>dites de</a:t>
            </a:r>
            <a:r>
              <a:rPr lang="fr-FR" sz="1200" b="1" i="1" dirty="0" smtClean="0">
                <a:solidFill>
                  <a:schemeClr val="bg2"/>
                </a:solidFill>
              </a:rPr>
              <a:t> minimis</a:t>
            </a:r>
            <a:r>
              <a:rPr lang="fr-FR" sz="1200" dirty="0">
                <a:solidFill>
                  <a:schemeClr val="bg2"/>
                </a:solidFill>
              </a:rPr>
              <a:t/>
            </a:r>
            <a:br>
              <a:rPr lang="fr-FR" sz="1200" dirty="0">
                <a:solidFill>
                  <a:schemeClr val="bg2"/>
                </a:solidFill>
              </a:rPr>
            </a:br>
            <a:r>
              <a:rPr lang="fr-FR" sz="1200" dirty="0" smtClean="0">
                <a:solidFill>
                  <a:schemeClr val="bg2"/>
                </a:solidFill>
              </a:rPr>
              <a:t>(300 000 € sur 3 ans). </a:t>
            </a:r>
            <a:endParaRPr lang="fr-FR" sz="1200" dirty="0">
              <a:solidFill>
                <a:schemeClr val="bg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23715" y="1281615"/>
            <a:ext cx="2668810" cy="144056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 19"/>
          <p:cNvSpPr/>
          <p:nvPr/>
        </p:nvSpPr>
        <p:spPr>
          <a:xfrm>
            <a:off x="4718844" y="1281615"/>
            <a:ext cx="2409031" cy="144056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19602" y="3542195"/>
            <a:ext cx="2557462" cy="1157839"/>
          </a:xfrm>
          <a:prstGeom prst="roundRect">
            <a:avLst>
              <a:gd name="adj" fmla="val 6796"/>
            </a:avLst>
          </a:prstGeom>
          <a:solidFill>
            <a:schemeClr val="bg2">
              <a:alpha val="10000"/>
            </a:schemeClr>
          </a:solidFill>
        </p:spPr>
        <p:txBody>
          <a:bodyPr lIns="72000" tIns="72000" rIns="72000" bIns="72000" anchor="ctr"/>
          <a:lstStyle/>
          <a:p>
            <a:r>
              <a:rPr lang="fr-FR" sz="1200" dirty="0" smtClean="0">
                <a:solidFill>
                  <a:schemeClr val="bg2"/>
                </a:solidFill>
              </a:rPr>
              <a:t>Les entreprises </a:t>
            </a:r>
            <a:r>
              <a:rPr lang="fr-FR" sz="1200" b="1" dirty="0" smtClean="0">
                <a:solidFill>
                  <a:schemeClr val="bg2"/>
                </a:solidFill>
              </a:rPr>
              <a:t>bénéficiant déjà d’exonérations au titre de leur implantation en QPV ou ZFU-TE ou d’exonérations de CFE ou TFPB </a:t>
            </a:r>
            <a:r>
              <a:rPr lang="fr-FR" sz="1200" dirty="0" smtClean="0">
                <a:solidFill>
                  <a:schemeClr val="bg2"/>
                </a:solidFill>
              </a:rPr>
              <a:t>ne sont pas éligibles.</a:t>
            </a:r>
            <a:endParaRPr lang="fr-FR" sz="1200" dirty="0">
              <a:solidFill>
                <a:schemeClr val="bg2"/>
              </a:solidFill>
            </a:endParaRPr>
          </a:p>
        </p:txBody>
      </p:sp>
      <p:sp>
        <p:nvSpPr>
          <p:cNvPr id="28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330715" y="3547509"/>
            <a:ext cx="2557462" cy="1152525"/>
          </a:xfrm>
          <a:prstGeom prst="roundRect">
            <a:avLst>
              <a:gd name="adj" fmla="val 6088"/>
            </a:avLst>
          </a:prstGeom>
          <a:solidFill>
            <a:schemeClr val="bg2">
              <a:alpha val="10000"/>
            </a:schemeClr>
          </a:solidFill>
        </p:spPr>
        <p:txBody>
          <a:bodyPr lIns="72000" tIns="72000" rIns="72000" bIns="72000" anchor="ctr"/>
          <a:lstStyle/>
          <a:p>
            <a:r>
              <a:rPr lang="fr-FR" sz="1200" dirty="0" smtClean="0">
                <a:solidFill>
                  <a:schemeClr val="bg2"/>
                </a:solidFill>
              </a:rPr>
              <a:t>Les reprises ou restructurations d’activités d’une entreprise </a:t>
            </a:r>
            <a:r>
              <a:rPr lang="fr-FR" sz="1200" b="1" dirty="0" smtClean="0">
                <a:solidFill>
                  <a:schemeClr val="bg2"/>
                </a:solidFill>
              </a:rPr>
              <a:t>au sein du cercle familial </a:t>
            </a:r>
            <a:r>
              <a:rPr lang="fr-FR" sz="1200" dirty="0" smtClean="0">
                <a:solidFill>
                  <a:schemeClr val="bg2"/>
                </a:solidFill>
              </a:rPr>
              <a:t>limitent</a:t>
            </a:r>
            <a:br>
              <a:rPr lang="fr-FR" sz="1200" dirty="0" smtClean="0">
                <a:solidFill>
                  <a:schemeClr val="bg2"/>
                </a:solidFill>
              </a:rPr>
            </a:br>
            <a:r>
              <a:rPr lang="fr-FR" sz="1200" dirty="0" smtClean="0">
                <a:solidFill>
                  <a:schemeClr val="bg2"/>
                </a:solidFill>
              </a:rPr>
              <a:t>le bénéfice des exonérations.</a:t>
            </a:r>
            <a:endParaRPr lang="fr-FR" sz="1200" dirty="0">
              <a:solidFill>
                <a:schemeClr val="bg2"/>
              </a:solidFill>
            </a:endParaRPr>
          </a:p>
        </p:txBody>
      </p:sp>
      <p:sp>
        <p:nvSpPr>
          <p:cNvPr id="29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330715" y="2222405"/>
            <a:ext cx="2557462" cy="1157839"/>
          </a:xfrm>
          <a:prstGeom prst="roundRect">
            <a:avLst>
              <a:gd name="adj" fmla="val 6137"/>
            </a:avLst>
          </a:prstGeom>
          <a:solidFill>
            <a:schemeClr val="bg2">
              <a:alpha val="10000"/>
            </a:schemeClr>
          </a:solidFill>
        </p:spPr>
        <p:txBody>
          <a:bodyPr lIns="72000" tIns="72000" rIns="72000" bIns="72000" anchor="ctr"/>
          <a:lstStyle/>
          <a:p>
            <a:r>
              <a:rPr lang="fr-FR" sz="1200" dirty="0" smtClean="0">
                <a:solidFill>
                  <a:schemeClr val="bg2"/>
                </a:solidFill>
              </a:rPr>
              <a:t>Les exonérations ne s’appliquent pas lorsque </a:t>
            </a:r>
            <a:r>
              <a:rPr lang="fr-FR" sz="1200" b="1" dirty="0" smtClean="0">
                <a:solidFill>
                  <a:schemeClr val="bg2"/>
                </a:solidFill>
              </a:rPr>
              <a:t>l’entreprise cesse de manière volontaire son activité en QPV en la délocalisant</a:t>
            </a:r>
            <a:r>
              <a:rPr lang="fr-FR" sz="1200" dirty="0" smtClean="0">
                <a:solidFill>
                  <a:schemeClr val="bg2"/>
                </a:solidFill>
              </a:rPr>
              <a:t>, moins de </a:t>
            </a:r>
            <a:r>
              <a:rPr lang="fr-FR" sz="1200" dirty="0">
                <a:solidFill>
                  <a:schemeClr val="bg2"/>
                </a:solidFill>
              </a:rPr>
              <a:t/>
            </a:r>
            <a:br>
              <a:rPr lang="fr-FR" sz="1200" dirty="0">
                <a:solidFill>
                  <a:schemeClr val="bg2"/>
                </a:solidFill>
              </a:rPr>
            </a:br>
            <a:r>
              <a:rPr lang="fr-FR" sz="1200" dirty="0" smtClean="0">
                <a:solidFill>
                  <a:schemeClr val="bg2"/>
                </a:solidFill>
              </a:rPr>
              <a:t>5 ans après l’exonération.</a:t>
            </a:r>
            <a:endParaRPr lang="fr-FR" sz="1200" dirty="0">
              <a:solidFill>
                <a:schemeClr val="bg2"/>
              </a:solidFill>
            </a:endParaRP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26451" y="2222405"/>
            <a:ext cx="2628441" cy="1157839"/>
          </a:xfrm>
          <a:noFill/>
        </p:spPr>
        <p:txBody>
          <a:bodyPr lIns="72000" tIns="72000" rIns="72000" bIns="72000" anchor="ctr"/>
          <a:lstStyle/>
          <a:p>
            <a:r>
              <a:rPr lang="fr-FR" sz="1550" b="1" i="1" dirty="0">
                <a:solidFill>
                  <a:srgbClr val="000091"/>
                </a:solidFill>
                <a:latin typeface="Spectral" panose="02020502060000000000" pitchFamily="18" charset="0"/>
              </a:rPr>
              <a:t>L’État </a:t>
            </a:r>
            <a:r>
              <a:rPr lang="fr-FR" sz="1550" b="1" i="1" dirty="0" smtClean="0">
                <a:solidFill>
                  <a:srgbClr val="000091"/>
                </a:solidFill>
                <a:latin typeface="Spectral" panose="02020502060000000000" pitchFamily="18" charset="0"/>
              </a:rPr>
              <a:t>apporte des garanties pour que les exonérations profitent concrètement</a:t>
            </a:r>
            <a:br>
              <a:rPr lang="fr-FR" sz="1550" b="1" i="1" dirty="0" smtClean="0">
                <a:solidFill>
                  <a:srgbClr val="000091"/>
                </a:solidFill>
                <a:latin typeface="Spectral" panose="02020502060000000000" pitchFamily="18" charset="0"/>
              </a:rPr>
            </a:br>
            <a:r>
              <a:rPr lang="fr-FR" sz="1550" b="1" i="1" dirty="0" smtClean="0">
                <a:solidFill>
                  <a:srgbClr val="000091"/>
                </a:solidFill>
                <a:latin typeface="Spectral" panose="02020502060000000000" pitchFamily="18" charset="0"/>
              </a:rPr>
              <a:t>aux entrepreneurs</a:t>
            </a:r>
            <a:br>
              <a:rPr lang="fr-FR" sz="1550" b="1" i="1" dirty="0" smtClean="0">
                <a:solidFill>
                  <a:srgbClr val="000091"/>
                </a:solidFill>
                <a:latin typeface="Spectral" panose="02020502060000000000" pitchFamily="18" charset="0"/>
              </a:rPr>
            </a:br>
            <a:r>
              <a:rPr lang="fr-FR" sz="1550" b="1" i="1" dirty="0" smtClean="0">
                <a:solidFill>
                  <a:srgbClr val="000091"/>
                </a:solidFill>
                <a:latin typeface="Spectral" panose="02020502060000000000" pitchFamily="18" charset="0"/>
              </a:rPr>
              <a:t>des territoires urbains.</a:t>
            </a:r>
            <a:endParaRPr lang="fr-FR" sz="1550" b="1" i="1" dirty="0">
              <a:solidFill>
                <a:srgbClr val="000091"/>
              </a:solidFill>
              <a:latin typeface="Spectral" panose="02020502060000000000" pitchFamily="18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128" y="2974101"/>
            <a:ext cx="605392" cy="605392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298" y="4270117"/>
            <a:ext cx="607440" cy="60744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784" y="4290183"/>
            <a:ext cx="567308" cy="567308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768" y="2989613"/>
            <a:ext cx="603970" cy="60397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053" y="4253721"/>
            <a:ext cx="587250" cy="58725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975606" y="2348051"/>
            <a:ext cx="778132" cy="7382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Rectangle 32"/>
          <p:cNvSpPr/>
          <p:nvPr/>
        </p:nvSpPr>
        <p:spPr>
          <a:xfrm>
            <a:off x="1196305" y="2805451"/>
            <a:ext cx="1111126" cy="7382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24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25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515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+mj-lt"/>
              <a:buAutoNum type="arabicPeriod" startAt="4"/>
            </a:pPr>
            <a:r>
              <a:rPr lang="fr-FR" dirty="0"/>
              <a:t>Entrepreneuriat Quartiers 2030 :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faire </a:t>
            </a:r>
            <a:r>
              <a:rPr lang="fr-FR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des </a:t>
            </a:r>
            <a:r>
              <a:rPr lang="fr-FR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quartiers urbains </a:t>
            </a:r>
            <a:br>
              <a:rPr lang="fr-FR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fr-FR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des </a:t>
            </a:r>
            <a:r>
              <a:rPr lang="fr-FR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territoires d’opportunités !</a:t>
            </a:r>
          </a:p>
        </p:txBody>
      </p:sp>
    </p:spTree>
    <p:extLst>
      <p:ext uri="{BB962C8B-B14F-4D97-AF65-F5344CB8AC3E}">
        <p14:creationId xmlns:p14="http://schemas.microsoft.com/office/powerpoint/2010/main" val="342140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9" y="1035199"/>
            <a:ext cx="8460471" cy="720000"/>
          </a:xfrm>
        </p:spPr>
        <p:txBody>
          <a:bodyPr/>
          <a:lstStyle/>
          <a:p>
            <a:pPr>
              <a:tabLst>
                <a:tab pos="2600325" algn="l"/>
              </a:tabLst>
            </a:pPr>
            <a:r>
              <a:rPr lang="fr-FR" sz="2000" dirty="0">
                <a:solidFill>
                  <a:schemeClr val="tx2"/>
                </a:solidFill>
              </a:rPr>
              <a:t>Entrepreneuriat Quartiers 2030 vise à poursuivre et intensifier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les actions de soutien menées en faveur des entrepreneurs</a:t>
            </a:r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275528" y="2121415"/>
            <a:ext cx="2556471" cy="2096306"/>
          </a:xfrm>
          <a:prstGeom prst="roundRect">
            <a:avLst>
              <a:gd name="adj" fmla="val 6126"/>
            </a:avLst>
          </a:prstGeom>
          <a:noFill/>
          <a:ln>
            <a:solidFill>
              <a:schemeClr val="tx2"/>
            </a:solidFill>
          </a:ln>
        </p:spPr>
        <p:txBody>
          <a:bodyPr lIns="72000" tIns="72000" rIns="72000" bIns="72000" anchor="ctr"/>
          <a:lstStyle/>
          <a:p>
            <a:pPr>
              <a:spcAft>
                <a:spcPts val="600"/>
              </a:spcAft>
            </a:pPr>
            <a:r>
              <a:rPr lang="fr-FR" sz="1200" dirty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L</a:t>
            </a:r>
            <a:r>
              <a:rPr lang="fr-FR" sz="1200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e programme propose des </a:t>
            </a:r>
            <a:r>
              <a:rPr lang="fr-FR" sz="1200" b="1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solutions de financement </a:t>
            </a:r>
            <a:r>
              <a:rPr lang="fr-FR" sz="1200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et d’accompagnement aux entrepreneurs en QPV.</a:t>
            </a:r>
          </a:p>
          <a:p>
            <a:pPr marL="180975" indent="-180975">
              <a:spcAft>
                <a:spcPts val="0"/>
              </a:spcAft>
              <a:buFont typeface="Marianne" panose="02000000000000000000" pitchFamily="50" charset="0"/>
              <a:buChar char="→"/>
            </a:pPr>
            <a:r>
              <a:rPr lang="fr-FR" sz="1200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« Aller vers »</a:t>
            </a:r>
          </a:p>
          <a:p>
            <a:pPr marL="180975" indent="-180975">
              <a:spcAft>
                <a:spcPts val="0"/>
              </a:spcAft>
              <a:buFont typeface="Marianne" panose="02000000000000000000" pitchFamily="50" charset="0"/>
              <a:buChar char="→"/>
            </a:pPr>
            <a:r>
              <a:rPr lang="fr-FR" sz="1200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Accélérateurs</a:t>
            </a:r>
          </a:p>
          <a:p>
            <a:pPr marL="180975" indent="-180975">
              <a:spcAft>
                <a:spcPts val="0"/>
              </a:spcAft>
              <a:buFont typeface="Marianne" panose="02000000000000000000" pitchFamily="50" charset="0"/>
              <a:buChar char="→"/>
            </a:pPr>
            <a:r>
              <a:rPr lang="fr-FR" sz="1200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Prêts d’honneur quartier</a:t>
            </a:r>
          </a:p>
          <a:p>
            <a:pPr marL="180975" indent="-180975">
              <a:spcAft>
                <a:spcPts val="0"/>
              </a:spcAft>
              <a:buFont typeface="Marianne" panose="02000000000000000000" pitchFamily="50" charset="0"/>
              <a:buChar char="→"/>
            </a:pPr>
            <a:r>
              <a:rPr lang="fr-FR" sz="1200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Fonds de fonds quartiers</a:t>
            </a:r>
          </a:p>
          <a:p>
            <a:pPr marL="180975" indent="-180975">
              <a:spcAft>
                <a:spcPts val="0"/>
              </a:spcAft>
              <a:buFont typeface="Marianne" panose="02000000000000000000" pitchFamily="50" charset="0"/>
              <a:buChar char="→"/>
            </a:pPr>
            <a:r>
              <a:rPr lang="fr-FR" sz="1200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Fast Track to Cash</a:t>
            </a:r>
          </a:p>
          <a:p>
            <a:pPr marL="180975" indent="-180975">
              <a:spcAft>
                <a:spcPts val="0"/>
              </a:spcAft>
              <a:buFont typeface="Marianne" panose="02000000000000000000" pitchFamily="50" charset="0"/>
              <a:buChar char="→"/>
            </a:pPr>
            <a:r>
              <a:rPr lang="fr-FR" sz="1200" dirty="0" smtClean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Accompagnement Renforcé</a:t>
            </a: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5"/>
          <a:stretch/>
        </p:blipFill>
        <p:spPr>
          <a:xfrm>
            <a:off x="5990165" y="2121415"/>
            <a:ext cx="2792302" cy="756179"/>
          </a:xfrm>
          <a:prstGeom prst="rect">
            <a:avLst/>
          </a:prstGeom>
        </p:spPr>
      </p:pic>
      <p:sp>
        <p:nvSpPr>
          <p:cNvPr id="9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1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2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428625" y="3427254"/>
            <a:ext cx="2384425" cy="1863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/>
          <p:cNvSpPr/>
          <p:nvPr/>
        </p:nvSpPr>
        <p:spPr>
          <a:xfrm>
            <a:off x="428625" y="3912510"/>
            <a:ext cx="2274094" cy="1863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428625" y="3662915"/>
            <a:ext cx="2212181" cy="20664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318069" y="2121415"/>
            <a:ext cx="2560396" cy="2096306"/>
          </a:xfrm>
          <a:prstGeom prst="roundRect">
            <a:avLst>
              <a:gd name="adj" fmla="val 5858"/>
            </a:avLst>
          </a:prstGeom>
          <a:solidFill>
            <a:srgbClr val="FFE666">
              <a:alpha val="9804"/>
            </a:srgbClr>
          </a:solidFill>
          <a:ln>
            <a:noFill/>
          </a:ln>
        </p:spPr>
        <p:txBody>
          <a:bodyPr lIns="72000" tIns="72000" rIns="72000" bIns="72000" anchor="b"/>
          <a:lstStyle/>
          <a:p>
            <a:r>
              <a:rPr lang="fr-FR" sz="1600" dirty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Associant l’État, </a:t>
            </a:r>
            <a:br>
              <a:rPr lang="fr-FR" sz="1600" dirty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</a:br>
            <a:r>
              <a:rPr lang="fr-FR" sz="1600" dirty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la Banque des territoires et Bpifrance, le programme a pour objectif d’</a:t>
            </a:r>
            <a:r>
              <a:rPr lang="fr-FR" sz="1600" b="1" dirty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accompagner </a:t>
            </a:r>
            <a:br>
              <a:rPr lang="fr-FR" sz="1600" b="1" dirty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</a:br>
            <a:r>
              <a:rPr lang="fr-FR" sz="1600" b="1" dirty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100 000 entrepreneurs d’ici 2027 </a:t>
            </a:r>
            <a:r>
              <a:rPr lang="fr-FR" sz="1600" dirty="0">
                <a:solidFill>
                  <a:schemeClr val="tx2"/>
                </a:solidFill>
                <a:latin typeface="Marianne" panose="02000000000000000000" pitchFamily="50" charset="0"/>
                <a:cs typeface="Times New Roman" panose="02020603050405020304" pitchFamily="18" charset="0"/>
              </a:rPr>
              <a:t>dans les QPV.</a:t>
            </a:r>
          </a:p>
        </p:txBody>
      </p:sp>
      <p:sp>
        <p:nvSpPr>
          <p:cNvPr id="19" name="Rectangle à coins arrondis 18"/>
          <p:cNvSpPr/>
          <p:nvPr/>
        </p:nvSpPr>
        <p:spPr>
          <a:xfrm>
            <a:off x="428625" y="2195194"/>
            <a:ext cx="803275" cy="176763"/>
          </a:xfrm>
          <a:prstGeom prst="roundRect">
            <a:avLst>
              <a:gd name="adj" fmla="val 38766"/>
            </a:avLst>
          </a:prstGeom>
          <a:solidFill>
            <a:srgbClr val="FFE6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fr-FR" sz="900" b="1" dirty="0" smtClean="0">
                <a:solidFill>
                  <a:schemeClr val="tx2"/>
                </a:solidFill>
              </a:rPr>
              <a:t>OBJECTIF</a:t>
            </a:r>
            <a:endParaRPr lang="fr-FR" sz="900" b="1" dirty="0">
              <a:solidFill>
                <a:schemeClr val="tx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18509" y="1353727"/>
            <a:ext cx="2915815" cy="130567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Rectangle 20"/>
          <p:cNvSpPr/>
          <p:nvPr/>
        </p:nvSpPr>
        <p:spPr>
          <a:xfrm>
            <a:off x="731532" y="1629221"/>
            <a:ext cx="2249794" cy="130567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292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+mj-lt"/>
              <a:buAutoNum type="arabicPeriod" startAt="5"/>
            </a:pPr>
            <a:r>
              <a:rPr lang="fr-FR" dirty="0" smtClean="0"/>
              <a:t>Une réforme qui se déploie</a:t>
            </a:r>
            <a:br>
              <a:rPr lang="fr-FR" dirty="0" smtClean="0"/>
            </a:br>
            <a:r>
              <a:rPr lang="fr-FR" dirty="0" smtClean="0"/>
              <a:t>au plus près des territoires</a:t>
            </a:r>
            <a:br>
              <a:rPr lang="fr-FR" dirty="0" smtClean="0"/>
            </a:br>
            <a:r>
              <a:rPr lang="fr-FR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et des multiples bénéficiaires</a:t>
            </a:r>
            <a:endParaRPr lang="fr-FR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98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9601" y="1192885"/>
            <a:ext cx="8460471" cy="523875"/>
          </a:xfrm>
        </p:spPr>
        <p:txBody>
          <a:bodyPr/>
          <a:lstStyle/>
          <a:p>
            <a:r>
              <a:rPr lang="fr-FR" sz="2200" dirty="0">
                <a:solidFill>
                  <a:schemeClr val="tx2"/>
                </a:solidFill>
              </a:rPr>
              <a:t>La </a:t>
            </a:r>
            <a:r>
              <a:rPr lang="fr-FR" sz="2200" dirty="0" smtClean="0">
                <a:solidFill>
                  <a:schemeClr val="tx2"/>
                </a:solidFill>
              </a:rPr>
              <a:t>réussite de la réforme implique sa bonne appropriation,</a:t>
            </a:r>
            <a:br>
              <a:rPr lang="fr-FR" sz="22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c’est-à-dire une communication adaptée aux interlocuteurs</a:t>
            </a:r>
            <a:endParaRPr lang="fr-FR" sz="2200" dirty="0">
              <a:solidFill>
                <a:schemeClr val="tx2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14157" y="1285929"/>
            <a:ext cx="1844842" cy="133296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Espace réservé du texte 10"/>
          <p:cNvSpPr txBox="1">
            <a:spLocks/>
          </p:cNvSpPr>
          <p:nvPr/>
        </p:nvSpPr>
        <p:spPr bwMode="gray">
          <a:xfrm>
            <a:off x="319600" y="1950363"/>
            <a:ext cx="2520000" cy="2726411"/>
          </a:xfrm>
          <a:prstGeom prst="roundRect">
            <a:avLst>
              <a:gd name="adj" fmla="val 4874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lIns="72000" tIns="72000" rIns="72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200" b="1" dirty="0" smtClean="0">
              <a:solidFill>
                <a:schemeClr val="bg2"/>
              </a:solidFill>
            </a:endParaRPr>
          </a:p>
          <a:p>
            <a:r>
              <a:rPr lang="fr-FR" sz="1400" dirty="0" smtClean="0">
                <a:solidFill>
                  <a:schemeClr val="tx2"/>
                </a:solidFill>
              </a:rPr>
              <a:t>Les </a:t>
            </a:r>
            <a:r>
              <a:rPr lang="fr-FR" sz="1400" dirty="0">
                <a:solidFill>
                  <a:schemeClr val="tx2"/>
                </a:solidFill>
              </a:rPr>
              <a:t>quartiers prioritaires de la politique de la ville </a:t>
            </a:r>
            <a:r>
              <a:rPr lang="fr-FR" sz="1400" dirty="0" smtClean="0">
                <a:solidFill>
                  <a:schemeClr val="tx2"/>
                </a:solidFill>
              </a:rPr>
              <a:t>vous offrent </a:t>
            </a:r>
            <a:r>
              <a:rPr lang="fr-FR" sz="1400" dirty="0">
                <a:solidFill>
                  <a:schemeClr val="tx2"/>
                </a:solidFill>
              </a:rPr>
              <a:t>des </a:t>
            </a:r>
            <a:r>
              <a:rPr lang="fr-FR" sz="1400" b="1" dirty="0" smtClean="0">
                <a:solidFill>
                  <a:schemeClr val="tx2"/>
                </a:solidFill>
              </a:rPr>
              <a:t>opportunités</a:t>
            </a:r>
            <a:r>
              <a:rPr lang="fr-FR" sz="1400" dirty="0" smtClean="0">
                <a:solidFill>
                  <a:schemeClr val="tx2"/>
                </a:solidFill>
              </a:rPr>
              <a:t>.</a:t>
            </a:r>
            <a:endParaRPr lang="fr-FR" sz="1400" dirty="0">
              <a:solidFill>
                <a:schemeClr val="tx2"/>
              </a:solidFill>
            </a:endParaRPr>
          </a:p>
          <a:p>
            <a:r>
              <a:rPr lang="fr-FR" sz="1400" dirty="0" smtClean="0">
                <a:solidFill>
                  <a:schemeClr val="tx2"/>
                </a:solidFill>
              </a:rPr>
              <a:t>L’État vous accompagne dans votre </a:t>
            </a:r>
            <a:r>
              <a:rPr lang="fr-FR" sz="1400" b="1" dirty="0" smtClean="0">
                <a:solidFill>
                  <a:schemeClr val="tx2"/>
                </a:solidFill>
              </a:rPr>
              <a:t>activité économique</a:t>
            </a:r>
            <a:r>
              <a:rPr lang="fr-FR" sz="1400" dirty="0" smtClean="0">
                <a:solidFill>
                  <a:schemeClr val="tx2"/>
                </a:solidFill>
              </a:rPr>
              <a:t>. </a:t>
            </a:r>
          </a:p>
          <a:p>
            <a:r>
              <a:rPr lang="fr-FR" sz="1400" dirty="0" smtClean="0">
                <a:solidFill>
                  <a:schemeClr val="tx2"/>
                </a:solidFill>
              </a:rPr>
              <a:t>L’État </a:t>
            </a:r>
            <a:r>
              <a:rPr lang="fr-FR" sz="1400" b="1" dirty="0" smtClean="0">
                <a:solidFill>
                  <a:schemeClr val="tx2"/>
                </a:solidFill>
              </a:rPr>
              <a:t>simplifie</a:t>
            </a:r>
            <a:r>
              <a:rPr lang="fr-FR" sz="1400" dirty="0" smtClean="0">
                <a:solidFill>
                  <a:schemeClr val="tx2"/>
                </a:solidFill>
              </a:rPr>
              <a:t> vos démarches.</a:t>
            </a:r>
          </a:p>
        </p:txBody>
      </p:sp>
      <p:sp>
        <p:nvSpPr>
          <p:cNvPr id="23" name="Espace réservé du texte 10"/>
          <p:cNvSpPr txBox="1">
            <a:spLocks/>
          </p:cNvSpPr>
          <p:nvPr/>
        </p:nvSpPr>
        <p:spPr bwMode="gray">
          <a:xfrm>
            <a:off x="3251729" y="1950363"/>
            <a:ext cx="2596214" cy="2726411"/>
          </a:xfrm>
          <a:prstGeom prst="roundRect">
            <a:avLst>
              <a:gd name="adj" fmla="val 5220"/>
            </a:avLst>
          </a:prstGeom>
          <a:solidFill>
            <a:schemeClr val="tx2">
              <a:alpha val="10000"/>
            </a:schemeClr>
          </a:solidFill>
        </p:spPr>
        <p:txBody>
          <a:bodyPr vert="horz" lIns="72000" tIns="72000" rIns="72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200" b="1" dirty="0" smtClean="0">
              <a:solidFill>
                <a:schemeClr val="bg2"/>
              </a:solidFill>
            </a:endParaRPr>
          </a:p>
          <a:p>
            <a:r>
              <a:rPr lang="fr-FR" sz="1400" dirty="0" smtClean="0">
                <a:solidFill>
                  <a:schemeClr val="tx2"/>
                </a:solidFill>
              </a:rPr>
              <a:t>Les QPV offrent </a:t>
            </a:r>
            <a:r>
              <a:rPr lang="fr-FR" sz="1400" dirty="0">
                <a:solidFill>
                  <a:schemeClr val="tx2"/>
                </a:solidFill>
              </a:rPr>
              <a:t>des </a:t>
            </a:r>
            <a:r>
              <a:rPr lang="fr-FR" sz="1400" b="1" dirty="0" smtClean="0">
                <a:solidFill>
                  <a:schemeClr val="tx2"/>
                </a:solidFill>
              </a:rPr>
              <a:t>opportunités avantageuses</a:t>
            </a:r>
            <a:br>
              <a:rPr lang="fr-FR" sz="1400" b="1" dirty="0" smtClean="0">
                <a:solidFill>
                  <a:schemeClr val="tx2"/>
                </a:solidFill>
              </a:rPr>
            </a:br>
            <a:r>
              <a:rPr lang="fr-FR" sz="1400" b="1" dirty="0" smtClean="0">
                <a:solidFill>
                  <a:schemeClr val="tx2"/>
                </a:solidFill>
              </a:rPr>
              <a:t>de développement d’activités commerciales, artisanales et de santé</a:t>
            </a:r>
            <a:r>
              <a:rPr lang="fr-FR" sz="1400" dirty="0" smtClean="0">
                <a:solidFill>
                  <a:schemeClr val="tx2"/>
                </a:solidFill>
              </a:rPr>
              <a:t>.</a:t>
            </a:r>
          </a:p>
          <a:p>
            <a:r>
              <a:rPr lang="fr-FR" sz="1400" dirty="0" smtClean="0">
                <a:solidFill>
                  <a:schemeClr val="tx2"/>
                </a:solidFill>
              </a:rPr>
              <a:t>L’État </a:t>
            </a:r>
            <a:r>
              <a:rPr lang="fr-FR" sz="1400" b="1" dirty="0" smtClean="0">
                <a:solidFill>
                  <a:schemeClr val="tx2"/>
                </a:solidFill>
              </a:rPr>
              <a:t>encourage, soutient </a:t>
            </a:r>
            <a:br>
              <a:rPr lang="fr-FR" sz="1400" b="1" dirty="0" smtClean="0">
                <a:solidFill>
                  <a:schemeClr val="tx2"/>
                </a:solidFill>
              </a:rPr>
            </a:br>
            <a:r>
              <a:rPr lang="fr-FR" sz="1400" b="1" dirty="0" smtClean="0">
                <a:solidFill>
                  <a:schemeClr val="tx2"/>
                </a:solidFill>
              </a:rPr>
              <a:t>et accompagne l’activité économique </a:t>
            </a:r>
            <a:r>
              <a:rPr lang="fr-FR" sz="1400" dirty="0" smtClean="0">
                <a:solidFill>
                  <a:schemeClr val="tx2"/>
                </a:solidFill>
              </a:rPr>
              <a:t>dans les QPV.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94632" y="1579196"/>
            <a:ext cx="3280694" cy="137563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Espace réservé du texte 10"/>
          <p:cNvSpPr>
            <a:spLocks noGrp="1"/>
          </p:cNvSpPr>
          <p:nvPr>
            <p:ph type="body" sz="quarter" idx="16"/>
          </p:nvPr>
        </p:nvSpPr>
        <p:spPr>
          <a:xfrm>
            <a:off x="6260072" y="1950362"/>
            <a:ext cx="2520000" cy="2726411"/>
          </a:xfrm>
          <a:prstGeom prst="roundRect">
            <a:avLst>
              <a:gd name="adj" fmla="val 4269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lIns="72000" tIns="72000" rIns="72000" bIns="72000"/>
          <a:lstStyle/>
          <a:p>
            <a:endParaRPr lang="fr-FR" sz="1200" b="1" dirty="0" smtClean="0">
              <a:solidFill>
                <a:schemeClr val="bg2"/>
              </a:solidFill>
            </a:endParaRPr>
          </a:p>
          <a:p>
            <a:r>
              <a:rPr lang="fr-FR" sz="1400" dirty="0" smtClean="0">
                <a:solidFill>
                  <a:schemeClr val="tx2"/>
                </a:solidFill>
              </a:rPr>
              <a:t>L’État est </a:t>
            </a:r>
            <a:r>
              <a:rPr lang="fr-FR" sz="1400" b="1" dirty="0" smtClean="0">
                <a:solidFill>
                  <a:schemeClr val="tx2"/>
                </a:solidFill>
              </a:rPr>
              <a:t>aux côtés de vos élus locaux</a:t>
            </a:r>
            <a:r>
              <a:rPr lang="fr-FR" sz="1400" dirty="0" smtClean="0">
                <a:solidFill>
                  <a:schemeClr val="tx2"/>
                </a:solidFill>
              </a:rPr>
              <a:t> pour améliorer votre quotidien.</a:t>
            </a:r>
            <a:endParaRPr lang="fr-FR" sz="1400" dirty="0">
              <a:solidFill>
                <a:schemeClr val="tx2"/>
              </a:solidFill>
            </a:endParaRPr>
          </a:p>
          <a:p>
            <a:r>
              <a:rPr lang="fr-FR" sz="1400" dirty="0" smtClean="0">
                <a:solidFill>
                  <a:schemeClr val="tx2"/>
                </a:solidFill>
              </a:rPr>
              <a:t>L’État encourage de </a:t>
            </a:r>
            <a:r>
              <a:rPr lang="fr-FR" sz="1400" b="1" dirty="0" smtClean="0">
                <a:solidFill>
                  <a:schemeClr val="tx2"/>
                </a:solidFill>
              </a:rPr>
              <a:t>nouvelles opportunités d’emploi</a:t>
            </a:r>
            <a:r>
              <a:rPr lang="fr-FR" sz="1400" dirty="0" smtClean="0">
                <a:solidFill>
                  <a:schemeClr val="tx2"/>
                </a:solidFill>
              </a:rPr>
              <a:t> près de chez vous.</a:t>
            </a:r>
          </a:p>
          <a:p>
            <a:r>
              <a:rPr lang="fr-FR" sz="1400" dirty="0" smtClean="0">
                <a:solidFill>
                  <a:schemeClr val="tx2"/>
                </a:solidFill>
              </a:rPr>
              <a:t>L’État agit pour </a:t>
            </a:r>
            <a:r>
              <a:rPr lang="fr-FR" sz="1400" b="1" dirty="0" smtClean="0">
                <a:solidFill>
                  <a:schemeClr val="tx2"/>
                </a:solidFill>
              </a:rPr>
              <a:t>renforcer votre accès aux services de proximité et à la santé</a:t>
            </a:r>
            <a:r>
              <a:rPr lang="fr-FR" sz="1400" dirty="0" smtClean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417599" y="2062558"/>
            <a:ext cx="986401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ENTREPRISES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3370799" y="2062558"/>
            <a:ext cx="2281201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ACTEURS DE L’ENTREPRENEURIAT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6314157" y="2062557"/>
            <a:ext cx="2009043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HABITANTS DES QUARTIERS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5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6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7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1824432" y="160173"/>
            <a:ext cx="5637350" cy="817245"/>
          </a:xfrm>
          <a:prstGeom prst="roundRect">
            <a:avLst/>
          </a:prstGeom>
          <a:solidFill>
            <a:schemeClr val="tx1">
              <a:alpha val="10196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 smtClean="0">
                <a:latin typeface="+mj-lt"/>
                <a:cs typeface="Arial" panose="020B0604020202020204" pitchFamily="34" charset="0"/>
              </a:rPr>
              <a:t>Page masquée par défaut : à adapter selon le niveau de présentation.</a:t>
            </a:r>
          </a:p>
          <a:p>
            <a:pPr algn="ctr"/>
            <a:r>
              <a:rPr lang="fr-FR" sz="1050" dirty="0" smtClean="0">
                <a:latin typeface="+mj-lt"/>
                <a:cs typeface="Arial" panose="020B0604020202020204" pitchFamily="34" charset="0"/>
              </a:rPr>
              <a:t>Ces lignes directrices d’éléments de langage sont notamment destinées aux présentations adressées aux services de l’État. Elles n’ont pas vocation à être présentées à un public plus large, même si elles doivent guider les présentations.</a:t>
            </a:r>
            <a:endParaRPr lang="fr-FR" sz="105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90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4184352" y="2433007"/>
            <a:ext cx="962958" cy="92388"/>
          </a:xfrm>
          <a:prstGeom prst="rect">
            <a:avLst/>
          </a:prstGeom>
          <a:solidFill>
            <a:srgbClr val="FFD5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Espace réservé du texte 10"/>
          <p:cNvSpPr txBox="1">
            <a:spLocks/>
          </p:cNvSpPr>
          <p:nvPr/>
        </p:nvSpPr>
        <p:spPr bwMode="gray">
          <a:xfrm>
            <a:off x="3251729" y="2197893"/>
            <a:ext cx="2596214" cy="2478882"/>
          </a:xfrm>
          <a:prstGeom prst="roundRect">
            <a:avLst>
              <a:gd name="adj" fmla="val 5908"/>
            </a:avLst>
          </a:prstGeom>
          <a:solidFill>
            <a:schemeClr val="tx2">
              <a:alpha val="10000"/>
            </a:schemeClr>
          </a:solidFill>
        </p:spPr>
        <p:txBody>
          <a:bodyPr vert="horz" lIns="72000" tIns="72000" rIns="72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 smtClean="0">
                <a:solidFill>
                  <a:schemeClr val="tx2"/>
                </a:solidFill>
              </a:rPr>
              <a:t>L’État est à vos côtés, jusqu’au </a:t>
            </a:r>
            <a:r>
              <a:rPr lang="fr-FR" sz="1400" b="1" dirty="0" smtClean="0">
                <a:solidFill>
                  <a:schemeClr val="tx2"/>
                </a:solidFill>
              </a:rPr>
              <a:t>dernier kilomètre de l’action publique</a:t>
            </a:r>
            <a:r>
              <a:rPr lang="fr-FR" sz="1400" dirty="0" smtClean="0">
                <a:solidFill>
                  <a:schemeClr val="tx2"/>
                </a:solidFill>
              </a:rPr>
              <a:t>, pour </a:t>
            </a:r>
            <a:r>
              <a:rPr lang="fr-FR" sz="1400" b="1" dirty="0" smtClean="0">
                <a:solidFill>
                  <a:schemeClr val="tx2"/>
                </a:solidFill>
              </a:rPr>
              <a:t>développer vos quartiers urbains </a:t>
            </a:r>
            <a:r>
              <a:rPr lang="fr-FR" sz="1400" dirty="0" smtClean="0">
                <a:solidFill>
                  <a:schemeClr val="tx2"/>
                </a:solidFill>
              </a:rPr>
              <a:t>et </a:t>
            </a:r>
            <a:r>
              <a:rPr lang="fr-FR" sz="1400" b="1" dirty="0" smtClean="0">
                <a:solidFill>
                  <a:schemeClr val="tx2"/>
                </a:solidFill>
              </a:rPr>
              <a:t>améliorer</a:t>
            </a:r>
            <a:r>
              <a:rPr lang="fr-FR" sz="1400" dirty="0" smtClean="0">
                <a:solidFill>
                  <a:schemeClr val="tx2"/>
                </a:solidFill>
              </a:rPr>
              <a:t> </a:t>
            </a:r>
            <a:r>
              <a:rPr lang="fr-FR" sz="1400" b="1" dirty="0" smtClean="0">
                <a:solidFill>
                  <a:schemeClr val="tx2"/>
                </a:solidFill>
              </a:rPr>
              <a:t>la vie quotidienne de vos administrés</a:t>
            </a:r>
            <a:r>
              <a:rPr lang="fr-FR" sz="1400" dirty="0" smtClean="0">
                <a:solidFill>
                  <a:schemeClr val="tx2"/>
                </a:solidFill>
              </a:rPr>
              <a:t>.</a:t>
            </a:r>
          </a:p>
          <a:p>
            <a:r>
              <a:rPr lang="fr-FR" sz="1400" dirty="0" smtClean="0">
                <a:solidFill>
                  <a:schemeClr val="tx2"/>
                </a:solidFill>
              </a:rPr>
              <a:t>L’État vous accompagne dans l’</a:t>
            </a:r>
            <a:r>
              <a:rPr lang="fr-FR" sz="1400" b="1" dirty="0" smtClean="0">
                <a:solidFill>
                  <a:schemeClr val="tx2"/>
                </a:solidFill>
              </a:rPr>
              <a:t>installation de nouveaux commerces</a:t>
            </a:r>
            <a:r>
              <a:rPr lang="fr-FR" sz="1400" dirty="0" smtClean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6" name="Espace réservé du texte 10"/>
          <p:cNvSpPr txBox="1">
            <a:spLocks/>
          </p:cNvSpPr>
          <p:nvPr/>
        </p:nvSpPr>
        <p:spPr bwMode="gray">
          <a:xfrm>
            <a:off x="319601" y="1950363"/>
            <a:ext cx="2519999" cy="2726412"/>
          </a:xfrm>
          <a:prstGeom prst="roundRect">
            <a:avLst>
              <a:gd name="adj" fmla="val 4269"/>
            </a:avLst>
          </a:prstGeom>
          <a:solidFill>
            <a:schemeClr val="tx2">
              <a:alpha val="10000"/>
            </a:schemeClr>
          </a:solidFill>
        </p:spPr>
        <p:txBody>
          <a:bodyPr vert="horz" lIns="72000" tIns="72000" rIns="72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200" b="1" dirty="0" smtClean="0">
              <a:solidFill>
                <a:schemeClr val="bg2"/>
              </a:solidFill>
            </a:endParaRPr>
          </a:p>
          <a:p>
            <a:r>
              <a:rPr lang="fr-FR" sz="1400" dirty="0" smtClean="0">
                <a:solidFill>
                  <a:schemeClr val="tx2"/>
                </a:solidFill>
              </a:rPr>
              <a:t>Les QPV sont des </a:t>
            </a:r>
            <a:r>
              <a:rPr lang="fr-FR" sz="1400" b="1" dirty="0" smtClean="0">
                <a:solidFill>
                  <a:schemeClr val="tx2"/>
                </a:solidFill>
              </a:rPr>
              <a:t>territoires prometteurs</a:t>
            </a:r>
            <a:r>
              <a:rPr lang="fr-FR" sz="1400" dirty="0" smtClean="0">
                <a:solidFill>
                  <a:schemeClr val="tx2"/>
                </a:solidFill>
              </a:rPr>
              <a:t>.</a:t>
            </a:r>
          </a:p>
          <a:p>
            <a:r>
              <a:rPr lang="fr-FR" sz="1400" dirty="0" smtClean="0">
                <a:solidFill>
                  <a:schemeClr val="tx2"/>
                </a:solidFill>
              </a:rPr>
              <a:t>L’État </a:t>
            </a:r>
            <a:r>
              <a:rPr lang="fr-FR" sz="1400" dirty="0">
                <a:solidFill>
                  <a:schemeClr val="tx2"/>
                </a:solidFill>
              </a:rPr>
              <a:t>agit en faveur du </a:t>
            </a:r>
            <a:r>
              <a:rPr lang="fr-FR" sz="1400" b="1" dirty="0">
                <a:solidFill>
                  <a:schemeClr val="tx2"/>
                </a:solidFill>
              </a:rPr>
              <a:t>développement des territoires</a:t>
            </a:r>
            <a:r>
              <a:rPr lang="fr-FR" sz="1400" dirty="0">
                <a:solidFill>
                  <a:schemeClr val="tx2"/>
                </a:solidFill>
              </a:rPr>
              <a:t>, de la </a:t>
            </a:r>
            <a:r>
              <a:rPr lang="fr-FR" sz="1400" b="1" dirty="0">
                <a:solidFill>
                  <a:schemeClr val="tx2"/>
                </a:solidFill>
              </a:rPr>
              <a:t>simplification de la vie économique </a:t>
            </a:r>
            <a:r>
              <a:rPr lang="fr-FR" sz="1400" dirty="0">
                <a:solidFill>
                  <a:schemeClr val="tx2"/>
                </a:solidFill>
              </a:rPr>
              <a:t>et de </a:t>
            </a:r>
            <a:r>
              <a:rPr lang="fr-FR" sz="1400" dirty="0" smtClean="0">
                <a:solidFill>
                  <a:schemeClr val="tx2"/>
                </a:solidFill>
              </a:rPr>
              <a:t>l’</a:t>
            </a:r>
            <a:r>
              <a:rPr lang="fr-FR" sz="1400" b="1" dirty="0" smtClean="0">
                <a:solidFill>
                  <a:schemeClr val="tx2"/>
                </a:solidFill>
              </a:rPr>
              <a:t>amélioration du </a:t>
            </a:r>
            <a:br>
              <a:rPr lang="fr-FR" sz="1400" b="1" dirty="0" smtClean="0">
                <a:solidFill>
                  <a:schemeClr val="tx2"/>
                </a:solidFill>
              </a:rPr>
            </a:br>
            <a:r>
              <a:rPr lang="fr-FR" sz="1400" b="1" dirty="0" smtClean="0">
                <a:solidFill>
                  <a:schemeClr val="tx2"/>
                </a:solidFill>
              </a:rPr>
              <a:t>quotidien</a:t>
            </a:r>
            <a:r>
              <a:rPr lang="fr-FR" sz="1400" b="1" dirty="0">
                <a:solidFill>
                  <a:schemeClr val="tx2"/>
                </a:solidFill>
              </a:rPr>
              <a:t> </a:t>
            </a:r>
            <a:r>
              <a:rPr lang="fr-FR" sz="1400" b="1" dirty="0" smtClean="0">
                <a:solidFill>
                  <a:schemeClr val="tx2"/>
                </a:solidFill>
              </a:rPr>
              <a:t>des </a:t>
            </a:r>
            <a:r>
              <a:rPr lang="fr-FR" sz="1400" b="1" dirty="0">
                <a:solidFill>
                  <a:schemeClr val="tx2"/>
                </a:solidFill>
              </a:rPr>
              <a:t>Français</a:t>
            </a:r>
            <a:r>
              <a:rPr lang="fr-FR" sz="1400" dirty="0" smtClean="0">
                <a:solidFill>
                  <a:schemeClr val="tx2"/>
                </a:solidFill>
              </a:rPr>
              <a:t>.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17" name="Espace réservé du texte 10"/>
          <p:cNvSpPr txBox="1">
            <a:spLocks/>
          </p:cNvSpPr>
          <p:nvPr/>
        </p:nvSpPr>
        <p:spPr bwMode="gray">
          <a:xfrm>
            <a:off x="6260072" y="2197893"/>
            <a:ext cx="2520000" cy="2478881"/>
          </a:xfrm>
          <a:prstGeom prst="roundRect">
            <a:avLst>
              <a:gd name="adj" fmla="val 5601"/>
            </a:avLst>
          </a:prstGeom>
          <a:solidFill>
            <a:schemeClr val="tx2">
              <a:alpha val="10000"/>
            </a:schemeClr>
          </a:solidFill>
        </p:spPr>
        <p:txBody>
          <a:bodyPr vert="horz" lIns="72000" tIns="72000" rIns="72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 smtClean="0">
                <a:solidFill>
                  <a:schemeClr val="tx2"/>
                </a:solidFill>
              </a:rPr>
              <a:t>L’État vous donne des outils pour </a:t>
            </a:r>
            <a:r>
              <a:rPr lang="fr-FR" sz="1400" b="1" dirty="0" smtClean="0">
                <a:solidFill>
                  <a:schemeClr val="tx2"/>
                </a:solidFill>
              </a:rPr>
              <a:t>renforcer l’économie, l’emploi de proximité et l’attractivité de votre territoire</a:t>
            </a:r>
            <a:r>
              <a:rPr lang="fr-FR" sz="1400" dirty="0" smtClean="0">
                <a:solidFill>
                  <a:schemeClr val="tx2"/>
                </a:solidFill>
              </a:rPr>
              <a:t>, saisissez-vous-en.</a:t>
            </a:r>
          </a:p>
          <a:p>
            <a:r>
              <a:rPr lang="fr-FR" sz="1400" dirty="0" smtClean="0">
                <a:solidFill>
                  <a:schemeClr val="tx2"/>
                </a:solidFill>
              </a:rPr>
              <a:t>Contre </a:t>
            </a:r>
            <a:r>
              <a:rPr lang="fr-FR" sz="1400" dirty="0">
                <a:solidFill>
                  <a:schemeClr val="tx2"/>
                </a:solidFill>
              </a:rPr>
              <a:t>le </a:t>
            </a:r>
            <a:r>
              <a:rPr lang="fr-FR" sz="1400" b="1" dirty="0">
                <a:solidFill>
                  <a:schemeClr val="tx2"/>
                </a:solidFill>
              </a:rPr>
              <a:t>sentiment </a:t>
            </a:r>
            <a:r>
              <a:rPr lang="fr-FR" sz="1400" b="1" dirty="0" smtClean="0">
                <a:solidFill>
                  <a:schemeClr val="tx2"/>
                </a:solidFill>
              </a:rPr>
              <a:t>d’insécurité</a:t>
            </a:r>
            <a:r>
              <a:rPr lang="fr-FR" sz="1400" dirty="0" smtClean="0">
                <a:solidFill>
                  <a:schemeClr val="tx2"/>
                </a:solidFill>
              </a:rPr>
              <a:t>, l’État encourage l’activité </a:t>
            </a:r>
            <a:br>
              <a:rPr lang="fr-FR" sz="1400" dirty="0" smtClean="0">
                <a:solidFill>
                  <a:schemeClr val="tx2"/>
                </a:solidFill>
              </a:rPr>
            </a:br>
            <a:r>
              <a:rPr lang="fr-FR" sz="1400" dirty="0" smtClean="0">
                <a:solidFill>
                  <a:schemeClr val="tx2"/>
                </a:solidFill>
              </a:rPr>
              <a:t>dans vos quartiers.</a:t>
            </a:r>
          </a:p>
        </p:txBody>
      </p:sp>
      <p:sp>
        <p:nvSpPr>
          <p:cNvPr id="32" name="Titre 1"/>
          <p:cNvSpPr>
            <a:spLocks noGrp="1"/>
          </p:cNvSpPr>
          <p:nvPr>
            <p:ph type="title"/>
          </p:nvPr>
        </p:nvSpPr>
        <p:spPr>
          <a:xfrm>
            <a:off x="319601" y="1192885"/>
            <a:ext cx="8460471" cy="523875"/>
          </a:xfrm>
        </p:spPr>
        <p:txBody>
          <a:bodyPr/>
          <a:lstStyle/>
          <a:p>
            <a:r>
              <a:rPr lang="fr-FR" sz="2200" dirty="0">
                <a:solidFill>
                  <a:schemeClr val="tx2"/>
                </a:solidFill>
              </a:rPr>
              <a:t>La </a:t>
            </a:r>
            <a:r>
              <a:rPr lang="fr-FR" sz="2200" dirty="0" smtClean="0">
                <a:solidFill>
                  <a:schemeClr val="tx2"/>
                </a:solidFill>
              </a:rPr>
              <a:t>réussite de la réforme implique sa bonne appropriation,</a:t>
            </a:r>
            <a:br>
              <a:rPr lang="fr-FR" sz="22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c’est-à-dire une communication adaptée aux interlocuteurs</a:t>
            </a:r>
            <a:endParaRPr lang="fr-FR" sz="2200" dirty="0">
              <a:solidFill>
                <a:schemeClr val="tx2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04632" y="1285929"/>
            <a:ext cx="1844842" cy="133296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Rectangle 33"/>
          <p:cNvSpPr/>
          <p:nvPr/>
        </p:nvSpPr>
        <p:spPr>
          <a:xfrm>
            <a:off x="2494632" y="1579196"/>
            <a:ext cx="3280694" cy="137563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à coins arrondis 12"/>
          <p:cNvSpPr/>
          <p:nvPr/>
        </p:nvSpPr>
        <p:spPr>
          <a:xfrm>
            <a:off x="388557" y="2032316"/>
            <a:ext cx="1447443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MÉDIAS ET PRESSE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3251728" y="1969762"/>
            <a:ext cx="5528343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COLLECTIVITÉS TERRITORIALES ET ÉLUS LOCAUX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2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5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8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26</a:t>
            </a:fld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1824432" y="160173"/>
            <a:ext cx="5637350" cy="817245"/>
          </a:xfrm>
          <a:prstGeom prst="roundRect">
            <a:avLst/>
          </a:prstGeom>
          <a:solidFill>
            <a:schemeClr val="tx1">
              <a:alpha val="10196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 smtClean="0">
                <a:latin typeface="+mj-lt"/>
                <a:cs typeface="Arial" panose="020B0604020202020204" pitchFamily="34" charset="0"/>
              </a:rPr>
              <a:t>Page masquée par défaut : à adapter selon le niveau de présentation.</a:t>
            </a:r>
          </a:p>
          <a:p>
            <a:pPr algn="ctr"/>
            <a:r>
              <a:rPr lang="fr-FR" sz="1050" dirty="0" smtClean="0">
                <a:latin typeface="+mj-lt"/>
                <a:cs typeface="Arial" panose="020B0604020202020204" pitchFamily="34" charset="0"/>
              </a:rPr>
              <a:t>Ces lignes directrices d’éléments de langage sont notamment destinées aux présentations adressées aux services de l’État. Elles n’ont pas vocation à être présentées à un public plus large, même si elles doivent guider les présentations.</a:t>
            </a:r>
            <a:endParaRPr lang="fr-FR" sz="105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14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323529" y="990600"/>
            <a:ext cx="8460471" cy="922332"/>
          </a:xfrm>
        </p:spPr>
        <p:txBody>
          <a:bodyPr/>
          <a:lstStyle/>
          <a:p>
            <a:r>
              <a:rPr lang="fr-FR" sz="2200" dirty="0" smtClean="0">
                <a:solidFill>
                  <a:schemeClr val="tx2"/>
                </a:solidFill>
              </a:rPr>
              <a:t>Une offre d’accompagnement aux acteurs de terrain</a:t>
            </a:r>
            <a:br>
              <a:rPr lang="fr-FR" sz="2200" dirty="0" smtClean="0">
                <a:solidFill>
                  <a:schemeClr val="tx2"/>
                </a:solidFill>
              </a:rPr>
            </a:br>
            <a:r>
              <a:rPr lang="fr-FR" sz="2200" dirty="0" smtClean="0">
                <a:solidFill>
                  <a:schemeClr val="tx2"/>
                </a:solidFill>
              </a:rPr>
              <a:t>pour la mise en œuvre de la réforme </a:t>
            </a:r>
            <a:endParaRPr lang="fr-FR" sz="2200" dirty="0">
              <a:solidFill>
                <a:schemeClr val="tx2"/>
              </a:solidFill>
            </a:endParaRPr>
          </a:p>
        </p:txBody>
      </p:sp>
      <p:sp>
        <p:nvSpPr>
          <p:cNvPr id="10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319602" y="2641034"/>
            <a:ext cx="2628314" cy="1414363"/>
          </a:xfrm>
          <a:noFill/>
        </p:spPr>
        <p:txBody>
          <a:bodyPr lIns="72000" tIns="72000" rIns="72000" bIns="72000" anchor="t">
            <a:noAutofit/>
          </a:bodyPr>
          <a:lstStyle/>
          <a:p>
            <a:pPr>
              <a:spcAft>
                <a:spcPts val="600"/>
              </a:spcAft>
            </a:pPr>
            <a:r>
              <a:rPr lang="fr-FR" sz="1700" b="1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L’État propose </a:t>
            </a:r>
            <a:br>
              <a:rPr lang="fr-FR" sz="1700" b="1" i="1" dirty="0" smtClean="0">
                <a:solidFill>
                  <a:schemeClr val="tx2"/>
                </a:solidFill>
                <a:latin typeface="Spectral" panose="02020502060000000000" pitchFamily="18" charset="0"/>
              </a:rPr>
            </a:br>
            <a:r>
              <a:rPr lang="fr-FR" sz="1700" b="1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un ensemble d’outils pour vous accompagner dans le </a:t>
            </a:r>
            <a:r>
              <a:rPr lang="fr-FR" sz="1700" b="1" i="1" dirty="0">
                <a:solidFill>
                  <a:schemeClr val="tx2"/>
                </a:solidFill>
                <a:latin typeface="Spectral" panose="02020502060000000000" pitchFamily="18" charset="0"/>
              </a:rPr>
              <a:t>déploiement de la mesure </a:t>
            </a:r>
            <a:r>
              <a:rPr lang="fr-FR" sz="1700" b="1" i="1" dirty="0" smtClean="0">
                <a:solidFill>
                  <a:schemeClr val="tx2"/>
                </a:solidFill>
                <a:latin typeface="Spectral" panose="02020502060000000000" pitchFamily="18" charset="0"/>
              </a:rPr>
              <a:t>jusqu’au dernier kilomètre.</a:t>
            </a:r>
          </a:p>
        </p:txBody>
      </p:sp>
      <p:sp>
        <p:nvSpPr>
          <p:cNvPr id="11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3308074" y="2197576"/>
            <a:ext cx="2520000" cy="2374483"/>
          </a:xfrm>
          <a:prstGeom prst="roundRect">
            <a:avLst>
              <a:gd name="adj" fmla="val 6218"/>
            </a:avLst>
          </a:prstGeom>
          <a:solidFill>
            <a:schemeClr val="accent3">
              <a:lumMod val="60000"/>
              <a:lumOff val="40000"/>
              <a:alpha val="10196"/>
            </a:schemeClr>
          </a:solidFill>
          <a:ln>
            <a:noFill/>
          </a:ln>
        </p:spPr>
        <p:txBody>
          <a:bodyPr lIns="72000" tIns="72000" rIns="72000" bIns="72000"/>
          <a:lstStyle/>
          <a:p>
            <a:pPr>
              <a:spcAft>
                <a:spcPts val="600"/>
              </a:spcAft>
            </a:pPr>
            <a:endParaRPr lang="fr-FR" sz="1200" b="1" dirty="0">
              <a:solidFill>
                <a:schemeClr val="bg2"/>
              </a:solidFill>
            </a:endParaRPr>
          </a:p>
          <a:p>
            <a:pPr marL="171450" indent="-171450">
              <a:spcAft>
                <a:spcPts val="600"/>
              </a:spcAft>
              <a:buFont typeface="Marianne" panose="02000000000000000000" pitchFamily="50" charset="0"/>
              <a:buChar char="↘"/>
            </a:pPr>
            <a:r>
              <a:rPr lang="fr-FR" sz="1200" dirty="0">
                <a:solidFill>
                  <a:schemeClr val="tx2"/>
                </a:solidFill>
              </a:rPr>
              <a:t>Circulaire </a:t>
            </a:r>
            <a:r>
              <a:rPr lang="fr-FR" sz="1200" dirty="0" smtClean="0">
                <a:solidFill>
                  <a:schemeClr val="tx2"/>
                </a:solidFill>
              </a:rPr>
              <a:t>du 27 mars 2026 </a:t>
            </a:r>
            <a:r>
              <a:rPr lang="fr-FR" sz="1200" dirty="0">
                <a:solidFill>
                  <a:schemeClr val="tx2"/>
                </a:solidFill>
              </a:rPr>
              <a:t>relative aux nouvelles mesures d’incitation fiscale en </a:t>
            </a:r>
            <a:r>
              <a:rPr lang="fr-FR" sz="1200" dirty="0" smtClean="0">
                <a:solidFill>
                  <a:schemeClr val="tx2"/>
                </a:solidFill>
              </a:rPr>
              <a:t>faveur du </a:t>
            </a:r>
            <a:r>
              <a:rPr lang="fr-FR" sz="1200" dirty="0">
                <a:solidFill>
                  <a:schemeClr val="tx2"/>
                </a:solidFill>
              </a:rPr>
              <a:t>développement des activités économiques dans les quartiers </a:t>
            </a:r>
            <a:r>
              <a:rPr lang="fr-FR" sz="1200" dirty="0" smtClean="0">
                <a:solidFill>
                  <a:schemeClr val="tx2"/>
                </a:solidFill>
              </a:rPr>
              <a:t>prioritaires de </a:t>
            </a:r>
            <a:r>
              <a:rPr lang="fr-FR" sz="1200" dirty="0">
                <a:solidFill>
                  <a:schemeClr val="tx2"/>
                </a:solidFill>
              </a:rPr>
              <a:t>la politique de la </a:t>
            </a:r>
            <a:r>
              <a:rPr lang="fr-FR" sz="1200" dirty="0" smtClean="0">
                <a:solidFill>
                  <a:schemeClr val="tx2"/>
                </a:solidFill>
              </a:rPr>
              <a:t>ville</a:t>
            </a:r>
          </a:p>
          <a:p>
            <a:pPr marL="171450" indent="-171450">
              <a:spcAft>
                <a:spcPts val="600"/>
              </a:spcAft>
              <a:buFont typeface="Marianne" panose="02000000000000000000" pitchFamily="50" charset="0"/>
              <a:buChar char="↘"/>
            </a:pPr>
            <a:r>
              <a:rPr lang="fr-FR" sz="1200" dirty="0" smtClean="0">
                <a:solidFill>
                  <a:schemeClr val="tx2"/>
                </a:solidFill>
              </a:rPr>
              <a:t>Commentaire au BOFiP</a:t>
            </a:r>
            <a:br>
              <a:rPr lang="fr-FR" sz="1200" dirty="0" smtClean="0">
                <a:solidFill>
                  <a:schemeClr val="tx2"/>
                </a:solidFill>
              </a:rPr>
            </a:br>
            <a:r>
              <a:rPr lang="fr-FR" sz="1200" dirty="0" smtClean="0">
                <a:solidFill>
                  <a:schemeClr val="tx2"/>
                </a:solidFill>
              </a:rPr>
              <a:t>(prévu à l’été 2026)</a:t>
            </a:r>
            <a:endParaRPr lang="fr-FR" sz="1200" dirty="0">
              <a:solidFill>
                <a:schemeClr val="tx2"/>
              </a:solidFill>
            </a:endParaRPr>
          </a:p>
          <a:p>
            <a:pPr>
              <a:spcAft>
                <a:spcPts val="0"/>
              </a:spcAft>
            </a:pPr>
            <a:endParaRPr lang="fr-FR" sz="1200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45898" y="1475579"/>
            <a:ext cx="3399883" cy="144056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6260075" y="2197577"/>
            <a:ext cx="2520000" cy="2374482"/>
          </a:xfrm>
          <a:prstGeom prst="roundRect">
            <a:avLst>
              <a:gd name="adj" fmla="val 6579"/>
            </a:avLst>
          </a:prstGeom>
          <a:solidFill>
            <a:srgbClr val="000091">
              <a:alpha val="10196"/>
            </a:srgbClr>
          </a:solidFill>
          <a:ln>
            <a:noFill/>
          </a:ln>
        </p:spPr>
        <p:txBody>
          <a:bodyPr lIns="72000" tIns="72000" rIns="72000" bIns="72000"/>
          <a:lstStyle/>
          <a:p>
            <a:pPr>
              <a:spcAft>
                <a:spcPts val="1200"/>
              </a:spcAft>
            </a:pPr>
            <a:endParaRPr lang="fr-FR" sz="1200" b="1" dirty="0" smtClean="0">
              <a:solidFill>
                <a:schemeClr val="bg2"/>
              </a:solidFill>
            </a:endParaRPr>
          </a:p>
          <a:p>
            <a:pPr marL="171450" indent="-171450">
              <a:spcAft>
                <a:spcPts val="600"/>
              </a:spcAft>
              <a:buFont typeface="Marianne" panose="02000000000000000000" pitchFamily="50" charset="0"/>
              <a:buChar char="↘"/>
            </a:pPr>
            <a:r>
              <a:rPr lang="fr-FR" sz="1200" dirty="0" smtClean="0">
                <a:solidFill>
                  <a:schemeClr val="tx2"/>
                </a:solidFill>
              </a:rPr>
              <a:t>Foire </a:t>
            </a:r>
            <a:r>
              <a:rPr lang="fr-FR" sz="1200" dirty="0">
                <a:solidFill>
                  <a:schemeClr val="tx2"/>
                </a:solidFill>
              </a:rPr>
              <a:t>aux questions</a:t>
            </a:r>
          </a:p>
          <a:p>
            <a:pPr marL="171450" indent="-171450">
              <a:spcAft>
                <a:spcPts val="600"/>
              </a:spcAft>
              <a:buFont typeface="Marianne" panose="02000000000000000000" pitchFamily="50" charset="0"/>
              <a:buChar char="↘"/>
            </a:pPr>
            <a:r>
              <a:rPr lang="fr-FR" sz="1200" dirty="0" smtClean="0">
                <a:solidFill>
                  <a:schemeClr val="tx2"/>
                </a:solidFill>
              </a:rPr>
              <a:t>Simulateur d’éligibilité</a:t>
            </a:r>
            <a:endParaRPr lang="fr-FR" sz="1200" dirty="0">
              <a:solidFill>
                <a:schemeClr val="tx2"/>
              </a:solidFill>
            </a:endParaRPr>
          </a:p>
          <a:p>
            <a:pPr marL="171450" indent="-171450">
              <a:spcAft>
                <a:spcPts val="600"/>
              </a:spcAft>
              <a:buFont typeface="Marianne" panose="02000000000000000000" pitchFamily="50" charset="0"/>
              <a:buChar char="↘"/>
            </a:pPr>
            <a:r>
              <a:rPr lang="fr-FR" sz="1200" dirty="0" smtClean="0">
                <a:solidFill>
                  <a:schemeClr val="tx2"/>
                </a:solidFill>
              </a:rPr>
              <a:t>Kits </a:t>
            </a:r>
            <a:r>
              <a:rPr lang="fr-FR" sz="1200" dirty="0">
                <a:solidFill>
                  <a:schemeClr val="tx2"/>
                </a:solidFill>
              </a:rPr>
              <a:t>clé en </a:t>
            </a:r>
            <a:r>
              <a:rPr lang="fr-FR" sz="1200" dirty="0" smtClean="0">
                <a:solidFill>
                  <a:schemeClr val="tx2"/>
                </a:solidFill>
              </a:rPr>
              <a:t>main</a:t>
            </a:r>
          </a:p>
          <a:p>
            <a:pPr marL="171450" indent="-171450">
              <a:spcAft>
                <a:spcPts val="600"/>
              </a:spcAft>
              <a:buFont typeface="Marianne" panose="02000000000000000000" pitchFamily="50" charset="0"/>
              <a:buChar char="↘"/>
            </a:pPr>
            <a:r>
              <a:rPr lang="fr-FR" sz="1200" dirty="0" smtClean="0">
                <a:solidFill>
                  <a:schemeClr val="tx2"/>
                </a:solidFill>
              </a:rPr>
              <a:t>Webinaires</a:t>
            </a:r>
          </a:p>
          <a:p>
            <a:pPr marL="171450" indent="-171450">
              <a:spcAft>
                <a:spcPts val="600"/>
              </a:spcAft>
              <a:buFont typeface="Marianne" panose="02000000000000000000" pitchFamily="50" charset="0"/>
              <a:buChar char="↘"/>
            </a:pPr>
            <a:r>
              <a:rPr lang="fr-FR" sz="1200" dirty="0" smtClean="0">
                <a:solidFill>
                  <a:schemeClr val="tx2"/>
                </a:solidFill>
              </a:rPr>
              <a:t>Courriel support</a:t>
            </a:r>
            <a:endParaRPr lang="fr-FR" sz="1200" dirty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</a:pPr>
            <a:endParaRPr lang="fr-FR" sz="1200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25555" y="3899145"/>
            <a:ext cx="1572414" cy="82335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700088" y="3124644"/>
            <a:ext cx="1535906" cy="82335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/>
          <p:cNvSpPr/>
          <p:nvPr/>
        </p:nvSpPr>
        <p:spPr>
          <a:xfrm>
            <a:off x="862013" y="3383762"/>
            <a:ext cx="1202531" cy="82335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180" y="3697874"/>
            <a:ext cx="862895" cy="862895"/>
          </a:xfrm>
          <a:prstGeom prst="rect">
            <a:avLst/>
          </a:prstGeom>
        </p:spPr>
      </p:pic>
      <p:sp>
        <p:nvSpPr>
          <p:cNvPr id="20" name="Rectangle à coins arrondis 19"/>
          <p:cNvSpPr/>
          <p:nvPr/>
        </p:nvSpPr>
        <p:spPr>
          <a:xfrm>
            <a:off x="6338179" y="2289863"/>
            <a:ext cx="811421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OUTILS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4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21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22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27</a:t>
            </a:fld>
            <a:endParaRPr lang="fr-FR" dirty="0"/>
          </a:p>
        </p:txBody>
      </p:sp>
      <p:sp>
        <p:nvSpPr>
          <p:cNvPr id="23" name="Rectangle à coins arrondis 22"/>
          <p:cNvSpPr/>
          <p:nvPr/>
        </p:nvSpPr>
        <p:spPr>
          <a:xfrm>
            <a:off x="3371717" y="2289862"/>
            <a:ext cx="1951607" cy="176763"/>
          </a:xfrm>
          <a:prstGeom prst="roundRect">
            <a:avLst>
              <a:gd name="adj" fmla="val 38766"/>
            </a:avLst>
          </a:prstGeom>
          <a:solidFill>
            <a:srgbClr val="FFE6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fr-FR" sz="900" b="1" dirty="0" smtClean="0">
                <a:solidFill>
                  <a:schemeClr val="tx2"/>
                </a:solidFill>
              </a:rPr>
              <a:t>DOCUMENTS D’APPLICATION</a:t>
            </a:r>
            <a:endParaRPr lang="fr-FR" sz="9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30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19602" y="1051200"/>
            <a:ext cx="8824398" cy="3732300"/>
          </a:xfrm>
          <a:prstGeom prst="rect">
            <a:avLst/>
          </a:prstGeom>
          <a:solidFill>
            <a:srgbClr val="B6B6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85582" y="1137540"/>
            <a:ext cx="6825298" cy="601260"/>
          </a:xfrm>
        </p:spPr>
        <p:txBody>
          <a:bodyPr anchor="t"/>
          <a:lstStyle/>
          <a:p>
            <a:pPr>
              <a:tabLst>
                <a:tab pos="361950" algn="l"/>
              </a:tabLst>
            </a:pPr>
            <a:r>
              <a:rPr lang="fr-FR" sz="2000" dirty="0" smtClean="0">
                <a:solidFill>
                  <a:schemeClr val="tx2"/>
                </a:solidFill>
              </a:rPr>
              <a:t>Le </a:t>
            </a:r>
            <a:r>
              <a:rPr lang="fr-FR" sz="2000" dirty="0">
                <a:solidFill>
                  <a:schemeClr val="tx2"/>
                </a:solidFill>
              </a:rPr>
              <a:t>Gouvernement soutient le développement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des quartiers prioritaires de la politique de la ville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19054" y="1998312"/>
            <a:ext cx="581237" cy="180425"/>
          </a:xfrm>
          <a:solidFill>
            <a:schemeClr val="accent3">
              <a:lumMod val="75000"/>
            </a:schemeClr>
          </a:solidFill>
          <a:ln w="25400" cap="rnd">
            <a:noFill/>
          </a:ln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fr-FR" sz="700" b="1" dirty="0" smtClean="0">
                <a:solidFill>
                  <a:schemeClr val="bg1"/>
                </a:solidFill>
              </a:rPr>
              <a:t>OBJECTIF 1</a:t>
            </a:r>
            <a:endParaRPr lang="fr-FR" sz="700" b="1" dirty="0">
              <a:solidFill>
                <a:schemeClr val="bg1"/>
              </a:solidFill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zh-CN" dirty="0"/>
          </a:p>
        </p:txBody>
      </p:sp>
      <p:sp>
        <p:nvSpPr>
          <p:cNvPr id="3" name="Rectangle 2"/>
          <p:cNvSpPr/>
          <p:nvPr/>
        </p:nvSpPr>
        <p:spPr>
          <a:xfrm>
            <a:off x="2065366" y="1296565"/>
            <a:ext cx="5245396" cy="92655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0" y="1161171"/>
            <a:ext cx="1410297" cy="276999"/>
          </a:xfrm>
          <a:prstGeom prst="rect">
            <a:avLst/>
          </a:prstGeom>
          <a:solidFill>
            <a:schemeClr val="tx2"/>
          </a:solidFill>
        </p:spPr>
        <p:txBody>
          <a:bodyPr wrap="square" anchor="ctr">
            <a:spAutoFit/>
          </a:bodyPr>
          <a:lstStyle/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1200" b="1" dirty="0" smtClean="0">
                <a:solidFill>
                  <a:schemeClr val="bg1"/>
                </a:solidFill>
              </a:rPr>
              <a:t>EN TROIS MOTS</a:t>
            </a:r>
            <a:endParaRPr lang="fr-FR" altLang="zh-CN" sz="1400" b="1" dirty="0">
              <a:solidFill>
                <a:schemeClr val="bg1"/>
              </a:solidFill>
            </a:endParaRPr>
          </a:p>
        </p:txBody>
      </p:sp>
      <p:sp>
        <p:nvSpPr>
          <p:cNvPr id="15" name="Espace réservé du texte 5"/>
          <p:cNvSpPr txBox="1">
            <a:spLocks/>
          </p:cNvSpPr>
          <p:nvPr/>
        </p:nvSpPr>
        <p:spPr bwMode="gray">
          <a:xfrm>
            <a:off x="498167" y="2529013"/>
            <a:ext cx="2556471" cy="2098291"/>
          </a:xfrm>
          <a:prstGeom prst="rect">
            <a:avLst/>
          </a:prstGeom>
          <a:noFill/>
          <a:ln w="25400" cap="rnd">
            <a:noFill/>
          </a:ln>
        </p:spPr>
        <p:txBody>
          <a:bodyPr vert="horz" lIns="0" tIns="72000" rIns="72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>
                <a:solidFill>
                  <a:srgbClr val="000091"/>
                </a:solidFill>
              </a:rPr>
              <a:t>Conformément aux orientations</a:t>
            </a:r>
            <a:br>
              <a:rPr lang="fr-FR" sz="1000" dirty="0" smtClean="0">
                <a:solidFill>
                  <a:srgbClr val="000091"/>
                </a:solidFill>
              </a:rPr>
            </a:br>
            <a:r>
              <a:rPr lang="fr-FR" sz="1000" dirty="0" smtClean="0">
                <a:solidFill>
                  <a:srgbClr val="000091"/>
                </a:solidFill>
              </a:rPr>
              <a:t>du comité interministériel des villes qui s’est tenu le 6 juin 2025,</a:t>
            </a:r>
            <a:br>
              <a:rPr lang="fr-FR" sz="1000" dirty="0" smtClean="0">
                <a:solidFill>
                  <a:srgbClr val="000091"/>
                </a:solidFill>
              </a:rPr>
            </a:br>
            <a:r>
              <a:rPr lang="fr-FR" sz="1000" b="1" dirty="0" smtClean="0">
                <a:solidFill>
                  <a:srgbClr val="000091"/>
                </a:solidFill>
              </a:rPr>
              <a:t>le Gouvernement prolonge, renforce et simplifie les aides fiscales aux entreprises implantées dans les QPV</a:t>
            </a:r>
            <a:r>
              <a:rPr lang="fr-FR" sz="1000" dirty="0" smtClean="0">
                <a:solidFill>
                  <a:srgbClr val="000091"/>
                </a:solidFill>
              </a:rPr>
              <a:t>.</a:t>
            </a:r>
          </a:p>
          <a:p>
            <a:r>
              <a:rPr lang="fr-FR" sz="1000" dirty="0" smtClean="0">
                <a:solidFill>
                  <a:srgbClr val="000091"/>
                </a:solidFill>
              </a:rPr>
              <a:t>La loi de finances pour 2026 </a:t>
            </a:r>
            <a:r>
              <a:rPr lang="fr-FR" sz="1000" b="1" smtClean="0">
                <a:solidFill>
                  <a:srgbClr val="000091"/>
                </a:solidFill>
              </a:rPr>
              <a:t>étend l’exonération d’impôt </a:t>
            </a:r>
            <a:r>
              <a:rPr lang="fr-FR" sz="1000" b="1" dirty="0" smtClean="0">
                <a:solidFill>
                  <a:srgbClr val="000091"/>
                </a:solidFill>
              </a:rPr>
              <a:t>sur les bénéfices à tous les QPV </a:t>
            </a:r>
            <a:r>
              <a:rPr lang="fr-FR" sz="1000" dirty="0" smtClean="0">
                <a:solidFill>
                  <a:srgbClr val="000091"/>
                </a:solidFill>
              </a:rPr>
              <a:t>et </a:t>
            </a:r>
            <a:r>
              <a:rPr lang="fr-FR" sz="1000" b="1" dirty="0" smtClean="0">
                <a:solidFill>
                  <a:srgbClr val="000091"/>
                </a:solidFill>
              </a:rPr>
              <a:t>rend plus lisibles les exonérations d’impôts locaux</a:t>
            </a:r>
            <a:r>
              <a:rPr lang="fr-FR" sz="1000" dirty="0" smtClean="0">
                <a:solidFill>
                  <a:srgbClr val="000091"/>
                </a:solidFill>
              </a:rPr>
              <a:t>, dont peuvent bénéficier les entreprises implantées dans les QPV.</a:t>
            </a:r>
            <a:endParaRPr lang="fr-FR" sz="1000" dirty="0">
              <a:solidFill>
                <a:srgbClr val="000091"/>
              </a:solidFill>
            </a:endParaRPr>
          </a:p>
        </p:txBody>
      </p:sp>
      <p:sp>
        <p:nvSpPr>
          <p:cNvPr id="16" name="Espace réservé du texte 5"/>
          <p:cNvSpPr txBox="1">
            <a:spLocks/>
          </p:cNvSpPr>
          <p:nvPr/>
        </p:nvSpPr>
        <p:spPr bwMode="gray">
          <a:xfrm>
            <a:off x="542885" y="2011672"/>
            <a:ext cx="2535584" cy="425570"/>
          </a:xfrm>
          <a:prstGeom prst="rect">
            <a:avLst/>
          </a:prstGeom>
          <a:noFill/>
          <a:ln w="25400" cap="rnd"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00"/>
              </a:lnSpc>
              <a:spcAft>
                <a:spcPts val="0"/>
              </a:spcAft>
            </a:pPr>
            <a:r>
              <a:rPr lang="fr-FR" sz="1100" b="1" dirty="0" smtClean="0">
                <a:solidFill>
                  <a:srgbClr val="000091"/>
                </a:solidFill>
              </a:rPr>
              <a:t>                </a:t>
            </a:r>
            <a:r>
              <a:rPr lang="fr-FR" sz="1100" b="1" dirty="0" smtClean="0">
                <a:solidFill>
                  <a:schemeClr val="accent3">
                    <a:lumMod val="75000"/>
                  </a:schemeClr>
                </a:solidFill>
              </a:rPr>
              <a:t>Soutenir l’activité économique</a:t>
            </a:r>
            <a:endParaRPr lang="fr-FR" sz="11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9" name="Connecteur droit 8"/>
          <p:cNvCxnSpPr/>
          <p:nvPr/>
        </p:nvCxnSpPr>
        <p:spPr>
          <a:xfrm>
            <a:off x="519054" y="2529013"/>
            <a:ext cx="1113333" cy="0"/>
          </a:xfrm>
          <a:prstGeom prst="line">
            <a:avLst/>
          </a:prstGeom>
          <a:ln>
            <a:solidFill>
              <a:srgbClr val="0000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5"/>
          <p:cNvSpPr txBox="1">
            <a:spLocks/>
          </p:cNvSpPr>
          <p:nvPr/>
        </p:nvSpPr>
        <p:spPr bwMode="gray">
          <a:xfrm>
            <a:off x="3311058" y="2534687"/>
            <a:ext cx="2556471" cy="2098291"/>
          </a:xfrm>
          <a:prstGeom prst="rect">
            <a:avLst/>
          </a:prstGeom>
          <a:noFill/>
          <a:ln w="25400" cap="rnd">
            <a:noFill/>
          </a:ln>
        </p:spPr>
        <p:txBody>
          <a:bodyPr vert="horz" lIns="0" tIns="72000" rIns="72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>
                <a:solidFill>
                  <a:srgbClr val="000091"/>
                </a:solidFill>
              </a:rPr>
              <a:t>Le Gouvernement a souhaité centrer les exonérations fiscales sur les entreprises qui remplissent un </a:t>
            </a:r>
            <a:r>
              <a:rPr lang="fr-FR" sz="1000" b="1" dirty="0">
                <a:solidFill>
                  <a:srgbClr val="000091"/>
                </a:solidFill>
              </a:rPr>
              <a:t>rôle essentiel sur la qualité de vie quotidienne des habitants </a:t>
            </a:r>
            <a:r>
              <a:rPr lang="fr-FR" sz="1000" dirty="0">
                <a:solidFill>
                  <a:srgbClr val="000091"/>
                </a:solidFill>
              </a:rPr>
              <a:t>et qui ont </a:t>
            </a:r>
            <a:r>
              <a:rPr lang="fr-FR" altLang="zh-CN" sz="1000" dirty="0">
                <a:solidFill>
                  <a:srgbClr val="000091"/>
                </a:solidFill>
              </a:rPr>
              <a:t>un </a:t>
            </a:r>
            <a:r>
              <a:rPr lang="fr-FR" altLang="zh-CN" sz="1000" b="1" dirty="0">
                <a:solidFill>
                  <a:srgbClr val="000091"/>
                </a:solidFill>
              </a:rPr>
              <a:t>effet d’entraînement sur le développement des territoires</a:t>
            </a:r>
            <a:r>
              <a:rPr lang="fr-FR" altLang="zh-CN" sz="1000" dirty="0">
                <a:solidFill>
                  <a:srgbClr val="000091"/>
                </a:solidFill>
              </a:rPr>
              <a:t>.</a:t>
            </a:r>
            <a:endParaRPr lang="fr-FR" sz="1000" dirty="0">
              <a:solidFill>
                <a:srgbClr val="000091"/>
              </a:solidFill>
            </a:endParaRPr>
          </a:p>
          <a:p>
            <a:r>
              <a:rPr lang="fr-FR" sz="1000" dirty="0">
                <a:solidFill>
                  <a:srgbClr val="000091"/>
                </a:solidFill>
              </a:rPr>
              <a:t>Les activités éligibles </a:t>
            </a:r>
            <a:r>
              <a:rPr lang="fr-FR" sz="1000" dirty="0" smtClean="0">
                <a:solidFill>
                  <a:srgbClr val="000091"/>
                </a:solidFill>
              </a:rPr>
              <a:t>aux </a:t>
            </a:r>
            <a:r>
              <a:rPr lang="fr-FR" sz="1000" smtClean="0">
                <a:solidFill>
                  <a:srgbClr val="000091"/>
                </a:solidFill>
              </a:rPr>
              <a:t>exonérations fiscales sont </a:t>
            </a:r>
            <a:r>
              <a:rPr lang="fr-FR" sz="1000" dirty="0">
                <a:solidFill>
                  <a:srgbClr val="000091"/>
                </a:solidFill>
              </a:rPr>
              <a:t>étendues, au-delà des </a:t>
            </a:r>
            <a:r>
              <a:rPr lang="fr-FR" sz="1000" dirty="0" smtClean="0">
                <a:solidFill>
                  <a:srgbClr val="000091"/>
                </a:solidFill>
              </a:rPr>
              <a:t>activités commerciales, </a:t>
            </a:r>
            <a:r>
              <a:rPr lang="fr-FR" sz="1000" dirty="0">
                <a:solidFill>
                  <a:srgbClr val="000091"/>
                </a:solidFill>
              </a:rPr>
              <a:t>aux </a:t>
            </a:r>
            <a:r>
              <a:rPr lang="fr-FR" sz="1000" b="1" dirty="0">
                <a:solidFill>
                  <a:srgbClr val="000091"/>
                </a:solidFill>
              </a:rPr>
              <a:t>activités artisanales et de santé afin d’inciter leur implantation en QPV</a:t>
            </a:r>
            <a:r>
              <a:rPr lang="fr-FR" sz="1000" dirty="0">
                <a:solidFill>
                  <a:srgbClr val="000091"/>
                </a:solidFill>
              </a:rPr>
              <a:t>.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3331945" y="2534687"/>
            <a:ext cx="1113333" cy="0"/>
          </a:xfrm>
          <a:prstGeom prst="line">
            <a:avLst/>
          </a:prstGeom>
          <a:ln>
            <a:solidFill>
              <a:srgbClr val="0000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335068" y="2003985"/>
            <a:ext cx="581237" cy="180425"/>
          </a:xfrm>
          <a:solidFill>
            <a:schemeClr val="accent5">
              <a:lumMod val="60000"/>
              <a:lumOff val="40000"/>
            </a:schemeClr>
          </a:solidFill>
          <a:ln w="25400" cap="rnd">
            <a:noFill/>
          </a:ln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fr-FR" sz="700" b="1" dirty="0" smtClean="0">
                <a:solidFill>
                  <a:schemeClr val="bg1"/>
                </a:solidFill>
              </a:rPr>
              <a:t>OBJECTIF 2</a:t>
            </a:r>
            <a:endParaRPr lang="fr-FR" sz="700" b="1" dirty="0">
              <a:solidFill>
                <a:schemeClr val="bg1"/>
              </a:solidFill>
            </a:endParaRPr>
          </a:p>
        </p:txBody>
      </p:sp>
      <p:sp>
        <p:nvSpPr>
          <p:cNvPr id="26" name="Espace réservé du texte 5"/>
          <p:cNvSpPr txBox="1">
            <a:spLocks/>
          </p:cNvSpPr>
          <p:nvPr/>
        </p:nvSpPr>
        <p:spPr bwMode="gray">
          <a:xfrm>
            <a:off x="3331945" y="1998312"/>
            <a:ext cx="2535584" cy="425570"/>
          </a:xfrm>
          <a:prstGeom prst="rect">
            <a:avLst/>
          </a:prstGeom>
          <a:noFill/>
          <a:ln w="25400" cap="rnd"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00"/>
              </a:lnSpc>
              <a:spcAft>
                <a:spcPts val="0"/>
              </a:spcAft>
            </a:pPr>
            <a:r>
              <a:rPr lang="fr-FR" sz="1100" b="1" dirty="0" smtClean="0">
                <a:solidFill>
                  <a:srgbClr val="000091"/>
                </a:solidFill>
              </a:rPr>
              <a:t>                 </a:t>
            </a:r>
            <a:r>
              <a:rPr lang="fr-FR" sz="11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Développer les services</a:t>
            </a:r>
            <a:br>
              <a:rPr lang="fr-FR" sz="11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fr-FR" sz="11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de proximité et de santé</a:t>
            </a:r>
            <a:endParaRPr lang="fr-FR" sz="11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227529" y="2007323"/>
            <a:ext cx="581237" cy="180425"/>
          </a:xfrm>
          <a:solidFill>
            <a:schemeClr val="accent1">
              <a:lumMod val="75000"/>
              <a:lumOff val="25000"/>
            </a:schemeClr>
          </a:solidFill>
          <a:ln w="25400" cap="rnd">
            <a:noFill/>
          </a:ln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fr-FR" sz="700" b="1" dirty="0" smtClean="0">
                <a:solidFill>
                  <a:schemeClr val="bg1"/>
                </a:solidFill>
              </a:rPr>
              <a:t>OBJECTIF 3</a:t>
            </a:r>
            <a:endParaRPr lang="fr-FR" sz="700" b="1" dirty="0">
              <a:solidFill>
                <a:schemeClr val="bg1"/>
              </a:solidFill>
            </a:endParaRPr>
          </a:p>
        </p:txBody>
      </p:sp>
      <p:sp>
        <p:nvSpPr>
          <p:cNvPr id="30" name="Espace réservé du texte 5"/>
          <p:cNvSpPr txBox="1">
            <a:spLocks/>
          </p:cNvSpPr>
          <p:nvPr/>
        </p:nvSpPr>
        <p:spPr bwMode="gray">
          <a:xfrm>
            <a:off x="6227529" y="2006115"/>
            <a:ext cx="2374146" cy="425570"/>
          </a:xfrm>
          <a:prstGeom prst="rect">
            <a:avLst/>
          </a:prstGeom>
          <a:noFill/>
          <a:ln w="25400" cap="rnd"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00"/>
              </a:lnSpc>
              <a:spcAft>
                <a:spcPts val="0"/>
              </a:spcAft>
            </a:pPr>
            <a:r>
              <a:rPr lang="fr-FR" sz="1100" b="1" dirty="0" smtClean="0">
                <a:solidFill>
                  <a:srgbClr val="000091"/>
                </a:solidFill>
              </a:rPr>
              <a:t>                 </a:t>
            </a:r>
            <a:r>
              <a:rPr lang="fr-FR" sz="1100" b="1" dirty="0" smtClean="0">
                <a:solidFill>
                  <a:schemeClr val="accent1">
                    <a:lumMod val="75000"/>
                    <a:lumOff val="25000"/>
                  </a:schemeClr>
                </a:solidFill>
              </a:rPr>
              <a:t>Simplifier les démarches des acteurs économiques</a:t>
            </a:r>
            <a:endParaRPr lang="fr-FR" sz="1100" b="1" dirty="0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Espace réservé du texte 5"/>
          <p:cNvSpPr txBox="1">
            <a:spLocks/>
          </p:cNvSpPr>
          <p:nvPr/>
        </p:nvSpPr>
        <p:spPr bwMode="gray">
          <a:xfrm>
            <a:off x="6227529" y="2538026"/>
            <a:ext cx="2556471" cy="2254487"/>
          </a:xfrm>
          <a:prstGeom prst="rect">
            <a:avLst/>
          </a:prstGeom>
          <a:noFill/>
          <a:ln w="25400" cap="rnd">
            <a:noFill/>
          </a:ln>
        </p:spPr>
        <p:txBody>
          <a:bodyPr vert="horz" lIns="0" tIns="72000" rIns="72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>
                <a:solidFill>
                  <a:srgbClr val="000091"/>
                </a:solidFill>
              </a:rPr>
              <a:t>Les précédents zonages ZFU-TE et QPV souffraient d’un manque de lisibilité et d’une grande complexité.</a:t>
            </a:r>
          </a:p>
          <a:p>
            <a:r>
              <a:rPr lang="fr-FR" sz="1000" dirty="0">
                <a:solidFill>
                  <a:srgbClr val="000091"/>
                </a:solidFill>
              </a:rPr>
              <a:t>Le Gouvernement </a:t>
            </a:r>
            <a:r>
              <a:rPr lang="fr-FR" sz="1000" dirty="0" smtClean="0">
                <a:solidFill>
                  <a:srgbClr val="000091"/>
                </a:solidFill>
              </a:rPr>
              <a:t>fait le </a:t>
            </a:r>
            <a:r>
              <a:rPr lang="fr-FR" sz="1000" b="1" dirty="0" smtClean="0">
                <a:solidFill>
                  <a:srgbClr val="000091"/>
                </a:solidFill>
              </a:rPr>
              <a:t>choix de la simplification </a:t>
            </a:r>
            <a:r>
              <a:rPr lang="fr-FR" sz="1000" dirty="0">
                <a:solidFill>
                  <a:srgbClr val="000091"/>
                </a:solidFill>
              </a:rPr>
              <a:t>: les entreprises doivent désormais répondre aux </a:t>
            </a:r>
            <a:r>
              <a:rPr lang="fr-FR" sz="1000" b="1" dirty="0">
                <a:solidFill>
                  <a:srgbClr val="000091"/>
                </a:solidFill>
              </a:rPr>
              <a:t>mêmes conditions pour bénéficier des exonérations d’impôt sur les bénéfices et des exonérations d’impôts locaux</a:t>
            </a:r>
            <a:r>
              <a:rPr lang="fr-FR" sz="1000" dirty="0">
                <a:solidFill>
                  <a:srgbClr val="000091"/>
                </a:solidFill>
              </a:rPr>
              <a:t>.</a:t>
            </a:r>
          </a:p>
          <a:p>
            <a:r>
              <a:rPr lang="fr-FR" sz="1000" dirty="0">
                <a:solidFill>
                  <a:srgbClr val="000091"/>
                </a:solidFill>
              </a:rPr>
              <a:t>Les </a:t>
            </a:r>
            <a:r>
              <a:rPr lang="fr-FR" sz="1000" b="1" dirty="0">
                <a:solidFill>
                  <a:srgbClr val="000091"/>
                </a:solidFill>
              </a:rPr>
              <a:t>critères pour en bénéficier sont également simplifiés </a:t>
            </a:r>
            <a:r>
              <a:rPr lang="fr-FR" sz="1000" dirty="0">
                <a:solidFill>
                  <a:srgbClr val="000091"/>
                </a:solidFill>
              </a:rPr>
              <a:t>(fin de la cause d’embauche locale et de la condition de détention de capital).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6248416" y="2538026"/>
            <a:ext cx="1113333" cy="0"/>
          </a:xfrm>
          <a:prstGeom prst="line">
            <a:avLst/>
          </a:prstGeom>
          <a:ln>
            <a:solidFill>
              <a:srgbClr val="0000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23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27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883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9601" y="1130373"/>
            <a:ext cx="8495173" cy="373995"/>
          </a:xfrm>
        </p:spPr>
        <p:txBody>
          <a:bodyPr anchor="t"/>
          <a:lstStyle/>
          <a:p>
            <a:pPr>
              <a:tabLst>
                <a:tab pos="361950" algn="l"/>
              </a:tabLst>
            </a:pPr>
            <a:r>
              <a:rPr lang="fr-FR" sz="2000" dirty="0" smtClean="0">
                <a:solidFill>
                  <a:schemeClr val="tx2"/>
                </a:solidFill>
              </a:rPr>
              <a:t>Vos contacts de proximité</a:t>
            </a:r>
            <a:endParaRPr lang="fr-FR" sz="2000" dirty="0">
              <a:solidFill>
                <a:schemeClr val="tx2"/>
              </a:solidFill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23527" y="2081110"/>
            <a:ext cx="2556471" cy="2540711"/>
          </a:xfrm>
          <a:prstGeom prst="roundRect">
            <a:avLst>
              <a:gd name="adj" fmla="val 5936"/>
            </a:avLst>
          </a:prstGeom>
          <a:solidFill>
            <a:schemeClr val="tx2">
              <a:alpha val="10000"/>
            </a:schemeClr>
          </a:solidFill>
          <a:ln w="25400" cap="rnd">
            <a:noFill/>
          </a:ln>
        </p:spPr>
        <p:txBody>
          <a:bodyPr lIns="72000" tIns="72000" rIns="72000" bIns="72000"/>
          <a:lstStyle/>
          <a:p>
            <a:endParaRPr lang="fr-FR" i="1" dirty="0" smtClean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900" b="1" dirty="0">
                <a:solidFill>
                  <a:schemeClr val="tx2"/>
                </a:solidFill>
              </a:rPr>
              <a:t>Service chargé de la politique de la ville</a:t>
            </a:r>
          </a:p>
          <a:p>
            <a:pPr algn="ctr">
              <a:spcAft>
                <a:spcPts val="600"/>
              </a:spcAft>
            </a:pPr>
            <a:r>
              <a:rPr lang="fr-FR" sz="900" dirty="0">
                <a:solidFill>
                  <a:schemeClr val="tx2"/>
                </a:solidFill>
              </a:rPr>
              <a:t>Tél. : 01 00 00 00 00</a:t>
            </a:r>
            <a:br>
              <a:rPr lang="fr-FR" sz="900" dirty="0">
                <a:solidFill>
                  <a:schemeClr val="tx2"/>
                </a:solidFill>
              </a:rPr>
            </a:br>
            <a:r>
              <a:rPr lang="fr-FR" sz="900" dirty="0">
                <a:solidFill>
                  <a:schemeClr val="tx2"/>
                </a:solidFill>
              </a:rPr>
              <a:t>Courriel : aaa.bbb@ccc.gouv.fr</a:t>
            </a:r>
          </a:p>
          <a:p>
            <a:endParaRPr lang="fr-FR" dirty="0" smtClean="0">
              <a:solidFill>
                <a:schemeClr val="tx2"/>
              </a:solidFill>
            </a:endParaRPr>
          </a:p>
          <a:p>
            <a:endParaRPr lang="fr-FR" dirty="0" smtClean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900" b="1" dirty="0" smtClean="0">
                <a:solidFill>
                  <a:schemeClr val="tx2"/>
                </a:solidFill>
              </a:rPr>
              <a:t>M. </a:t>
            </a:r>
            <a:r>
              <a:rPr lang="fr-FR" sz="900" b="1" dirty="0">
                <a:solidFill>
                  <a:schemeClr val="tx2"/>
                </a:solidFill>
              </a:rPr>
              <a:t>[Prénom] [Nom]</a:t>
            </a:r>
          </a:p>
          <a:p>
            <a:pPr algn="ctr">
              <a:spcAft>
                <a:spcPts val="600"/>
              </a:spcAft>
            </a:pPr>
            <a:r>
              <a:rPr lang="fr-FR" sz="900" dirty="0" smtClean="0">
                <a:solidFill>
                  <a:schemeClr val="tx2"/>
                </a:solidFill>
              </a:rPr>
              <a:t>Tél</a:t>
            </a:r>
            <a:r>
              <a:rPr lang="fr-FR" sz="900" dirty="0">
                <a:solidFill>
                  <a:schemeClr val="tx2"/>
                </a:solidFill>
              </a:rPr>
              <a:t>. : 01 00 00 00 00</a:t>
            </a:r>
            <a:br>
              <a:rPr lang="fr-FR" sz="900" dirty="0">
                <a:solidFill>
                  <a:schemeClr val="tx2"/>
                </a:solidFill>
              </a:rPr>
            </a:br>
            <a:r>
              <a:rPr lang="fr-FR" sz="900" dirty="0">
                <a:solidFill>
                  <a:schemeClr val="tx2"/>
                </a:solidFill>
              </a:rPr>
              <a:t>Courriel : </a:t>
            </a:r>
            <a:r>
              <a:rPr lang="fr-FR" sz="900" dirty="0" smtClean="0">
                <a:solidFill>
                  <a:schemeClr val="tx2"/>
                </a:solidFill>
              </a:rPr>
              <a:t>aaa.bbb@ccc.gouv.fr</a:t>
            </a:r>
          </a:p>
          <a:p>
            <a:pPr algn="ctr">
              <a:spcAft>
                <a:spcPts val="600"/>
              </a:spcAft>
            </a:pPr>
            <a:r>
              <a:rPr lang="fr-FR" sz="900" b="1" dirty="0" smtClean="0">
                <a:solidFill>
                  <a:schemeClr val="tx2"/>
                </a:solidFill>
              </a:rPr>
              <a:t>Mme [Prénom] [Nom]</a:t>
            </a:r>
            <a:endParaRPr lang="fr-FR" sz="900" b="1" dirty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900" dirty="0">
                <a:solidFill>
                  <a:schemeClr val="tx2"/>
                </a:solidFill>
              </a:rPr>
              <a:t>Tél. : 01 00 00 00 00</a:t>
            </a:r>
            <a:br>
              <a:rPr lang="fr-FR" sz="900" dirty="0">
                <a:solidFill>
                  <a:schemeClr val="tx2"/>
                </a:solidFill>
              </a:rPr>
            </a:br>
            <a:r>
              <a:rPr lang="fr-FR" sz="900" dirty="0">
                <a:solidFill>
                  <a:schemeClr val="tx2"/>
                </a:solidFill>
              </a:rPr>
              <a:t>Courriel : </a:t>
            </a:r>
            <a:r>
              <a:rPr lang="fr-FR" sz="900" dirty="0" smtClean="0">
                <a:solidFill>
                  <a:schemeClr val="tx2"/>
                </a:solidFill>
              </a:rPr>
              <a:t>aaa.bbb@ccc.gouv.fr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5"/>
          </p:nvPr>
        </p:nvSpPr>
        <p:spPr>
          <a:xfrm>
            <a:off x="3293763" y="2081110"/>
            <a:ext cx="2520000" cy="2540711"/>
          </a:xfrm>
          <a:prstGeom prst="roundRect">
            <a:avLst>
              <a:gd name="adj" fmla="val 5731"/>
            </a:avLst>
          </a:prstGeom>
          <a:solidFill>
            <a:schemeClr val="tx2">
              <a:alpha val="10000"/>
            </a:schemeClr>
          </a:solidFill>
        </p:spPr>
        <p:txBody>
          <a:bodyPr lIns="72000" tIns="72000" rIns="72000" bIns="72000"/>
          <a:lstStyle/>
          <a:p>
            <a:endParaRPr lang="fr-FR" dirty="0" smtClean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700" dirty="0" smtClean="0">
                <a:solidFill>
                  <a:schemeClr val="tx2"/>
                </a:solidFill>
              </a:rPr>
              <a:t>DIRECTION DÉPARTEMENTALE</a:t>
            </a:r>
            <a:br>
              <a:rPr lang="fr-FR" sz="700" dirty="0" smtClean="0">
                <a:solidFill>
                  <a:schemeClr val="tx2"/>
                </a:solidFill>
              </a:rPr>
            </a:br>
            <a:r>
              <a:rPr lang="fr-FR" sz="700" dirty="0" smtClean="0">
                <a:solidFill>
                  <a:schemeClr val="tx2"/>
                </a:solidFill>
              </a:rPr>
              <a:t>DES FINANCES PUBLIQUES DE [DÉPARTEMENT]</a:t>
            </a:r>
          </a:p>
          <a:p>
            <a:pPr algn="ctr">
              <a:spcAft>
                <a:spcPts val="600"/>
              </a:spcAft>
            </a:pPr>
            <a:r>
              <a:rPr lang="fr-FR" sz="900" b="1" dirty="0" smtClean="0">
                <a:solidFill>
                  <a:schemeClr val="tx2"/>
                </a:solidFill>
              </a:rPr>
              <a:t>Service des impôts des particuliers</a:t>
            </a:r>
            <a:endParaRPr lang="fr-FR" sz="900" b="1" dirty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900" dirty="0">
                <a:solidFill>
                  <a:schemeClr val="tx2"/>
                </a:solidFill>
              </a:rPr>
              <a:t>Tél. : 01 00 00 00 00</a:t>
            </a:r>
            <a:br>
              <a:rPr lang="fr-FR" sz="900" dirty="0">
                <a:solidFill>
                  <a:schemeClr val="tx2"/>
                </a:solidFill>
              </a:rPr>
            </a:br>
            <a:r>
              <a:rPr lang="fr-FR" sz="900" dirty="0">
                <a:solidFill>
                  <a:schemeClr val="tx2"/>
                </a:solidFill>
              </a:rPr>
              <a:t>Courriel : </a:t>
            </a:r>
            <a:r>
              <a:rPr lang="fr-FR" sz="900" dirty="0" smtClean="0">
                <a:solidFill>
                  <a:schemeClr val="tx2"/>
                </a:solidFill>
              </a:rPr>
              <a:t>aaa.bbb@ccc.gouv.fr</a:t>
            </a:r>
          </a:p>
          <a:p>
            <a:pPr algn="ctr">
              <a:spcAft>
                <a:spcPts val="600"/>
              </a:spcAft>
            </a:pPr>
            <a:r>
              <a:rPr lang="fr-FR" sz="900" b="1" dirty="0">
                <a:solidFill>
                  <a:schemeClr val="tx2"/>
                </a:solidFill>
              </a:rPr>
              <a:t>Service des impôts des </a:t>
            </a:r>
            <a:r>
              <a:rPr lang="fr-FR" sz="900" b="1" dirty="0" smtClean="0">
                <a:solidFill>
                  <a:schemeClr val="tx2"/>
                </a:solidFill>
              </a:rPr>
              <a:t>entreprises</a:t>
            </a:r>
            <a:endParaRPr lang="fr-FR" sz="900" b="1" dirty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900" dirty="0">
                <a:solidFill>
                  <a:schemeClr val="tx2"/>
                </a:solidFill>
              </a:rPr>
              <a:t>Tél. : 01 00 00 00 00</a:t>
            </a:r>
            <a:br>
              <a:rPr lang="fr-FR" sz="900" dirty="0">
                <a:solidFill>
                  <a:schemeClr val="tx2"/>
                </a:solidFill>
              </a:rPr>
            </a:br>
            <a:r>
              <a:rPr lang="fr-FR" sz="900" dirty="0">
                <a:solidFill>
                  <a:schemeClr val="tx2"/>
                </a:solidFill>
              </a:rPr>
              <a:t>Courriel : </a:t>
            </a:r>
            <a:r>
              <a:rPr lang="fr-FR" sz="900" dirty="0" smtClean="0">
                <a:solidFill>
                  <a:schemeClr val="tx2"/>
                </a:solidFill>
              </a:rPr>
              <a:t>aaa.bbb@ccc.gouv.fr</a:t>
            </a:r>
          </a:p>
          <a:p>
            <a:pPr algn="ctr">
              <a:spcAft>
                <a:spcPts val="600"/>
              </a:spcAft>
            </a:pPr>
            <a:endParaRPr lang="fr-FR" sz="900" dirty="0" smtClean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endParaRPr lang="fr-FR" sz="900" dirty="0">
              <a:solidFill>
                <a:schemeClr val="tx2"/>
              </a:solidFill>
            </a:endParaRPr>
          </a:p>
          <a:p>
            <a:endParaRPr lang="fr-FR" dirty="0" smtClean="0">
              <a:solidFill>
                <a:schemeClr val="tx2"/>
              </a:solidFill>
            </a:endParaRPr>
          </a:p>
          <a:p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6"/>
          </p:nvPr>
        </p:nvSpPr>
        <p:spPr>
          <a:xfrm>
            <a:off x="6264000" y="2081110"/>
            <a:ext cx="2520000" cy="2540711"/>
          </a:xfrm>
          <a:prstGeom prst="roundRect">
            <a:avLst>
              <a:gd name="adj" fmla="val 5781"/>
            </a:avLst>
          </a:prstGeom>
          <a:solidFill>
            <a:schemeClr val="tx2">
              <a:alpha val="10000"/>
            </a:schemeClr>
          </a:solidFill>
        </p:spPr>
        <p:txBody>
          <a:bodyPr lIns="72000" tIns="72000" rIns="72000" bIns="72000"/>
          <a:lstStyle/>
          <a:p>
            <a:endParaRPr lang="fr-FR" dirty="0" smtClean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700" dirty="0" smtClean="0">
                <a:solidFill>
                  <a:schemeClr val="tx2"/>
                </a:solidFill>
              </a:rPr>
              <a:t>DIRECTION RÉGIONALE DE L’ÉCONOMIE,</a:t>
            </a:r>
            <a:br>
              <a:rPr lang="fr-FR" sz="700" dirty="0" smtClean="0">
                <a:solidFill>
                  <a:schemeClr val="tx2"/>
                </a:solidFill>
              </a:rPr>
            </a:br>
            <a:r>
              <a:rPr lang="fr-FR" sz="700" dirty="0" smtClean="0">
                <a:solidFill>
                  <a:schemeClr val="tx2"/>
                </a:solidFill>
              </a:rPr>
              <a:t>DE L’EMPLOI DU TRAVAIL ET DES SOLIDARITÉS</a:t>
            </a:r>
            <a:br>
              <a:rPr lang="fr-FR" sz="700" dirty="0" smtClean="0">
                <a:solidFill>
                  <a:schemeClr val="tx2"/>
                </a:solidFill>
              </a:rPr>
            </a:br>
            <a:r>
              <a:rPr lang="fr-FR" sz="700" dirty="0" smtClean="0">
                <a:solidFill>
                  <a:schemeClr val="tx2"/>
                </a:solidFill>
              </a:rPr>
              <a:t>DE [RÉGION]</a:t>
            </a:r>
          </a:p>
          <a:p>
            <a:pPr algn="ctr">
              <a:spcAft>
                <a:spcPts val="600"/>
              </a:spcAft>
            </a:pPr>
            <a:r>
              <a:rPr lang="fr-FR" sz="900" b="1" dirty="0" smtClean="0">
                <a:solidFill>
                  <a:schemeClr val="tx2"/>
                </a:solidFill>
              </a:rPr>
              <a:t>Référent régional</a:t>
            </a:r>
            <a:br>
              <a:rPr lang="fr-FR" sz="900" b="1" dirty="0" smtClean="0">
                <a:solidFill>
                  <a:schemeClr val="tx2"/>
                </a:solidFill>
              </a:rPr>
            </a:br>
            <a:r>
              <a:rPr lang="fr-FR" sz="900" b="1" dirty="0" smtClean="0">
                <a:solidFill>
                  <a:schemeClr val="tx2"/>
                </a:solidFill>
              </a:rPr>
              <a:t>Entrepreneuriat Quartiers 2030</a:t>
            </a:r>
            <a:endParaRPr lang="fr-FR" sz="900" b="1" dirty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900" dirty="0">
                <a:solidFill>
                  <a:schemeClr val="tx2"/>
                </a:solidFill>
              </a:rPr>
              <a:t>Tél. : 01 00 00 00 00</a:t>
            </a:r>
            <a:br>
              <a:rPr lang="fr-FR" sz="900" dirty="0">
                <a:solidFill>
                  <a:schemeClr val="tx2"/>
                </a:solidFill>
              </a:rPr>
            </a:br>
            <a:r>
              <a:rPr lang="fr-FR" sz="900" dirty="0">
                <a:solidFill>
                  <a:schemeClr val="tx2"/>
                </a:solidFill>
              </a:rPr>
              <a:t>Courriel : </a:t>
            </a:r>
            <a:r>
              <a:rPr lang="fr-FR" sz="900" dirty="0" smtClean="0">
                <a:solidFill>
                  <a:schemeClr val="tx2"/>
                </a:solidFill>
              </a:rPr>
              <a:t>aaa.bbb@ccc.gouv.fr</a:t>
            </a:r>
            <a:endParaRPr lang="fr-FR" dirty="0" smtClean="0">
              <a:solidFill>
                <a:schemeClr val="tx2"/>
              </a:solidFill>
            </a:endParaRPr>
          </a:p>
          <a:p>
            <a:endParaRPr lang="fr-FR" dirty="0" smtClean="0">
              <a:solidFill>
                <a:schemeClr val="tx2"/>
              </a:solidFill>
            </a:endParaRPr>
          </a:p>
          <a:p>
            <a:endParaRPr lang="fr-FR" dirty="0" smtClean="0">
              <a:solidFill>
                <a:schemeClr val="tx2"/>
              </a:solidFill>
            </a:endParaRPr>
          </a:p>
          <a:p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zh-CN" dirty="0"/>
          </a:p>
        </p:txBody>
      </p:sp>
      <p:sp>
        <p:nvSpPr>
          <p:cNvPr id="10" name="Rectangle 9"/>
          <p:cNvSpPr/>
          <p:nvPr/>
        </p:nvSpPr>
        <p:spPr>
          <a:xfrm>
            <a:off x="822907" y="1311610"/>
            <a:ext cx="2729341" cy="109182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443746" y="2149446"/>
            <a:ext cx="1004054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PRÉFECTURE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443746" y="3133565"/>
            <a:ext cx="1473954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DÉLÉGUÉS DU PRÉFET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3348908" y="2149446"/>
            <a:ext cx="1004054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DDFiP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6358808" y="2149446"/>
            <a:ext cx="1004054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DREEETS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8" name="Titre 1"/>
          <p:cNvSpPr txBox="1">
            <a:spLocks/>
          </p:cNvSpPr>
          <p:nvPr/>
        </p:nvSpPr>
        <p:spPr bwMode="gray">
          <a:xfrm>
            <a:off x="319603" y="1666769"/>
            <a:ext cx="2560396" cy="35425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2600325" algn="l"/>
              </a:tabLst>
            </a:pPr>
            <a:r>
              <a:rPr lang="fr-FR" sz="1200" i="1" dirty="0" smtClean="0">
                <a:solidFill>
                  <a:schemeClr val="bg2"/>
                </a:solidFill>
                <a:latin typeface="Spectral" panose="02020502060000000000" pitchFamily="18" charset="0"/>
              </a:rPr>
              <a:t>Poser mes questions d’ordre local</a:t>
            </a:r>
          </a:p>
          <a:p>
            <a:pPr algn="ctr">
              <a:tabLst>
                <a:tab pos="2600325" algn="l"/>
              </a:tabLst>
            </a:pPr>
            <a:r>
              <a:rPr lang="fr-FR" sz="1200" i="1" dirty="0" smtClean="0">
                <a:solidFill>
                  <a:schemeClr val="bg2"/>
                </a:solidFill>
              </a:rPr>
              <a:t>↓</a:t>
            </a:r>
            <a:endParaRPr lang="fr-FR" sz="1200" i="1" dirty="0">
              <a:solidFill>
                <a:schemeClr val="bg2"/>
              </a:solidFill>
            </a:endParaRPr>
          </a:p>
        </p:txBody>
      </p:sp>
      <p:sp>
        <p:nvSpPr>
          <p:cNvPr id="22" name="Titre 1"/>
          <p:cNvSpPr txBox="1">
            <a:spLocks/>
          </p:cNvSpPr>
          <p:nvPr/>
        </p:nvSpPr>
        <p:spPr bwMode="gray">
          <a:xfrm>
            <a:off x="3293763" y="1680370"/>
            <a:ext cx="2520000" cy="35425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2600325" algn="l"/>
              </a:tabLst>
            </a:pPr>
            <a:r>
              <a:rPr lang="fr-FR" sz="1200" i="1" dirty="0" smtClean="0">
                <a:solidFill>
                  <a:schemeClr val="bg2"/>
                </a:solidFill>
                <a:latin typeface="Spectral" panose="02020502060000000000" pitchFamily="18" charset="0"/>
              </a:rPr>
              <a:t>Poser mes questions d’ordre fiscal</a:t>
            </a:r>
          </a:p>
          <a:p>
            <a:pPr algn="ctr">
              <a:tabLst>
                <a:tab pos="2600325" algn="l"/>
              </a:tabLst>
            </a:pPr>
            <a:r>
              <a:rPr lang="fr-FR" sz="1200" i="1" dirty="0">
                <a:solidFill>
                  <a:schemeClr val="bg2"/>
                </a:solidFill>
              </a:rPr>
              <a:t>↓</a:t>
            </a:r>
          </a:p>
        </p:txBody>
      </p:sp>
      <p:sp>
        <p:nvSpPr>
          <p:cNvPr id="23" name="Titre 1"/>
          <p:cNvSpPr txBox="1">
            <a:spLocks/>
          </p:cNvSpPr>
          <p:nvPr/>
        </p:nvSpPr>
        <p:spPr bwMode="gray">
          <a:xfrm>
            <a:off x="6264000" y="1692691"/>
            <a:ext cx="2520000" cy="35425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2600325" algn="l"/>
              </a:tabLst>
            </a:pPr>
            <a:r>
              <a:rPr lang="fr-FR" sz="1200" i="1" dirty="0">
                <a:solidFill>
                  <a:schemeClr val="bg2"/>
                </a:solidFill>
                <a:latin typeface="Spectral" panose="02020502060000000000" pitchFamily="18" charset="0"/>
              </a:rPr>
              <a:t>Ê</a:t>
            </a:r>
            <a:r>
              <a:rPr lang="fr-FR" sz="1200" i="1" dirty="0" smtClean="0">
                <a:solidFill>
                  <a:schemeClr val="bg2"/>
                </a:solidFill>
                <a:latin typeface="Spectral" panose="02020502060000000000" pitchFamily="18" charset="0"/>
              </a:rPr>
              <a:t>tre accompagné dans mon projet</a:t>
            </a:r>
          </a:p>
          <a:p>
            <a:pPr algn="ctr">
              <a:tabLst>
                <a:tab pos="2600325" algn="l"/>
              </a:tabLst>
            </a:pPr>
            <a:r>
              <a:rPr lang="fr-FR" sz="1200" i="1" dirty="0">
                <a:solidFill>
                  <a:schemeClr val="bg2"/>
                </a:solidFill>
              </a:rPr>
              <a:t>↓</a:t>
            </a:r>
          </a:p>
        </p:txBody>
      </p:sp>
      <p:sp>
        <p:nvSpPr>
          <p:cNvPr id="16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7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9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1824432" y="160173"/>
            <a:ext cx="5637350" cy="638473"/>
          </a:xfrm>
          <a:prstGeom prst="roundRect">
            <a:avLst/>
          </a:prstGeom>
          <a:solidFill>
            <a:schemeClr val="tx1">
              <a:alpha val="10196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 smtClean="0">
                <a:latin typeface="+mj-lt"/>
                <a:cs typeface="Arial" panose="020B0604020202020204" pitchFamily="34" charset="0"/>
              </a:rPr>
              <a:t>À renseigner par les services de l’État si la présentation est ciblée localement.</a:t>
            </a:r>
          </a:p>
          <a:p>
            <a:pPr algn="ctr"/>
            <a:r>
              <a:rPr lang="fr-FR" sz="1050" dirty="0" smtClean="0">
                <a:latin typeface="+mj-lt"/>
                <a:cs typeface="Arial" panose="020B0604020202020204" pitchFamily="34" charset="0"/>
              </a:rPr>
              <a:t>Cette page doit être renseignée dans le cadre des présentations réalisées</a:t>
            </a:r>
            <a:br>
              <a:rPr lang="fr-FR" sz="1050" dirty="0" smtClean="0">
                <a:latin typeface="+mj-lt"/>
                <a:cs typeface="Arial" panose="020B0604020202020204" pitchFamily="34" charset="0"/>
              </a:rPr>
            </a:br>
            <a:r>
              <a:rPr lang="fr-FR" sz="1050" dirty="0" smtClean="0">
                <a:latin typeface="+mj-lt"/>
                <a:cs typeface="Arial" panose="020B0604020202020204" pitchFamily="34" charset="0"/>
              </a:rPr>
              <a:t>par les services de l’État à un tissu local (économique, collectivités, etc.).</a:t>
            </a:r>
            <a:endParaRPr lang="fr-FR" sz="105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495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9601" y="1130373"/>
            <a:ext cx="8495173" cy="373995"/>
          </a:xfrm>
        </p:spPr>
        <p:txBody>
          <a:bodyPr anchor="t"/>
          <a:lstStyle/>
          <a:p>
            <a:pPr>
              <a:tabLst>
                <a:tab pos="361950" algn="l"/>
              </a:tabLst>
            </a:pPr>
            <a:r>
              <a:rPr lang="fr-FR" sz="2000" dirty="0" smtClean="0">
                <a:solidFill>
                  <a:schemeClr val="tx2"/>
                </a:solidFill>
              </a:rPr>
              <a:t>Vos contacts de proximité</a:t>
            </a:r>
            <a:endParaRPr lang="fr-FR" sz="2000" dirty="0">
              <a:solidFill>
                <a:schemeClr val="tx2"/>
              </a:solidFill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2713634" y="2248475"/>
            <a:ext cx="3916510" cy="2070149"/>
          </a:xfrm>
          <a:prstGeom prst="roundRect">
            <a:avLst>
              <a:gd name="adj" fmla="val 5936"/>
            </a:avLst>
          </a:prstGeom>
          <a:solidFill>
            <a:schemeClr val="tx2">
              <a:alpha val="10000"/>
            </a:schemeClr>
          </a:solidFill>
          <a:ln w="25400" cap="rnd">
            <a:noFill/>
          </a:ln>
        </p:spPr>
        <p:txBody>
          <a:bodyPr lIns="72000" tIns="72000" rIns="72000" bIns="72000"/>
          <a:lstStyle/>
          <a:p>
            <a:endParaRPr lang="fr-FR" i="1" dirty="0" smtClean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1100" dirty="0" smtClean="0">
                <a:solidFill>
                  <a:schemeClr val="tx2"/>
                </a:solidFill>
              </a:rPr>
              <a:t>La DGCL et l’ANCT répondent aux </a:t>
            </a:r>
            <a:r>
              <a:rPr lang="fr-FR" sz="1100" b="1" dirty="0" smtClean="0">
                <a:solidFill>
                  <a:schemeClr val="tx2"/>
                </a:solidFill>
              </a:rPr>
              <a:t>questions</a:t>
            </a:r>
            <a:br>
              <a:rPr lang="fr-FR" sz="1100" b="1" dirty="0" smtClean="0">
                <a:solidFill>
                  <a:schemeClr val="tx2"/>
                </a:solidFill>
              </a:rPr>
            </a:br>
            <a:r>
              <a:rPr lang="fr-FR" sz="1100" b="1" dirty="0" smtClean="0">
                <a:solidFill>
                  <a:schemeClr val="tx2"/>
                </a:solidFill>
              </a:rPr>
              <a:t>des entrepreneurs et des collectivités territoriales</a:t>
            </a:r>
            <a:br>
              <a:rPr lang="fr-FR" sz="1100" b="1" dirty="0" smtClean="0">
                <a:solidFill>
                  <a:schemeClr val="tx2"/>
                </a:solidFill>
              </a:rPr>
            </a:br>
            <a:r>
              <a:rPr lang="fr-FR" sz="1100" dirty="0" smtClean="0">
                <a:solidFill>
                  <a:schemeClr val="tx2"/>
                </a:solidFill>
              </a:rPr>
              <a:t>en utilisant un courriel national de contact unique :</a:t>
            </a:r>
          </a:p>
          <a:p>
            <a:pPr algn="ctr">
              <a:spcAft>
                <a:spcPts val="600"/>
              </a:spcAft>
            </a:pPr>
            <a:endParaRPr lang="fr-FR" sz="900" dirty="0" smtClean="0">
              <a:solidFill>
                <a:schemeClr val="tx2"/>
              </a:solidFill>
            </a:endParaRPr>
          </a:p>
          <a:p>
            <a:pPr algn="ctr">
              <a:spcAft>
                <a:spcPts val="0"/>
              </a:spcAft>
            </a:pPr>
            <a:r>
              <a:rPr lang="fr-FR" sz="900" b="1" dirty="0" smtClean="0">
                <a:solidFill>
                  <a:schemeClr val="tx2"/>
                </a:solidFill>
              </a:rPr>
              <a:t>Agence nationale de la cohésion des territoires</a:t>
            </a:r>
          </a:p>
          <a:p>
            <a:pPr algn="ctr">
              <a:spcAft>
                <a:spcPts val="600"/>
              </a:spcAft>
            </a:pPr>
            <a:r>
              <a:rPr lang="fr-FR" sz="900" dirty="0" smtClean="0">
                <a:solidFill>
                  <a:schemeClr val="tx2"/>
                </a:solidFill>
              </a:rPr>
              <a:t>Programme « </a:t>
            </a:r>
            <a:r>
              <a:rPr lang="fr-FR" sz="900" i="1" dirty="0" smtClean="0">
                <a:solidFill>
                  <a:schemeClr val="tx2"/>
                </a:solidFill>
              </a:rPr>
              <a:t>Emploi, formation et développement économique</a:t>
            </a:r>
            <a:r>
              <a:rPr lang="fr-FR" sz="900" dirty="0" smtClean="0">
                <a:solidFill>
                  <a:schemeClr val="tx2"/>
                </a:solidFill>
              </a:rPr>
              <a:t> »</a:t>
            </a:r>
            <a:endParaRPr lang="fr-FR" sz="900" dirty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1600" b="1" u="sng" dirty="0" smtClean="0">
                <a:solidFill>
                  <a:schemeClr val="tx2"/>
                </a:solidFill>
                <a:latin typeface="Spectral" panose="02020502060000000000" pitchFamily="18" charset="0"/>
              </a:rPr>
              <a:t>emploi-developpement@anct.gouv.fr</a:t>
            </a:r>
          </a:p>
          <a:p>
            <a:pPr algn="ctr">
              <a:spcAft>
                <a:spcPts val="600"/>
              </a:spcAft>
            </a:pPr>
            <a:endParaRPr lang="fr-FR" sz="1300" b="1" u="sng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zh-CN" dirty="0"/>
          </a:p>
        </p:txBody>
      </p:sp>
      <p:sp>
        <p:nvSpPr>
          <p:cNvPr id="10" name="Rectangle 9"/>
          <p:cNvSpPr/>
          <p:nvPr/>
        </p:nvSpPr>
        <p:spPr>
          <a:xfrm>
            <a:off x="822907" y="1311610"/>
            <a:ext cx="2729341" cy="109182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2825779" y="2309650"/>
            <a:ext cx="1056987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ANCT + DGCL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8" name="Titre 1"/>
          <p:cNvSpPr txBox="1">
            <a:spLocks/>
          </p:cNvSpPr>
          <p:nvPr/>
        </p:nvSpPr>
        <p:spPr bwMode="gray">
          <a:xfrm>
            <a:off x="2709710" y="1799909"/>
            <a:ext cx="3920434" cy="35425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2600325" algn="l"/>
              </a:tabLst>
            </a:pPr>
            <a:r>
              <a:rPr lang="fr-FR" sz="1200" i="1" dirty="0" smtClean="0">
                <a:solidFill>
                  <a:schemeClr val="bg2"/>
                </a:solidFill>
                <a:latin typeface="Spectral" panose="02020502060000000000" pitchFamily="18" charset="0"/>
              </a:rPr>
              <a:t>Questions d’ordre général sur le dispositif</a:t>
            </a:r>
          </a:p>
          <a:p>
            <a:pPr algn="ctr">
              <a:tabLst>
                <a:tab pos="2600325" algn="l"/>
              </a:tabLst>
            </a:pPr>
            <a:r>
              <a:rPr lang="fr-FR" sz="1200" i="1" dirty="0" smtClean="0">
                <a:solidFill>
                  <a:schemeClr val="bg2"/>
                </a:solidFill>
              </a:rPr>
              <a:t>↓</a:t>
            </a:r>
            <a:endParaRPr lang="fr-FR" sz="1200" i="1" dirty="0">
              <a:solidFill>
                <a:schemeClr val="bg2"/>
              </a:solidFill>
            </a:endParaRPr>
          </a:p>
        </p:txBody>
      </p:sp>
      <p:sp>
        <p:nvSpPr>
          <p:cNvPr id="16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7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9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08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9601" y="1130373"/>
            <a:ext cx="8495173" cy="373995"/>
          </a:xfrm>
        </p:spPr>
        <p:txBody>
          <a:bodyPr anchor="t"/>
          <a:lstStyle/>
          <a:p>
            <a:pPr>
              <a:tabLst>
                <a:tab pos="361950" algn="l"/>
              </a:tabLst>
            </a:pPr>
            <a:r>
              <a:rPr lang="fr-FR" sz="2000" dirty="0" smtClean="0">
                <a:solidFill>
                  <a:schemeClr val="tx2"/>
                </a:solidFill>
              </a:rPr>
              <a:t>Vos contacts de proximité</a:t>
            </a:r>
            <a:endParaRPr lang="fr-FR" sz="2000" dirty="0">
              <a:solidFill>
                <a:schemeClr val="tx2"/>
              </a:solidFill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094867" y="2077529"/>
            <a:ext cx="3060000" cy="2540711"/>
          </a:xfrm>
          <a:prstGeom prst="roundRect">
            <a:avLst>
              <a:gd name="adj" fmla="val 5936"/>
            </a:avLst>
          </a:prstGeom>
          <a:solidFill>
            <a:schemeClr val="tx2">
              <a:alpha val="10000"/>
            </a:schemeClr>
          </a:solidFill>
          <a:ln w="25400" cap="rnd">
            <a:noFill/>
          </a:ln>
        </p:spPr>
        <p:txBody>
          <a:bodyPr lIns="72000" tIns="72000" rIns="72000" bIns="72000"/>
          <a:lstStyle/>
          <a:p>
            <a:endParaRPr lang="fr-FR" i="1" dirty="0" smtClean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1100" dirty="0" smtClean="0">
                <a:solidFill>
                  <a:schemeClr val="tx2"/>
                </a:solidFill>
              </a:rPr>
              <a:t>La DGCL et l’ANCT répondent aux </a:t>
            </a:r>
            <a:r>
              <a:rPr lang="fr-FR" sz="1100" b="1" dirty="0" smtClean="0">
                <a:solidFill>
                  <a:schemeClr val="tx2"/>
                </a:solidFill>
              </a:rPr>
              <a:t>questions des entrepreneurs et des collectivités territoriales </a:t>
            </a:r>
            <a:r>
              <a:rPr lang="fr-FR" sz="1100" dirty="0" smtClean="0">
                <a:solidFill>
                  <a:schemeClr val="tx2"/>
                </a:solidFill>
              </a:rPr>
              <a:t>en utilisant un courriel de contact unique :</a:t>
            </a:r>
          </a:p>
          <a:p>
            <a:pPr algn="ctr">
              <a:spcAft>
                <a:spcPts val="600"/>
              </a:spcAft>
            </a:pPr>
            <a:endParaRPr lang="fr-FR" sz="1100" dirty="0" smtClean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900" b="1" dirty="0" smtClean="0">
                <a:solidFill>
                  <a:schemeClr val="tx2"/>
                </a:solidFill>
              </a:rPr>
              <a:t>Agence nationale de la cohésion des territoires</a:t>
            </a:r>
            <a:endParaRPr lang="fr-FR" sz="900" dirty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900" dirty="0" smtClean="0">
                <a:solidFill>
                  <a:schemeClr val="tx2"/>
                </a:solidFill>
              </a:rPr>
              <a:t>Programme</a:t>
            </a:r>
            <a:r>
              <a:rPr lang="fr-FR" sz="900" dirty="0">
                <a:solidFill>
                  <a:schemeClr val="tx2"/>
                </a:solidFill>
              </a:rPr>
              <a:t> </a:t>
            </a:r>
            <a:r>
              <a:rPr lang="fr-FR" sz="900" dirty="0" smtClean="0">
                <a:solidFill>
                  <a:schemeClr val="tx2"/>
                </a:solidFill>
              </a:rPr>
              <a:t>« </a:t>
            </a:r>
            <a:r>
              <a:rPr lang="fr-FR" sz="900" i="1" dirty="0" smtClean="0">
                <a:solidFill>
                  <a:schemeClr val="tx2"/>
                </a:solidFill>
              </a:rPr>
              <a:t>Emploi, formation</a:t>
            </a:r>
            <a:br>
              <a:rPr lang="fr-FR" sz="900" i="1" dirty="0" smtClean="0">
                <a:solidFill>
                  <a:schemeClr val="tx2"/>
                </a:solidFill>
              </a:rPr>
            </a:br>
            <a:r>
              <a:rPr lang="fr-FR" sz="900" i="1" dirty="0" smtClean="0">
                <a:solidFill>
                  <a:schemeClr val="tx2"/>
                </a:solidFill>
              </a:rPr>
              <a:t>et développement économique »</a:t>
            </a:r>
            <a:endParaRPr lang="fr-FR" sz="900" i="1" dirty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1300" b="1" u="sng" dirty="0" smtClean="0">
                <a:solidFill>
                  <a:schemeClr val="tx2"/>
                </a:solidFill>
                <a:latin typeface="Spectral" panose="02020502060000000000" pitchFamily="18" charset="0"/>
              </a:rPr>
              <a:t>emploi-developpement@anct.gouv.fr</a:t>
            </a:r>
          </a:p>
          <a:p>
            <a:pPr algn="ctr">
              <a:spcAft>
                <a:spcPts val="600"/>
              </a:spcAft>
            </a:pPr>
            <a:endParaRPr lang="fr-FR" sz="1300" b="1" u="sng" dirty="0">
              <a:solidFill>
                <a:schemeClr val="tx2"/>
              </a:solidFill>
              <a:latin typeface="Spectral" panose="02020502060000000000" pitchFamily="18" charset="0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5"/>
          </p:nvPr>
        </p:nvSpPr>
        <p:spPr>
          <a:xfrm>
            <a:off x="1161871" y="2077529"/>
            <a:ext cx="3058793" cy="2540711"/>
          </a:xfrm>
          <a:prstGeom prst="roundRect">
            <a:avLst>
              <a:gd name="adj" fmla="val 5731"/>
            </a:avLst>
          </a:prstGeom>
          <a:solidFill>
            <a:schemeClr val="tx2">
              <a:alpha val="10000"/>
            </a:schemeClr>
          </a:solidFill>
        </p:spPr>
        <p:txBody>
          <a:bodyPr lIns="72000" tIns="72000" rIns="72000" bIns="72000"/>
          <a:lstStyle/>
          <a:p>
            <a:endParaRPr lang="fr-FR" dirty="0" smtClean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1100" dirty="0" smtClean="0">
                <a:solidFill>
                  <a:schemeClr val="tx2"/>
                </a:solidFill>
              </a:rPr>
              <a:t>La DGCL traite les </a:t>
            </a:r>
            <a:r>
              <a:rPr lang="fr-FR" sz="1100" b="1" dirty="0" smtClean="0">
                <a:solidFill>
                  <a:schemeClr val="tx2"/>
                </a:solidFill>
              </a:rPr>
              <a:t>remontées des préfets</a:t>
            </a:r>
            <a:r>
              <a:rPr lang="fr-FR" sz="1100" dirty="0">
                <a:solidFill>
                  <a:schemeClr val="tx2"/>
                </a:solidFill>
              </a:rPr>
              <a:t> </a:t>
            </a:r>
            <a:r>
              <a:rPr lang="fr-FR" sz="1100" dirty="0" smtClean="0">
                <a:solidFill>
                  <a:schemeClr val="tx2"/>
                </a:solidFill>
              </a:rPr>
              <a:t>et les </a:t>
            </a:r>
            <a:r>
              <a:rPr lang="fr-FR" sz="1100" b="1" dirty="0" smtClean="0">
                <a:solidFill>
                  <a:schemeClr val="tx2"/>
                </a:solidFill>
              </a:rPr>
              <a:t>questions des services de l’État pour la mise en œuvre de la réforme</a:t>
            </a:r>
            <a:r>
              <a:rPr lang="fr-FR" sz="1100" dirty="0" smtClean="0">
                <a:solidFill>
                  <a:schemeClr val="tx2"/>
                </a:solidFill>
              </a:rPr>
              <a:t> :</a:t>
            </a:r>
            <a:endParaRPr lang="fr-FR" sz="1100" dirty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900" b="1" dirty="0" smtClean="0">
                <a:solidFill>
                  <a:schemeClr val="tx2"/>
                </a:solidFill>
              </a:rPr>
              <a:t>Sous-direction </a:t>
            </a:r>
            <a:r>
              <a:rPr lang="fr-FR" sz="900" b="1" dirty="0">
                <a:solidFill>
                  <a:schemeClr val="tx2"/>
                </a:solidFill>
              </a:rPr>
              <a:t>de la </a:t>
            </a:r>
            <a:r>
              <a:rPr lang="fr-FR" sz="900" b="1" dirty="0" smtClean="0">
                <a:solidFill>
                  <a:schemeClr val="tx2"/>
                </a:solidFill>
              </a:rPr>
              <a:t>cohésion</a:t>
            </a:r>
            <a:br>
              <a:rPr lang="fr-FR" sz="900" b="1" dirty="0" smtClean="0">
                <a:solidFill>
                  <a:schemeClr val="tx2"/>
                </a:solidFill>
              </a:rPr>
            </a:br>
            <a:r>
              <a:rPr lang="fr-FR" sz="900" b="1" dirty="0" smtClean="0">
                <a:solidFill>
                  <a:schemeClr val="tx2"/>
                </a:solidFill>
              </a:rPr>
              <a:t>et </a:t>
            </a:r>
            <a:r>
              <a:rPr lang="fr-FR" sz="900" b="1" dirty="0">
                <a:solidFill>
                  <a:schemeClr val="tx2"/>
                </a:solidFill>
              </a:rPr>
              <a:t>de l’aménagement du territoire</a:t>
            </a:r>
          </a:p>
          <a:p>
            <a:pPr algn="ctr">
              <a:spcAft>
                <a:spcPts val="600"/>
              </a:spcAft>
            </a:pPr>
            <a:r>
              <a:rPr lang="fr-FR" sz="900" dirty="0">
                <a:solidFill>
                  <a:schemeClr val="tx2"/>
                </a:solidFill>
              </a:rPr>
              <a:t>Bureau de la politique de la </a:t>
            </a:r>
            <a:r>
              <a:rPr lang="fr-FR" sz="900" dirty="0" smtClean="0">
                <a:solidFill>
                  <a:schemeClr val="tx2"/>
                </a:solidFill>
              </a:rPr>
              <a:t>ville</a:t>
            </a:r>
            <a:br>
              <a:rPr lang="fr-FR" sz="900" dirty="0" smtClean="0">
                <a:solidFill>
                  <a:schemeClr val="tx2"/>
                </a:solidFill>
              </a:rPr>
            </a:br>
            <a:r>
              <a:rPr lang="fr-FR" sz="900" dirty="0" smtClean="0">
                <a:solidFill>
                  <a:schemeClr val="tx2"/>
                </a:solidFill>
              </a:rPr>
              <a:t>et </a:t>
            </a:r>
            <a:r>
              <a:rPr lang="fr-FR" sz="900" dirty="0">
                <a:solidFill>
                  <a:schemeClr val="tx2"/>
                </a:solidFill>
              </a:rPr>
              <a:t>de la rénovation </a:t>
            </a:r>
            <a:r>
              <a:rPr lang="fr-FR" sz="900" dirty="0" smtClean="0">
                <a:solidFill>
                  <a:schemeClr val="tx2"/>
                </a:solidFill>
              </a:rPr>
              <a:t>urbaine</a:t>
            </a:r>
            <a:endParaRPr lang="fr-FR" sz="900" dirty="0">
              <a:solidFill>
                <a:schemeClr val="tx2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fr-FR" sz="1300" b="1" u="sng" dirty="0" smtClean="0">
                <a:solidFill>
                  <a:schemeClr val="tx2"/>
                </a:solidFill>
                <a:latin typeface="Spectral" panose="02020502060000000000" pitchFamily="18" charset="0"/>
              </a:rPr>
              <a:t>dgcl-sdcat-cat2@dgcl.gouv.fr</a:t>
            </a:r>
          </a:p>
          <a:p>
            <a:pPr algn="ctr">
              <a:spcAft>
                <a:spcPts val="600"/>
              </a:spcAft>
            </a:pPr>
            <a:endParaRPr lang="fr-FR" sz="400" dirty="0" smtClean="0">
              <a:solidFill>
                <a:schemeClr val="tx2"/>
              </a:solidFill>
            </a:endParaRPr>
          </a:p>
          <a:p>
            <a:pPr algn="r">
              <a:spcAft>
                <a:spcPts val="600"/>
              </a:spcAft>
            </a:pPr>
            <a:r>
              <a:rPr lang="fr-FR" sz="900" i="1" dirty="0" smtClean="0">
                <a:solidFill>
                  <a:schemeClr val="bg2"/>
                </a:solidFill>
              </a:rPr>
              <a:t>Attention, les questions des entreprises</a:t>
            </a:r>
            <a:br>
              <a:rPr lang="fr-FR" sz="900" i="1" dirty="0" smtClean="0">
                <a:solidFill>
                  <a:schemeClr val="bg2"/>
                </a:solidFill>
              </a:rPr>
            </a:br>
            <a:r>
              <a:rPr lang="fr-FR" sz="900" i="1" dirty="0" smtClean="0">
                <a:solidFill>
                  <a:schemeClr val="bg2"/>
                </a:solidFill>
              </a:rPr>
              <a:t>et des collectivités doivent être adressées</a:t>
            </a:r>
            <a:br>
              <a:rPr lang="fr-FR" sz="900" i="1" dirty="0" smtClean="0">
                <a:solidFill>
                  <a:schemeClr val="bg2"/>
                </a:solidFill>
              </a:rPr>
            </a:br>
            <a:r>
              <a:rPr lang="fr-FR" sz="900" i="1" dirty="0" smtClean="0">
                <a:solidFill>
                  <a:schemeClr val="bg2"/>
                </a:solidFill>
              </a:rPr>
              <a:t>au courriel de l’ANCT ci-contre. →</a:t>
            </a:r>
            <a:r>
              <a:rPr lang="fr-FR" sz="900" i="1" dirty="0" smtClean="0">
                <a:solidFill>
                  <a:schemeClr val="bg2"/>
                </a:solidFill>
                <a:sym typeface="Wingdings" panose="05000000000000000000" pitchFamily="2" charset="2"/>
              </a:rPr>
              <a:t> </a:t>
            </a:r>
            <a:endParaRPr lang="fr-FR" sz="900" i="1" dirty="0" smtClean="0">
              <a:solidFill>
                <a:schemeClr val="bg2"/>
              </a:solidFill>
            </a:endParaRPr>
          </a:p>
          <a:p>
            <a:pPr algn="ctr">
              <a:spcAft>
                <a:spcPts val="600"/>
              </a:spcAft>
            </a:pPr>
            <a:endParaRPr lang="fr-FR" sz="900" dirty="0" smtClean="0">
              <a:solidFill>
                <a:schemeClr val="bg2"/>
              </a:solidFill>
            </a:endParaRPr>
          </a:p>
          <a:p>
            <a:pPr algn="ctr">
              <a:spcAft>
                <a:spcPts val="600"/>
              </a:spcAft>
            </a:pPr>
            <a:endParaRPr lang="fr-FR" sz="900" dirty="0">
              <a:solidFill>
                <a:schemeClr val="tx2"/>
              </a:solidFill>
            </a:endParaRPr>
          </a:p>
          <a:p>
            <a:endParaRPr lang="fr-FR" dirty="0" smtClean="0">
              <a:solidFill>
                <a:schemeClr val="tx2"/>
              </a:solidFill>
            </a:endParaRPr>
          </a:p>
          <a:p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zh-CN" dirty="0"/>
          </a:p>
        </p:txBody>
      </p:sp>
      <p:sp>
        <p:nvSpPr>
          <p:cNvPr id="10" name="Rectangle 9"/>
          <p:cNvSpPr/>
          <p:nvPr/>
        </p:nvSpPr>
        <p:spPr>
          <a:xfrm>
            <a:off x="822907" y="1311610"/>
            <a:ext cx="2729341" cy="109182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5207013" y="2138704"/>
            <a:ext cx="1056987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ANCT + DGCL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1217016" y="2138704"/>
            <a:ext cx="1004054" cy="176763"/>
          </a:xfrm>
          <a:prstGeom prst="roundRect">
            <a:avLst>
              <a:gd name="adj" fmla="val 38766"/>
            </a:avLst>
          </a:prstGeom>
          <a:solidFill>
            <a:srgbClr val="FFFFFF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smtClean="0">
                <a:solidFill>
                  <a:schemeClr val="tx2"/>
                </a:solidFill>
              </a:rPr>
              <a:t>DGCL</a:t>
            </a:r>
            <a:endParaRPr lang="fr-FR" sz="900" dirty="0">
              <a:solidFill>
                <a:schemeClr val="tx2"/>
              </a:solidFill>
            </a:endParaRPr>
          </a:p>
        </p:txBody>
      </p:sp>
      <p:sp>
        <p:nvSpPr>
          <p:cNvPr id="18" name="Titre 1"/>
          <p:cNvSpPr txBox="1">
            <a:spLocks/>
          </p:cNvSpPr>
          <p:nvPr/>
        </p:nvSpPr>
        <p:spPr bwMode="gray">
          <a:xfrm>
            <a:off x="5090944" y="1628963"/>
            <a:ext cx="3058791" cy="35425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2600325" algn="l"/>
              </a:tabLst>
            </a:pPr>
            <a:r>
              <a:rPr lang="fr-FR" sz="1200" i="1" dirty="0" smtClean="0">
                <a:solidFill>
                  <a:schemeClr val="bg2"/>
                </a:solidFill>
                <a:latin typeface="Spectral" panose="02020502060000000000" pitchFamily="18" charset="0"/>
              </a:rPr>
              <a:t>Contact à indiquer aux entrepreneurs</a:t>
            </a:r>
            <a:r>
              <a:rPr lang="fr-FR" sz="1200" i="1" dirty="0">
                <a:solidFill>
                  <a:schemeClr val="bg2"/>
                </a:solidFill>
                <a:latin typeface="Spectral" panose="02020502060000000000" pitchFamily="18" charset="0"/>
              </a:rPr>
              <a:t/>
            </a:r>
            <a:br>
              <a:rPr lang="fr-FR" sz="1200" i="1" dirty="0">
                <a:solidFill>
                  <a:schemeClr val="bg2"/>
                </a:solidFill>
                <a:latin typeface="Spectral" panose="02020502060000000000" pitchFamily="18" charset="0"/>
              </a:rPr>
            </a:br>
            <a:r>
              <a:rPr lang="fr-FR" sz="1200" i="1" dirty="0" smtClean="0">
                <a:solidFill>
                  <a:schemeClr val="bg2"/>
                </a:solidFill>
                <a:latin typeface="Spectral" panose="02020502060000000000" pitchFamily="18" charset="0"/>
              </a:rPr>
              <a:t>et aux collectivités territoriales</a:t>
            </a:r>
          </a:p>
          <a:p>
            <a:pPr algn="ctr">
              <a:tabLst>
                <a:tab pos="2600325" algn="l"/>
              </a:tabLst>
            </a:pPr>
            <a:r>
              <a:rPr lang="fr-FR" sz="1200" i="1" dirty="0" smtClean="0">
                <a:solidFill>
                  <a:schemeClr val="bg2"/>
                </a:solidFill>
              </a:rPr>
              <a:t>↓</a:t>
            </a:r>
            <a:endParaRPr lang="fr-FR" sz="1200" i="1" dirty="0">
              <a:solidFill>
                <a:schemeClr val="bg2"/>
              </a:solidFill>
            </a:endParaRPr>
          </a:p>
        </p:txBody>
      </p:sp>
      <p:sp>
        <p:nvSpPr>
          <p:cNvPr id="22" name="Titre 1"/>
          <p:cNvSpPr txBox="1">
            <a:spLocks/>
          </p:cNvSpPr>
          <p:nvPr/>
        </p:nvSpPr>
        <p:spPr bwMode="gray">
          <a:xfrm>
            <a:off x="1161870" y="1669628"/>
            <a:ext cx="3058793" cy="35425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2600325" algn="l"/>
              </a:tabLst>
            </a:pPr>
            <a:r>
              <a:rPr lang="fr-FR" sz="1200" i="1" dirty="0" smtClean="0">
                <a:solidFill>
                  <a:schemeClr val="bg2"/>
                </a:solidFill>
                <a:latin typeface="Spectral" panose="02020502060000000000" pitchFamily="18" charset="0"/>
              </a:rPr>
              <a:t>Questions et observations des services de l’État</a:t>
            </a:r>
          </a:p>
          <a:p>
            <a:pPr algn="ctr">
              <a:tabLst>
                <a:tab pos="2600325" algn="l"/>
              </a:tabLst>
            </a:pPr>
            <a:r>
              <a:rPr lang="fr-FR" sz="1200" i="1" dirty="0">
                <a:solidFill>
                  <a:schemeClr val="bg2"/>
                </a:solidFill>
              </a:rPr>
              <a:t>↓</a:t>
            </a:r>
          </a:p>
        </p:txBody>
      </p:sp>
      <p:sp>
        <p:nvSpPr>
          <p:cNvPr id="16" name="Espace réservé de la date 3"/>
          <p:cNvSpPr txBox="1">
            <a:spLocks/>
          </p:cNvSpPr>
          <p:nvPr/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750" b="0" kern="120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196E375-0D74-46CB-9D09-858ACF5298C5}" type="datetime1">
              <a:rPr lang="fr-FR" cap="all" smtClean="0"/>
              <a:pPr algn="r"/>
              <a:t>16/04/2026</a:t>
            </a:fld>
            <a:endParaRPr lang="fr-FR" cap="all" dirty="0"/>
          </a:p>
        </p:txBody>
      </p:sp>
      <p:sp>
        <p:nvSpPr>
          <p:cNvPr id="17" name="Espace réservé du pied de page 4"/>
          <p:cNvSpPr txBox="1">
            <a:spLocks/>
          </p:cNvSpPr>
          <p:nvPr/>
        </p:nvSpPr>
        <p:spPr bwMode="gray">
          <a:xfrm>
            <a:off x="319602" y="4783500"/>
            <a:ext cx="583591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Nouvelles mesures d’incitation fiscale en faveur du développement des activités économiques</a:t>
            </a:r>
            <a:br>
              <a:rPr lang="fr-FR" dirty="0" smtClean="0"/>
            </a:br>
            <a:r>
              <a:rPr lang="fr-FR" dirty="0" smtClean="0"/>
              <a:t>dans les quartiers prioritaires de la politique de la ville</a:t>
            </a:r>
          </a:p>
        </p:txBody>
      </p:sp>
      <p:sp>
        <p:nvSpPr>
          <p:cNvPr id="19" name="Espace réservé du numéro de diapositive 5"/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 baseline="0">
                <a:solidFill>
                  <a:schemeClr val="tx1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31</a:t>
            </a:fld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1521674" y="157180"/>
            <a:ext cx="5968029" cy="817245"/>
          </a:xfrm>
          <a:prstGeom prst="roundRect">
            <a:avLst/>
          </a:prstGeom>
          <a:solidFill>
            <a:schemeClr val="tx1">
              <a:alpha val="10196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>
                <a:latin typeface="+mj-lt"/>
                <a:cs typeface="Arial" panose="020B0604020202020204" pitchFamily="34" charset="0"/>
              </a:rPr>
              <a:t>M</a:t>
            </a:r>
            <a:r>
              <a:rPr lang="fr-FR" sz="1050" b="1" dirty="0" smtClean="0">
                <a:latin typeface="+mj-lt"/>
                <a:cs typeface="Arial" panose="020B0604020202020204" pitchFamily="34" charset="0"/>
              </a:rPr>
              <a:t>asquée par défaut : à renseigner si la présentation est adressée aux services de l’État.</a:t>
            </a:r>
          </a:p>
          <a:p>
            <a:pPr algn="ctr"/>
            <a:r>
              <a:rPr lang="fr-FR" sz="1050" dirty="0" smtClean="0">
                <a:latin typeface="+mj-lt"/>
                <a:cs typeface="Arial" panose="020B0604020202020204" pitchFamily="34" charset="0"/>
              </a:rPr>
              <a:t>Cette page doit être renseignée notamment dans le cadre des présentations destinées aux services de l’État. Le courriel DGCL n’a pas vocation à recueillir les questions des entreprises et collectivités – qui doivent utiliser le courriel ANCT.</a:t>
            </a:r>
            <a:endParaRPr lang="fr-FR" sz="105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26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676703" y="3592352"/>
            <a:ext cx="180000" cy="1800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9" name="Espace réservé du pied de page 5"/>
          <p:cNvSpPr txBox="1">
            <a:spLocks/>
          </p:cNvSpPr>
          <p:nvPr/>
        </p:nvSpPr>
        <p:spPr bwMode="gray">
          <a:xfrm>
            <a:off x="704194" y="2488818"/>
            <a:ext cx="5580192" cy="220706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400" b="1" i="0" kern="1200" baseline="0">
                <a:solidFill>
                  <a:srgbClr val="484D7A"/>
                </a:solidFill>
                <a:latin typeface="Mariann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 smtClean="0">
                <a:latin typeface="Spectral" panose="02020502060000000000" pitchFamily="18" charset="0"/>
              </a:rPr>
              <a:t>Direction </a:t>
            </a:r>
            <a:r>
              <a:rPr lang="fr-FR" sz="1200" dirty="0">
                <a:latin typeface="Spectral" panose="02020502060000000000" pitchFamily="18" charset="0"/>
              </a:rPr>
              <a:t>générale des collectivités locales</a:t>
            </a:r>
          </a:p>
          <a:p>
            <a:r>
              <a:rPr lang="fr-FR" sz="1200" b="0" dirty="0">
                <a:latin typeface="Spectral" panose="02020502060000000000" pitchFamily="18" charset="0"/>
              </a:rPr>
              <a:t>Sous-direction de la cohésion et de l’aménagement du territoire</a:t>
            </a:r>
          </a:p>
          <a:p>
            <a:r>
              <a:rPr lang="fr-FR" sz="1200" b="0" i="1" dirty="0">
                <a:latin typeface="Spectral" panose="02020502060000000000" pitchFamily="18" charset="0"/>
              </a:rPr>
              <a:t>Bureau de la politique de la ville et de la rénovation </a:t>
            </a:r>
            <a:r>
              <a:rPr lang="fr-FR" sz="1200" b="0" i="1" dirty="0" smtClean="0">
                <a:latin typeface="Spectral" panose="02020502060000000000" pitchFamily="18" charset="0"/>
              </a:rPr>
              <a:t>urbaine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6373177" y="4280388"/>
            <a:ext cx="2191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000" dirty="0" smtClean="0">
                <a:solidFill>
                  <a:srgbClr val="484D7A"/>
                </a:solidFill>
                <a:latin typeface="+mj-lt"/>
              </a:rPr>
              <a:t>DGCL/SDCAT/CAT2/2026-03-06</a:t>
            </a:r>
          </a:p>
          <a:p>
            <a:pPr algn="r"/>
            <a:r>
              <a:rPr lang="fr-FR" sz="1000" b="1" u="sng" dirty="0" smtClean="0">
                <a:solidFill>
                  <a:srgbClr val="484D7A"/>
                </a:solidFill>
                <a:latin typeface="+mj-lt"/>
              </a:rPr>
              <a:t>dgcl-sdcat-cat2@dgcl.gouv.fr</a:t>
            </a:r>
            <a:endParaRPr lang="fr-FR" sz="1000" b="1" u="sng" dirty="0">
              <a:solidFill>
                <a:srgbClr val="484D7A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53686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STÈRIEL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1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inisteriel_marianne" id="{5F0B8B09-9A99-4083-B883-79F2388C6E1D}" vid="{F8005780-5DEF-4BE0-805B-EA49FB1EABC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3AB55E0CC5DA459F57F5A42893F46A005A087D358B12CA4E82A8A8BA9B8A8CF200D3544DBFAD4F664AA25DF68E6D1F0A9E00689F2856DFEDCE40890FDCED81A7DFC9005D57C802836FCB44B44B7372FB2B7972" ma:contentTypeVersion="2" ma:contentTypeDescription="Crée un document." ma:contentTypeScope="" ma:versionID="5a60f89c127121cb1fddd53ae7c254b1">
  <xsd:schema xmlns:xsd="http://www.w3.org/2001/XMLSchema" xmlns:xs="http://www.w3.org/2001/XMLSchema" xmlns:p="http://schemas.microsoft.com/office/2006/metadata/properties" xmlns:ns2="2c7ddd52-0a06-43b1-a35c-dcb15ea2e3f4" targetNamespace="http://schemas.microsoft.com/office/2006/metadata/properties" ma:root="true" ma:fieldsID="d5f738a9b3eb3c0a5db9868b5f12e787" ns2:_="">
    <xsd:import namespace="2c7ddd52-0a06-43b1-a35c-dcb15ea2e3f4"/>
    <xsd:element name="properties">
      <xsd:complexType>
        <xsd:sequence>
          <xsd:element name="documentManagement">
            <xsd:complexType>
              <xsd:all>
                <xsd:element ref="ns2:Description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ddd52-0a06-43b1-a35c-dcb15ea2e3f4" elementFormDefault="qualified">
    <xsd:import namespace="http://schemas.microsoft.com/office/2006/documentManagement/types"/>
    <xsd:import namespace="http://schemas.microsoft.com/office/infopath/2007/PartnerControls"/>
    <xsd:element name="Description0" ma:index="8" nillable="true" ma:displayName="Description" ma:description="Description du document" ma:internalName="Description0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 ma:readOnly="true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0 xmlns="2c7ddd52-0a06-43b1-a35c-dcb15ea2e3f4">Gabarit powerpoint MENJ</Description0>
  </documentManagement>
</p:properties>
</file>

<file path=customXml/itemProps1.xml><?xml version="1.0" encoding="utf-8"?>
<ds:datastoreItem xmlns:ds="http://schemas.openxmlformats.org/officeDocument/2006/customXml" ds:itemID="{4D416C5A-7AEB-4464-B116-D5E8F5627C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72BEA4-A762-4CC8-ADD6-932E44D609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7ddd52-0a06-43b1-a35c-dcb15ea2e3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B279A5-87A2-445D-95C3-916EB9C5F0E3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2c7ddd52-0a06-43b1-a35c-dcb15ea2e3f4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MINISTÈRIEL</Template>
  <TotalTime>2580</TotalTime>
  <Words>4103</Words>
  <Application>Microsoft Office PowerPoint</Application>
  <PresentationFormat>Affichage à l'écran (16:9)</PresentationFormat>
  <Paragraphs>450</Paragraphs>
  <Slides>32</Slides>
  <Notes>32</Notes>
  <HiddenSlides>8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9" baseType="lpstr">
      <vt:lpstr>Arial</vt:lpstr>
      <vt:lpstr>Calibri</vt:lpstr>
      <vt:lpstr>Marianne</vt:lpstr>
      <vt:lpstr>Spectral</vt:lpstr>
      <vt:lpstr>Times New Roman</vt:lpstr>
      <vt:lpstr>Wingdings</vt:lpstr>
      <vt:lpstr>MINISTÈRIEL</vt:lpstr>
      <vt:lpstr>Présentation PowerPoint</vt:lpstr>
      <vt:lpstr>Présentation PowerPoint</vt:lpstr>
      <vt:lpstr>Sommaire</vt:lpstr>
      <vt:lpstr>Introduction L’État met tout mettre en œuvre pour développer la vie économique des quartiers  et améliorer le quotidien des habitants </vt:lpstr>
      <vt:lpstr>Le Gouvernement se mobilise pour la réussite économique pour toutes et tous dans les quartiers : investir, attirer, accompagner</vt:lpstr>
      <vt:lpstr>L’État met tout en œuvre pour développer la vie économique des quartiers  et améliorer le quotidien des habitants </vt:lpstr>
      <vt:lpstr>2. Le zonage unique QPV : plus simple, plus cohérent et plus lisible</vt:lpstr>
      <vt:lpstr>Présentation PowerPoint</vt:lpstr>
      <vt:lpstr>Présentation PowerPoint</vt:lpstr>
      <vt:lpstr>Présentation PowerPoint</vt:lpstr>
      <vt:lpstr>Présentation PowerPoint</vt:lpstr>
      <vt:lpstr>Des allègements fiscaux renforcés et simplifiés pour les entreprises de proximité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Un dispositif unique d’exonération d’impôt sur les bénéfices et d’exonérations d’impôts locaux</vt:lpstr>
      <vt:lpstr>Présentation PowerPoint</vt:lpstr>
      <vt:lpstr>Présentation PowerPoint</vt:lpstr>
      <vt:lpstr>Pour garantir leur finalité et leur caractère incitatif, ces allègements fiscaux ne peuvent pas être cumulés avec d’autres dispositifs et dans certains cas</vt:lpstr>
      <vt:lpstr>Entrepreneuriat Quartiers 2030 :  faire des quartiers urbains  des territoires d’opportunités !</vt:lpstr>
      <vt:lpstr>Entrepreneuriat Quartiers 2030 vise à poursuivre et intensifier les actions de soutien menées en faveur des entrepreneurs</vt:lpstr>
      <vt:lpstr>Une réforme qui se déploie au plus près des territoires et des multiples bénéficiaires</vt:lpstr>
      <vt:lpstr>La réussite de la réforme implique sa bonne appropriation, c’est-à-dire une communication adaptée aux interlocuteurs</vt:lpstr>
      <vt:lpstr>La réussite de la réforme implique sa bonne appropriation, c’est-à-dire une communication adaptée aux interlocuteurs</vt:lpstr>
      <vt:lpstr>Une offre d’accompagnement aux acteurs de terrain pour la mise en œuvre de la réforme </vt:lpstr>
      <vt:lpstr>Le Gouvernement soutient le développement des quartiers prioritaires de la politique de la ville</vt:lpstr>
      <vt:lpstr>Vos contacts de proximité</vt:lpstr>
      <vt:lpstr>Vos contacts de proximité</vt:lpstr>
      <vt:lpstr>Vos contacts de proximité</vt:lpstr>
      <vt:lpstr>Présentation PowerPoint</vt:lpstr>
    </vt:vector>
  </TitlesOfParts>
  <Manager>Client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>Client</dc:subject>
  <dc:creator>Microsoft Office User</dc:creator>
  <cp:lastModifiedBy>DGCL Samy TRABELSI LEROY</cp:lastModifiedBy>
  <cp:revision>356</cp:revision>
  <cp:lastPrinted>2026-02-25T10:40:55Z</cp:lastPrinted>
  <dcterms:created xsi:type="dcterms:W3CDTF">2020-03-05T15:21:24Z</dcterms:created>
  <dcterms:modified xsi:type="dcterms:W3CDTF">2026-04-16T08:21:27Z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0x010100873AB55E0CC5DA459F57F5A42893F46A005A087D358B12CA4E82A8A8BA9B8A8CF200D3544DBFAD4F664AA25DF68E6D1F0A9E00689F2856DFEDCE40890FDCED81A7DFC9005D57C802836FCB44B44B7372FB2B7972</vt:lpwstr>
  </property>
</Properties>
</file>